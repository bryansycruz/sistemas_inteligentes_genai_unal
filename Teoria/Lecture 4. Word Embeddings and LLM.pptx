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75" r:id="rId4"/>
    <p:sldId id="273" r:id="rId5"/>
    <p:sldId id="284" r:id="rId6"/>
    <p:sldId id="276" r:id="rId7"/>
    <p:sldId id="274" r:id="rId8"/>
    <p:sldId id="283" r:id="rId9"/>
    <p:sldId id="294" r:id="rId10"/>
    <p:sldId id="291" r:id="rId11"/>
    <p:sldId id="293" r:id="rId12"/>
    <p:sldId id="257" r:id="rId13"/>
    <p:sldId id="281" r:id="rId14"/>
    <p:sldId id="308" r:id="rId15"/>
    <p:sldId id="309" r:id="rId16"/>
    <p:sldId id="310" r:id="rId17"/>
    <p:sldId id="311" r:id="rId18"/>
    <p:sldId id="312" r:id="rId19"/>
    <p:sldId id="313" r:id="rId20"/>
    <p:sldId id="261" r:id="rId21"/>
    <p:sldId id="262" r:id="rId22"/>
    <p:sldId id="286" r:id="rId23"/>
    <p:sldId id="258" r:id="rId24"/>
    <p:sldId id="259" r:id="rId25"/>
    <p:sldId id="260" r:id="rId26"/>
    <p:sldId id="285" r:id="rId27"/>
    <p:sldId id="282" r:id="rId28"/>
    <p:sldId id="277" r:id="rId29"/>
    <p:sldId id="278" r:id="rId30"/>
    <p:sldId id="279" r:id="rId31"/>
    <p:sldId id="280" r:id="rId32"/>
    <p:sldId id="289" r:id="rId33"/>
    <p:sldId id="288" r:id="rId34"/>
    <p:sldId id="264" r:id="rId35"/>
    <p:sldId id="287" r:id="rId36"/>
    <p:sldId id="265" r:id="rId37"/>
    <p:sldId id="290" r:id="rId38"/>
    <p:sldId id="268" r:id="rId39"/>
    <p:sldId id="269" r:id="rId40"/>
    <p:sldId id="270" r:id="rId41"/>
    <p:sldId id="271" r:id="rId42"/>
    <p:sldId id="272" r:id="rId43"/>
    <p:sldId id="298" r:id="rId44"/>
    <p:sldId id="299" r:id="rId45"/>
    <p:sldId id="300" r:id="rId46"/>
    <p:sldId id="301" r:id="rId47"/>
    <p:sldId id="302" r:id="rId48"/>
    <p:sldId id="296" r:id="rId49"/>
    <p:sldId id="297" r:id="rId50"/>
    <p:sldId id="303" r:id="rId51"/>
    <p:sldId id="304" r:id="rId52"/>
    <p:sldId id="305" r:id="rId53"/>
    <p:sldId id="306" r:id="rId54"/>
    <p:sldId id="307" r:id="rId5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B43E7-8AAB-626E-09E3-66F68970AE1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0571E62-0D9F-B922-8690-76D0BD82F8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83602D17-D5CE-5F16-EC04-3F8AF567F275}"/>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C2F2936D-9B9B-7497-6855-74540EFBAFF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51FCF42-265F-A823-EC76-44A81BC6ECBC}"/>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98473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7C953-7571-A19F-0927-6390A80C98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ED7511-024F-B6CF-14C1-C071A7F28A2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7AAE0A-8072-8DAA-1C30-ABEE093BE325}"/>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608E2255-3F76-A2D8-DBAD-CB5E07666A3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660A4E4-AE59-C4EC-1761-B9ED747C73E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658927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1A046-CA0D-ED4F-0EB6-A9BA4D3B3D1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188625C-2016-4E7C-AF7A-60B2AA7A26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62641A8-0FF0-F30F-1857-D5FCC68DA51D}"/>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A31D6A9D-37E0-9449-AB18-6F2A7DAB97A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D20B5C-3FA4-93B0-E3EC-5DE7D104B7B6}"/>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41363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7E9DB-0EA8-7EA6-8FFD-C8E3A8C6CE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9F98433-F4F8-D180-3D9D-E0571AB2C53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C6D87EF-41E1-B4D6-F4A2-1FF27E12B46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6642AD6-17F6-4976-ABCB-CC6D905F0123}"/>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6" name="Marcador de pie de página 5">
            <a:extLst>
              <a:ext uri="{FF2B5EF4-FFF2-40B4-BE49-F238E27FC236}">
                <a16:creationId xmlns:a16="http://schemas.microsoft.com/office/drawing/2014/main" id="{656C5A4B-6EDF-2560-802B-B651458175F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7902DC6-447F-D3BD-C4F4-C21B2FF7D26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81648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78C52D-F2E5-0807-0624-E09D50CE30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479D938-278C-C4D8-9639-2A1EF2048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6156826-5341-068F-4647-E7F7DCDE38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5271D8D-7316-2EAF-A387-99AFB5133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9BC2E80-3E42-CFC0-95A3-FCEE297D556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886BE24-6E86-276B-7A03-FE0CC4650BE9}"/>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8" name="Marcador de pie de página 7">
            <a:extLst>
              <a:ext uri="{FF2B5EF4-FFF2-40B4-BE49-F238E27FC236}">
                <a16:creationId xmlns:a16="http://schemas.microsoft.com/office/drawing/2014/main" id="{34DCA3C8-9024-0A6F-F76C-FB6654D049A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A7B43E0-80BF-1A3A-A239-BF26C17A5730}"/>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1737097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A30BB7-C7D2-18A6-02F9-D29F59EC0D4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A084660-BD41-57EB-F9BB-5101DECA0D31}"/>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4" name="Marcador de pie de página 3">
            <a:extLst>
              <a:ext uri="{FF2B5EF4-FFF2-40B4-BE49-F238E27FC236}">
                <a16:creationId xmlns:a16="http://schemas.microsoft.com/office/drawing/2014/main" id="{DB7B0158-A52C-8AC4-CCC8-49BFD07A64B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2D6E352-DC9F-3AD9-20B7-68899DE69E5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34776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6CAD426-CD32-A540-BC93-A4D2B665A092}"/>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3" name="Marcador de pie de página 2">
            <a:extLst>
              <a:ext uri="{FF2B5EF4-FFF2-40B4-BE49-F238E27FC236}">
                <a16:creationId xmlns:a16="http://schemas.microsoft.com/office/drawing/2014/main" id="{82D1ECA5-C2E0-EBB9-9FD9-2B4C063E206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14C1230-01B0-57C8-0D0A-D7788404E4A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4248796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DA587D-1103-69DD-798C-10251F5E88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6827913-6ED6-E113-6356-82D492AF8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15614BD-67A5-E9CD-6D65-165FA4EF1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75691C-5F7A-239A-EB89-6634EF0E36CE}"/>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6" name="Marcador de pie de página 5">
            <a:extLst>
              <a:ext uri="{FF2B5EF4-FFF2-40B4-BE49-F238E27FC236}">
                <a16:creationId xmlns:a16="http://schemas.microsoft.com/office/drawing/2014/main" id="{285AF328-F68C-E120-3D95-641F21108C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B3A3757-D36B-42F4-7C3D-4CC14872E181}"/>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58637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DBBD5-9FA9-DC5D-AB1D-50EA004488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2959064-CD76-D16E-C8C7-44BFCF7F01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89615B0-F9D5-CED0-F21F-DED04566E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3FCBD7-480D-1C6B-8AF8-90454FCD924A}"/>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6" name="Marcador de pie de página 5">
            <a:extLst>
              <a:ext uri="{FF2B5EF4-FFF2-40B4-BE49-F238E27FC236}">
                <a16:creationId xmlns:a16="http://schemas.microsoft.com/office/drawing/2014/main" id="{786FBAC5-D644-3B89-1718-855B009707F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75883D-30F5-40DE-B32F-4C68D8AC05AD}"/>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057189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4FBB8A-A764-EBD5-AA82-F51BFB87E9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C146380-06E2-FDBA-E340-8231BB67B38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F754C38-0AA5-B9AA-C6EC-2A7CC98F3D6A}"/>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A7148F04-541F-1725-BA96-D511BF18AC0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1A8BBBA-2D38-215C-69C1-2C4FC6A216B4}"/>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2484553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E899EE6-2C46-CFA6-ED03-D00EB140DB7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2EAEA0E-57EE-467C-45F6-5A3C798BD39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0F834A-7F98-4229-6A2A-0DAB6CA12418}"/>
              </a:ext>
            </a:extLst>
          </p:cNvPr>
          <p:cNvSpPr>
            <a:spLocks noGrp="1"/>
          </p:cNvSpPr>
          <p:nvPr>
            <p:ph type="dt" sz="half" idx="10"/>
          </p:nvPr>
        </p:nvSpPr>
        <p:spPr/>
        <p:txBody>
          <a:body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17A0CFB3-1517-2454-7F82-51103930521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2CDC274-D8DF-4206-A0D0-0DAC20FA3C63}"/>
              </a:ext>
            </a:extLst>
          </p:cNvPr>
          <p:cNvSpPr>
            <a:spLocks noGrp="1"/>
          </p:cNvSpPr>
          <p:nvPr>
            <p:ph type="sldNum" sz="quarter" idx="12"/>
          </p:nvPr>
        </p:nvSpPr>
        <p:spPr/>
        <p:txBody>
          <a:bodyPr/>
          <a:lstStyle/>
          <a:p>
            <a:fld id="{FCF6CFFD-201C-4813-9A54-AE4C2B1664C3}" type="slidenum">
              <a:rPr lang="es-MX" smtClean="0"/>
              <a:t>‹Nº›</a:t>
            </a:fld>
            <a:endParaRPr lang="es-MX"/>
          </a:p>
        </p:txBody>
      </p:sp>
    </p:spTree>
    <p:extLst>
      <p:ext uri="{BB962C8B-B14F-4D97-AF65-F5344CB8AC3E}">
        <p14:creationId xmlns:p14="http://schemas.microsoft.com/office/powerpoint/2010/main" val="3485655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769BE50-BC77-14A9-14E3-5189457213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CD65F32-C96B-2888-6B48-B43D76971C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24F64CD-F020-E3E4-4C4E-562536BBD8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FA870E-AA46-4650-BB78-EF721C124EDB}" type="datetimeFigureOut">
              <a:rPr lang="es-MX" smtClean="0"/>
              <a:t>24/03/2026</a:t>
            </a:fld>
            <a:endParaRPr lang="es-MX"/>
          </a:p>
        </p:txBody>
      </p:sp>
      <p:sp>
        <p:nvSpPr>
          <p:cNvPr id="5" name="Marcador de pie de página 4">
            <a:extLst>
              <a:ext uri="{FF2B5EF4-FFF2-40B4-BE49-F238E27FC236}">
                <a16:creationId xmlns:a16="http://schemas.microsoft.com/office/drawing/2014/main" id="{A9F3CAB4-ABD3-361C-DD8E-D2EC13CFE5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21204818-572E-0360-8330-3C4CE50602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F6CFFD-201C-4813-9A54-AE4C2B1664C3}" type="slidenum">
              <a:rPr lang="es-MX" smtClean="0"/>
              <a:t>‹Nº›</a:t>
            </a:fld>
            <a:endParaRPr lang="es-MX"/>
          </a:p>
        </p:txBody>
      </p:sp>
    </p:spTree>
    <p:extLst>
      <p:ext uri="{BB962C8B-B14F-4D97-AF65-F5344CB8AC3E}">
        <p14:creationId xmlns:p14="http://schemas.microsoft.com/office/powerpoint/2010/main" val="276382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arxiv.org/abs/1301.378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arxiv.org/abs/1810.04805"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8137A-0B7A-3501-E968-456F8D5F3D8E}"/>
              </a:ext>
            </a:extLst>
          </p:cNvPr>
          <p:cNvSpPr>
            <a:spLocks noGrp="1"/>
          </p:cNvSpPr>
          <p:nvPr>
            <p:ph type="ctrTitle"/>
          </p:nvPr>
        </p:nvSpPr>
        <p:spPr/>
        <p:txBody>
          <a:bodyPr/>
          <a:lstStyle/>
          <a:p>
            <a:r>
              <a:rPr lang="es-CO" b="1" dirty="0" err="1"/>
              <a:t>From</a:t>
            </a:r>
            <a:r>
              <a:rPr lang="es-CO" b="1" dirty="0"/>
              <a:t> </a:t>
            </a:r>
            <a:r>
              <a:rPr lang="es-CO" b="1" dirty="0" err="1"/>
              <a:t>Embeddings</a:t>
            </a:r>
            <a:r>
              <a:rPr lang="es-CO" b="1" dirty="0"/>
              <a:t> </a:t>
            </a:r>
            <a:r>
              <a:rPr lang="es-CO" b="1" dirty="0" err="1"/>
              <a:t>to</a:t>
            </a:r>
            <a:r>
              <a:rPr lang="es-CO" b="1" dirty="0"/>
              <a:t> </a:t>
            </a:r>
            <a:r>
              <a:rPr lang="es-CO" b="1" dirty="0" err="1"/>
              <a:t>LLMs</a:t>
            </a:r>
            <a:endParaRPr lang="es-MX" b="1" dirty="0"/>
          </a:p>
        </p:txBody>
      </p:sp>
      <p:sp>
        <p:nvSpPr>
          <p:cNvPr id="3" name="Subtítulo 2">
            <a:extLst>
              <a:ext uri="{FF2B5EF4-FFF2-40B4-BE49-F238E27FC236}">
                <a16:creationId xmlns:a16="http://schemas.microsoft.com/office/drawing/2014/main" id="{328C757A-B5BF-68B8-387F-1F8D1D413D3C}"/>
              </a:ext>
            </a:extLst>
          </p:cNvPr>
          <p:cNvSpPr>
            <a:spLocks noGrp="1"/>
          </p:cNvSpPr>
          <p:nvPr>
            <p:ph type="subTitle" idx="1"/>
          </p:nvPr>
        </p:nvSpPr>
        <p:spPr/>
        <p:txBody>
          <a:bodyPr/>
          <a:lstStyle/>
          <a:p>
            <a:endParaRPr lang="es-MX" dirty="0"/>
          </a:p>
        </p:txBody>
      </p:sp>
    </p:spTree>
    <p:extLst>
      <p:ext uri="{BB962C8B-B14F-4D97-AF65-F5344CB8AC3E}">
        <p14:creationId xmlns:p14="http://schemas.microsoft.com/office/powerpoint/2010/main" val="2818708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30569E-E082-EC09-87A3-4834EBBC37A5}"/>
              </a:ext>
            </a:extLst>
          </p:cNvPr>
          <p:cNvSpPr>
            <a:spLocks noGrp="1"/>
          </p:cNvSpPr>
          <p:nvPr>
            <p:ph type="title"/>
          </p:nvPr>
        </p:nvSpPr>
        <p:spPr/>
        <p:txBody>
          <a:bodyPr/>
          <a:lstStyle/>
          <a:p>
            <a:r>
              <a:rPr lang="es-CO" b="1" dirty="0"/>
              <a:t>Word2Vec</a:t>
            </a:r>
            <a:endParaRPr lang="es-MX" dirty="0"/>
          </a:p>
        </p:txBody>
      </p:sp>
      <p:sp>
        <p:nvSpPr>
          <p:cNvPr id="3" name="Marcador de contenido 2">
            <a:extLst>
              <a:ext uri="{FF2B5EF4-FFF2-40B4-BE49-F238E27FC236}">
                <a16:creationId xmlns:a16="http://schemas.microsoft.com/office/drawing/2014/main" id="{D9A47835-6B7D-E355-A126-9F3BA2149A16}"/>
              </a:ext>
            </a:extLst>
          </p:cNvPr>
          <p:cNvSpPr>
            <a:spLocks noGrp="1"/>
          </p:cNvSpPr>
          <p:nvPr>
            <p:ph idx="1"/>
          </p:nvPr>
        </p:nvSpPr>
        <p:spPr>
          <a:xfrm>
            <a:off x="457200" y="2009774"/>
            <a:ext cx="11391900" cy="4562475"/>
          </a:xfrm>
        </p:spPr>
        <p:txBody>
          <a:bodyPr>
            <a:normAutofit fontScale="92500" lnSpcReduction="10000"/>
          </a:bodyPr>
          <a:lstStyle/>
          <a:p>
            <a:pPr marL="0" indent="0" algn="just">
              <a:buNone/>
            </a:pPr>
            <a:r>
              <a:rPr lang="en-US" b="0" i="0" dirty="0">
                <a:solidFill>
                  <a:srgbClr val="131314"/>
                </a:solidFill>
                <a:effectLst/>
                <a:latin typeface="Google Sans Text"/>
              </a:rPr>
              <a:t>Addresses the limitation of traditional NLP, “no notion of similarity between words.”</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A powerful property discovered with these vectors is their ability to capture "linear regularities" or "semantic and syntactic relationships</a:t>
            </a:r>
            <a:r>
              <a:rPr lang="en-US" dirty="0">
                <a:solidFill>
                  <a:srgbClr val="131314"/>
                </a:solidFill>
                <a:latin typeface="Google Sans Text"/>
              </a:rPr>
              <a:t> between words“</a:t>
            </a:r>
            <a:endParaRPr lang="en-US" b="0" i="0" dirty="0">
              <a:solidFill>
                <a:srgbClr val="131314"/>
              </a:solidFill>
              <a:effectLst/>
              <a:latin typeface="Google Sans Text"/>
            </a:endParaRP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Crucial for NLP tasks: machine translation, information retrieval, question answering, and natural language inference.</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The "quality" of these representations is measured by their ability to answer semantic and syntactic analogy questions.</a:t>
            </a:r>
            <a:endParaRPr lang="es-MX" dirty="0"/>
          </a:p>
        </p:txBody>
      </p:sp>
      <p:sp>
        <p:nvSpPr>
          <p:cNvPr id="6" name="Marcador de contenido 2">
            <a:extLst>
              <a:ext uri="{FF2B5EF4-FFF2-40B4-BE49-F238E27FC236}">
                <a16:creationId xmlns:a16="http://schemas.microsoft.com/office/drawing/2014/main" id="{DE1CB5DD-6BDB-C9CD-58BF-76260D5ACF46}"/>
              </a:ext>
            </a:extLst>
          </p:cNvPr>
          <p:cNvSpPr txBox="1">
            <a:spLocks/>
          </p:cNvSpPr>
          <p:nvPr/>
        </p:nvSpPr>
        <p:spPr>
          <a:xfrm>
            <a:off x="3700463" y="450279"/>
            <a:ext cx="8148637" cy="891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hlinkClick r:id="rId2"/>
              </a:rPr>
              <a:t>Efficient Estimation of Word Representations in Vector Space. </a:t>
            </a:r>
            <a:r>
              <a:rPr lang="en-US" dirty="0" err="1">
                <a:hlinkClick r:id="rId2"/>
              </a:rPr>
              <a:t>Mikolov</a:t>
            </a:r>
            <a:r>
              <a:rPr lang="en-US" dirty="0">
                <a:hlinkClick r:id="rId2"/>
              </a:rPr>
              <a:t> et al, 2013</a:t>
            </a:r>
            <a:endParaRPr lang="es-CO" dirty="0"/>
          </a:p>
        </p:txBody>
      </p:sp>
    </p:spTree>
    <p:extLst>
      <p:ext uri="{BB962C8B-B14F-4D97-AF65-F5344CB8AC3E}">
        <p14:creationId xmlns:p14="http://schemas.microsoft.com/office/powerpoint/2010/main" val="2072553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EDB22F-FD1B-BD01-51F5-36F50ACEAE12}"/>
              </a:ext>
            </a:extLst>
          </p:cNvPr>
          <p:cNvSpPr>
            <a:spLocks noGrp="1"/>
          </p:cNvSpPr>
          <p:nvPr>
            <p:ph type="title"/>
          </p:nvPr>
        </p:nvSpPr>
        <p:spPr>
          <a:xfrm>
            <a:off x="838200" y="35815"/>
            <a:ext cx="10515600" cy="1325563"/>
          </a:xfrm>
        </p:spPr>
        <p:txBody>
          <a:bodyPr/>
          <a:lstStyle/>
          <a:p>
            <a:pPr algn="ctr"/>
            <a:r>
              <a:rPr lang="es-CO" b="1" dirty="0"/>
              <a:t>Vector </a:t>
            </a:r>
            <a:r>
              <a:rPr lang="es-CO" b="1" dirty="0" err="1"/>
              <a:t>Arithmetic</a:t>
            </a:r>
            <a:endParaRPr lang="es-CO" b="1" dirty="0"/>
          </a:p>
        </p:txBody>
      </p:sp>
      <p:pic>
        <p:nvPicPr>
          <p:cNvPr id="5" name="Imagen 4">
            <a:extLst>
              <a:ext uri="{FF2B5EF4-FFF2-40B4-BE49-F238E27FC236}">
                <a16:creationId xmlns:a16="http://schemas.microsoft.com/office/drawing/2014/main" id="{F913FA7E-CAE7-23E8-11A8-9C2D18C6056B}"/>
              </a:ext>
            </a:extLst>
          </p:cNvPr>
          <p:cNvPicPr>
            <a:picLocks noChangeAspect="1"/>
          </p:cNvPicPr>
          <p:nvPr/>
        </p:nvPicPr>
        <p:blipFill>
          <a:blip r:embed="rId2"/>
          <a:srcRect l="7951" t="7989" r="4117" b="5485"/>
          <a:stretch>
            <a:fillRect/>
          </a:stretch>
        </p:blipFill>
        <p:spPr>
          <a:xfrm>
            <a:off x="981074" y="1495425"/>
            <a:ext cx="10232939" cy="4543425"/>
          </a:xfrm>
          <a:prstGeom prst="rect">
            <a:avLst/>
          </a:prstGeom>
        </p:spPr>
      </p:pic>
      <p:sp>
        <p:nvSpPr>
          <p:cNvPr id="4" name="CuadroTexto 3">
            <a:extLst>
              <a:ext uri="{FF2B5EF4-FFF2-40B4-BE49-F238E27FC236}">
                <a16:creationId xmlns:a16="http://schemas.microsoft.com/office/drawing/2014/main" id="{F1CDAE9F-25B7-4CCA-1000-547174A700A6}"/>
              </a:ext>
            </a:extLst>
          </p:cNvPr>
          <p:cNvSpPr txBox="1"/>
          <p:nvPr/>
        </p:nvSpPr>
        <p:spPr>
          <a:xfrm>
            <a:off x="8253394" y="6172897"/>
            <a:ext cx="2960619" cy="369332"/>
          </a:xfrm>
          <a:prstGeom prst="rect">
            <a:avLst/>
          </a:prstGeom>
          <a:noFill/>
        </p:spPr>
        <p:txBody>
          <a:bodyPr wrap="none" rtlCol="0">
            <a:spAutoFit/>
          </a:bodyPr>
          <a:lstStyle/>
          <a:p>
            <a:r>
              <a:rPr lang="es-CO" dirty="0" err="1"/>
              <a:t>Modified</a:t>
            </a:r>
            <a:r>
              <a:rPr lang="es-CO" dirty="0"/>
              <a:t> </a:t>
            </a:r>
            <a:r>
              <a:rPr lang="es-CO" dirty="0" err="1"/>
              <a:t>from</a:t>
            </a:r>
            <a:r>
              <a:rPr lang="es-CO" dirty="0"/>
              <a:t> </a:t>
            </a:r>
            <a:r>
              <a:rPr lang="es-CO" dirty="0" err="1"/>
              <a:t>Mikolov</a:t>
            </a:r>
            <a:r>
              <a:rPr lang="es-CO" dirty="0"/>
              <a:t>, 2013</a:t>
            </a:r>
            <a:endParaRPr lang="es-MX" dirty="0"/>
          </a:p>
        </p:txBody>
      </p:sp>
    </p:spTree>
    <p:extLst>
      <p:ext uri="{BB962C8B-B14F-4D97-AF65-F5344CB8AC3E}">
        <p14:creationId xmlns:p14="http://schemas.microsoft.com/office/powerpoint/2010/main" val="121290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0E30C-799D-470C-0A46-4A9D3CB21E3A}"/>
              </a:ext>
            </a:extLst>
          </p:cNvPr>
          <p:cNvSpPr>
            <a:spLocks noGrp="1"/>
          </p:cNvSpPr>
          <p:nvPr>
            <p:ph type="title"/>
          </p:nvPr>
        </p:nvSpPr>
        <p:spPr/>
        <p:txBody>
          <a:bodyPr/>
          <a:lstStyle/>
          <a:p>
            <a:pPr algn="ctr"/>
            <a:r>
              <a:rPr lang="es-CO" b="1" dirty="0" err="1"/>
              <a:t>Embeddings</a:t>
            </a:r>
            <a:endParaRPr lang="es-CO" b="1" dirty="0"/>
          </a:p>
        </p:txBody>
      </p:sp>
      <p:sp>
        <p:nvSpPr>
          <p:cNvPr id="5" name="Marcador de contenido 2">
            <a:extLst>
              <a:ext uri="{FF2B5EF4-FFF2-40B4-BE49-F238E27FC236}">
                <a16:creationId xmlns:a16="http://schemas.microsoft.com/office/drawing/2014/main" id="{137F14D2-CAB2-8681-7918-A6A8DBABEED7}"/>
              </a:ext>
            </a:extLst>
          </p:cNvPr>
          <p:cNvSpPr>
            <a:spLocks noGrp="1"/>
          </p:cNvSpPr>
          <p:nvPr/>
        </p:nvSpPr>
        <p:spPr>
          <a:xfrm>
            <a:off x="771525" y="1866899"/>
            <a:ext cx="10515600" cy="43148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0" i="0" dirty="0">
                <a:solidFill>
                  <a:srgbClr val="111827"/>
                </a:solidFill>
                <a:effectLst/>
                <a:latin typeface="Charter"/>
              </a:rPr>
              <a:t>An embedding is a numerical (vector) representation of a piece of information, for example: sequence of text, </a:t>
            </a:r>
          </a:p>
          <a:p>
            <a:pPr marL="0" indent="0" algn="just">
              <a:buNone/>
            </a:pPr>
            <a:endParaRPr lang="en-US" b="0" i="0" dirty="0">
              <a:solidFill>
                <a:srgbClr val="111827"/>
              </a:solidFill>
              <a:effectLst/>
              <a:latin typeface="Charter"/>
            </a:endParaRPr>
          </a:p>
          <a:p>
            <a:pPr marL="0" indent="0" algn="just">
              <a:buNone/>
            </a:pPr>
            <a:r>
              <a:rPr lang="en-US" b="0" i="0" dirty="0">
                <a:solidFill>
                  <a:srgbClr val="111827"/>
                </a:solidFill>
                <a:effectLst/>
                <a:latin typeface="Charter"/>
              </a:rPr>
              <a:t>documents, images, audio, etc. The representation captures the semantic meaning of what is being embedded, making it robust for many industry applications.</a:t>
            </a:r>
          </a:p>
          <a:p>
            <a:pPr marL="0" indent="0" algn="just">
              <a:buNone/>
            </a:pPr>
            <a:endParaRPr lang="en-US" dirty="0">
              <a:solidFill>
                <a:srgbClr val="111827"/>
              </a:solidFill>
              <a:latin typeface="Charter"/>
            </a:endParaRPr>
          </a:p>
          <a:p>
            <a:pPr marL="0" indent="0" algn="just">
              <a:buNone/>
            </a:pPr>
            <a:endParaRPr lang="en-US" dirty="0">
              <a:solidFill>
                <a:srgbClr val="111827"/>
              </a:solidFill>
              <a:latin typeface="Charter"/>
            </a:endParaRPr>
          </a:p>
          <a:p>
            <a:pPr marL="0" indent="0" algn="just">
              <a:buNone/>
            </a:pPr>
            <a:r>
              <a:rPr lang="es-CO" dirty="0" err="1"/>
              <a:t>Embedding</a:t>
            </a:r>
            <a:r>
              <a:rPr lang="es-CO" dirty="0"/>
              <a:t> </a:t>
            </a:r>
            <a:r>
              <a:rPr lang="es-CO" dirty="0" err="1"/>
              <a:t>is</a:t>
            </a:r>
            <a:r>
              <a:rPr lang="es-CO" dirty="0"/>
              <a:t> </a:t>
            </a:r>
            <a:r>
              <a:rPr lang="es-CO" dirty="0" err="1"/>
              <a:t>like</a:t>
            </a:r>
            <a:r>
              <a:rPr lang="es-CO" dirty="0"/>
              <a:t> a </a:t>
            </a:r>
            <a:r>
              <a:rPr lang="es-CO" dirty="0" err="1"/>
              <a:t>semantic</a:t>
            </a:r>
            <a:r>
              <a:rPr lang="es-CO" dirty="0"/>
              <a:t> </a:t>
            </a:r>
            <a:r>
              <a:rPr lang="es-CO" dirty="0" err="1"/>
              <a:t>Encoding</a:t>
            </a:r>
            <a:endParaRPr lang="es-CO" dirty="0"/>
          </a:p>
        </p:txBody>
      </p:sp>
    </p:spTree>
    <p:extLst>
      <p:ext uri="{BB962C8B-B14F-4D97-AF65-F5344CB8AC3E}">
        <p14:creationId xmlns:p14="http://schemas.microsoft.com/office/powerpoint/2010/main" val="175513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4944F22-26CE-1A4A-8ADF-190FE6D28EA1}"/>
              </a:ext>
            </a:extLst>
          </p:cNvPr>
          <p:cNvPicPr>
            <a:picLocks noChangeAspect="1"/>
          </p:cNvPicPr>
          <p:nvPr/>
        </p:nvPicPr>
        <p:blipFill>
          <a:blip r:embed="rId2"/>
          <a:stretch>
            <a:fillRect/>
          </a:stretch>
        </p:blipFill>
        <p:spPr>
          <a:xfrm>
            <a:off x="975914" y="1133475"/>
            <a:ext cx="9862338" cy="4830987"/>
          </a:xfrm>
          <a:prstGeom prst="rect">
            <a:avLst/>
          </a:prstGeom>
        </p:spPr>
      </p:pic>
    </p:spTree>
    <p:extLst>
      <p:ext uri="{BB962C8B-B14F-4D97-AF65-F5344CB8AC3E}">
        <p14:creationId xmlns:p14="http://schemas.microsoft.com/office/powerpoint/2010/main" val="342485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A9EF71A-0071-4B04-EE6F-BB0FBCBD47C8}"/>
              </a:ext>
            </a:extLst>
          </p:cNvPr>
          <p:cNvPicPr>
            <a:picLocks noChangeAspect="1"/>
          </p:cNvPicPr>
          <p:nvPr/>
        </p:nvPicPr>
        <p:blipFill rotWithShape="1">
          <a:blip r:embed="rId2"/>
          <a:srcRect t="1777"/>
          <a:stretch/>
        </p:blipFill>
        <p:spPr>
          <a:xfrm>
            <a:off x="2680811" y="548640"/>
            <a:ext cx="6830378" cy="5866864"/>
          </a:xfrm>
          <a:prstGeom prst="rect">
            <a:avLst/>
          </a:prstGeom>
        </p:spPr>
      </p:pic>
    </p:spTree>
    <p:extLst>
      <p:ext uri="{BB962C8B-B14F-4D97-AF65-F5344CB8AC3E}">
        <p14:creationId xmlns:p14="http://schemas.microsoft.com/office/powerpoint/2010/main" val="2144793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B78892-CFBA-55BE-D5AC-2F1D4509183A}"/>
              </a:ext>
            </a:extLst>
          </p:cNvPr>
          <p:cNvSpPr>
            <a:spLocks noGrp="1"/>
          </p:cNvSpPr>
          <p:nvPr>
            <p:ph type="title"/>
          </p:nvPr>
        </p:nvSpPr>
        <p:spPr/>
        <p:txBody>
          <a:bodyPr/>
          <a:lstStyle/>
          <a:p>
            <a:pPr algn="ctr"/>
            <a:r>
              <a:rPr lang="es-CO" b="1" dirty="0" err="1"/>
              <a:t>Embedding</a:t>
            </a:r>
            <a:r>
              <a:rPr lang="es-CO" b="1" dirty="0"/>
              <a:t> </a:t>
            </a:r>
            <a:r>
              <a:rPr lang="es-CO" b="1" dirty="0" err="1"/>
              <a:t>example</a:t>
            </a:r>
            <a:endParaRPr lang="es-CO" b="1" dirty="0"/>
          </a:p>
        </p:txBody>
      </p:sp>
      <p:pic>
        <p:nvPicPr>
          <p:cNvPr id="5" name="Marcador de contenido 4">
            <a:extLst>
              <a:ext uri="{FF2B5EF4-FFF2-40B4-BE49-F238E27FC236}">
                <a16:creationId xmlns:a16="http://schemas.microsoft.com/office/drawing/2014/main" id="{73C1CF22-FE50-98EB-F471-10388841A9DC}"/>
              </a:ext>
            </a:extLst>
          </p:cNvPr>
          <p:cNvPicPr>
            <a:picLocks noGrp="1" noChangeAspect="1"/>
          </p:cNvPicPr>
          <p:nvPr>
            <p:ph idx="1"/>
          </p:nvPr>
        </p:nvPicPr>
        <p:blipFill>
          <a:blip r:embed="rId2"/>
          <a:stretch>
            <a:fillRect/>
          </a:stretch>
        </p:blipFill>
        <p:spPr>
          <a:xfrm>
            <a:off x="454453" y="1605964"/>
            <a:ext cx="9326277" cy="2486372"/>
          </a:xfrm>
        </p:spPr>
      </p:pic>
      <p:pic>
        <p:nvPicPr>
          <p:cNvPr id="7" name="Imagen 6">
            <a:extLst>
              <a:ext uri="{FF2B5EF4-FFF2-40B4-BE49-F238E27FC236}">
                <a16:creationId xmlns:a16="http://schemas.microsoft.com/office/drawing/2014/main" id="{4D435220-106E-DA25-76BF-7493A2F529E5}"/>
              </a:ext>
            </a:extLst>
          </p:cNvPr>
          <p:cNvPicPr>
            <a:picLocks noChangeAspect="1"/>
          </p:cNvPicPr>
          <p:nvPr/>
        </p:nvPicPr>
        <p:blipFill>
          <a:blip r:embed="rId3"/>
          <a:stretch>
            <a:fillRect/>
          </a:stretch>
        </p:blipFill>
        <p:spPr>
          <a:xfrm>
            <a:off x="740664" y="4342804"/>
            <a:ext cx="9915144" cy="2160031"/>
          </a:xfrm>
          <a:prstGeom prst="rect">
            <a:avLst/>
          </a:prstGeom>
        </p:spPr>
      </p:pic>
      <p:sp>
        <p:nvSpPr>
          <p:cNvPr id="8" name="Rectángulo: esquinas redondeadas 7">
            <a:extLst>
              <a:ext uri="{FF2B5EF4-FFF2-40B4-BE49-F238E27FC236}">
                <a16:creationId xmlns:a16="http://schemas.microsoft.com/office/drawing/2014/main" id="{356F1262-36CD-A645-9CC3-AA887B18CA2B}"/>
              </a:ext>
            </a:extLst>
          </p:cNvPr>
          <p:cNvSpPr/>
          <p:nvPr/>
        </p:nvSpPr>
        <p:spPr>
          <a:xfrm>
            <a:off x="9336024" y="4517136"/>
            <a:ext cx="2249424" cy="3931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dirty="0"/>
              <a:t>Similar </a:t>
            </a:r>
            <a:r>
              <a:rPr lang="es-CO" dirty="0" err="1"/>
              <a:t>or</a:t>
            </a:r>
            <a:r>
              <a:rPr lang="es-CO" dirty="0"/>
              <a:t> </a:t>
            </a:r>
            <a:r>
              <a:rPr lang="es-CO" dirty="0" err="1"/>
              <a:t>not</a:t>
            </a:r>
            <a:r>
              <a:rPr lang="es-CO" dirty="0"/>
              <a:t>?</a:t>
            </a:r>
          </a:p>
        </p:txBody>
      </p:sp>
    </p:spTree>
    <p:extLst>
      <p:ext uri="{BB962C8B-B14F-4D97-AF65-F5344CB8AC3E}">
        <p14:creationId xmlns:p14="http://schemas.microsoft.com/office/powerpoint/2010/main" val="131486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C4CB8-31F7-8C22-1BDF-A219C29EF9EB}"/>
              </a:ext>
            </a:extLst>
          </p:cNvPr>
          <p:cNvSpPr>
            <a:spLocks noGrp="1"/>
          </p:cNvSpPr>
          <p:nvPr>
            <p:ph type="title"/>
          </p:nvPr>
        </p:nvSpPr>
        <p:spPr/>
        <p:txBody>
          <a:bodyPr/>
          <a:lstStyle/>
          <a:p>
            <a:r>
              <a:rPr lang="es-CO" dirty="0" err="1"/>
              <a:t>Similarity</a:t>
            </a:r>
            <a:r>
              <a:rPr lang="es-CO" dirty="0"/>
              <a:t> </a:t>
            </a:r>
            <a:r>
              <a:rPr lang="es-CO" dirty="0" err="1"/>
              <a:t>based</a:t>
            </a:r>
            <a:r>
              <a:rPr lang="es-CO" dirty="0"/>
              <a:t> </a:t>
            </a:r>
            <a:r>
              <a:rPr lang="es-CO" dirty="0" err="1"/>
              <a:t>on</a:t>
            </a:r>
            <a:r>
              <a:rPr lang="es-CO" dirty="0"/>
              <a:t> </a:t>
            </a:r>
            <a:r>
              <a:rPr lang="es-CO" dirty="0" err="1"/>
              <a:t>the</a:t>
            </a:r>
            <a:r>
              <a:rPr lang="es-CO" dirty="0"/>
              <a:t> </a:t>
            </a:r>
            <a:r>
              <a:rPr lang="es-CO" dirty="0" err="1"/>
              <a:t>cosine</a:t>
            </a:r>
            <a:r>
              <a:rPr lang="es-CO" dirty="0"/>
              <a:t> </a:t>
            </a:r>
            <a:r>
              <a:rPr lang="es-CO" dirty="0" err="1"/>
              <a:t>distance</a:t>
            </a:r>
            <a:r>
              <a:rPr lang="es-CO" dirty="0"/>
              <a:t> [-1,1]</a:t>
            </a:r>
          </a:p>
        </p:txBody>
      </p:sp>
      <p:pic>
        <p:nvPicPr>
          <p:cNvPr id="5" name="Imagen 4">
            <a:extLst>
              <a:ext uri="{FF2B5EF4-FFF2-40B4-BE49-F238E27FC236}">
                <a16:creationId xmlns:a16="http://schemas.microsoft.com/office/drawing/2014/main" id="{4065E062-7E29-AB29-599A-6EA6475A98C5}"/>
              </a:ext>
            </a:extLst>
          </p:cNvPr>
          <p:cNvPicPr>
            <a:picLocks noChangeAspect="1"/>
          </p:cNvPicPr>
          <p:nvPr/>
        </p:nvPicPr>
        <p:blipFill>
          <a:blip r:embed="rId2"/>
          <a:stretch>
            <a:fillRect/>
          </a:stretch>
        </p:blipFill>
        <p:spPr>
          <a:xfrm>
            <a:off x="1186913" y="2051824"/>
            <a:ext cx="9507277" cy="3467584"/>
          </a:xfrm>
          <a:prstGeom prst="rect">
            <a:avLst/>
          </a:prstGeom>
        </p:spPr>
      </p:pic>
    </p:spTree>
    <p:extLst>
      <p:ext uri="{BB962C8B-B14F-4D97-AF65-F5344CB8AC3E}">
        <p14:creationId xmlns:p14="http://schemas.microsoft.com/office/powerpoint/2010/main" val="358757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177209D-93A2-7920-918B-B307771B0400}"/>
              </a:ext>
            </a:extLst>
          </p:cNvPr>
          <p:cNvPicPr>
            <a:picLocks noChangeAspect="1"/>
          </p:cNvPicPr>
          <p:nvPr/>
        </p:nvPicPr>
        <p:blipFill>
          <a:blip r:embed="rId2"/>
          <a:srcRect r="383" b="7805"/>
          <a:stretch>
            <a:fillRect/>
          </a:stretch>
        </p:blipFill>
        <p:spPr>
          <a:xfrm>
            <a:off x="751768" y="1411914"/>
            <a:ext cx="10097208" cy="5348693"/>
          </a:xfrm>
          <a:prstGeom prst="rect">
            <a:avLst/>
          </a:prstGeom>
        </p:spPr>
      </p:pic>
      <p:sp>
        <p:nvSpPr>
          <p:cNvPr id="3" name="Título 1">
            <a:extLst>
              <a:ext uri="{FF2B5EF4-FFF2-40B4-BE49-F238E27FC236}">
                <a16:creationId xmlns:a16="http://schemas.microsoft.com/office/drawing/2014/main" id="{70387126-F544-8F2F-4846-4BA776DA2F14}"/>
              </a:ext>
            </a:extLst>
          </p:cNvPr>
          <p:cNvSpPr>
            <a:spLocks noGrp="1"/>
          </p:cNvSpPr>
          <p:nvPr>
            <p:ph type="title"/>
          </p:nvPr>
        </p:nvSpPr>
        <p:spPr>
          <a:xfrm>
            <a:off x="838200" y="365125"/>
            <a:ext cx="10515600" cy="1325563"/>
          </a:xfrm>
        </p:spPr>
        <p:txBody>
          <a:bodyPr/>
          <a:lstStyle/>
          <a:p>
            <a:r>
              <a:rPr lang="es-CO" dirty="0" err="1"/>
              <a:t>Similarity</a:t>
            </a:r>
            <a:r>
              <a:rPr lang="es-CO" dirty="0"/>
              <a:t> </a:t>
            </a:r>
            <a:r>
              <a:rPr lang="es-CO" dirty="0" err="1"/>
              <a:t>based</a:t>
            </a:r>
            <a:r>
              <a:rPr lang="es-CO" dirty="0"/>
              <a:t> </a:t>
            </a:r>
            <a:r>
              <a:rPr lang="es-CO" dirty="0" err="1"/>
              <a:t>on</a:t>
            </a:r>
            <a:r>
              <a:rPr lang="es-CO" dirty="0"/>
              <a:t> </a:t>
            </a:r>
            <a:r>
              <a:rPr lang="es-CO" dirty="0" err="1"/>
              <a:t>the</a:t>
            </a:r>
            <a:r>
              <a:rPr lang="es-CO" dirty="0"/>
              <a:t> </a:t>
            </a:r>
            <a:r>
              <a:rPr lang="es-CO" dirty="0" err="1"/>
              <a:t>cosine</a:t>
            </a:r>
            <a:r>
              <a:rPr lang="es-CO" dirty="0"/>
              <a:t> </a:t>
            </a:r>
            <a:r>
              <a:rPr lang="es-CO" dirty="0" err="1"/>
              <a:t>distance</a:t>
            </a:r>
            <a:r>
              <a:rPr lang="es-CO" dirty="0"/>
              <a:t> [-1,1]</a:t>
            </a:r>
          </a:p>
        </p:txBody>
      </p:sp>
    </p:spTree>
    <p:extLst>
      <p:ext uri="{BB962C8B-B14F-4D97-AF65-F5344CB8AC3E}">
        <p14:creationId xmlns:p14="http://schemas.microsoft.com/office/powerpoint/2010/main" val="3891331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B388E-C005-7950-C132-4B69764AFAC5}"/>
              </a:ext>
            </a:extLst>
          </p:cNvPr>
          <p:cNvSpPr>
            <a:spLocks noGrp="1"/>
          </p:cNvSpPr>
          <p:nvPr>
            <p:ph type="title"/>
          </p:nvPr>
        </p:nvSpPr>
        <p:spPr/>
        <p:txBody>
          <a:bodyPr/>
          <a:lstStyle/>
          <a:p>
            <a:r>
              <a:rPr lang="es-CO" b="1" dirty="0"/>
              <a:t>Vector </a:t>
            </a:r>
            <a:r>
              <a:rPr lang="es-CO" b="1" dirty="0" err="1"/>
              <a:t>Databases</a:t>
            </a:r>
            <a:endParaRPr lang="es-CO" b="1" dirty="0"/>
          </a:p>
        </p:txBody>
      </p:sp>
      <p:sp>
        <p:nvSpPr>
          <p:cNvPr id="3" name="Marcador de contenido 2">
            <a:extLst>
              <a:ext uri="{FF2B5EF4-FFF2-40B4-BE49-F238E27FC236}">
                <a16:creationId xmlns:a16="http://schemas.microsoft.com/office/drawing/2014/main" id="{33377D42-172C-7367-1115-B38F8BCD812F}"/>
              </a:ext>
            </a:extLst>
          </p:cNvPr>
          <p:cNvSpPr>
            <a:spLocks noGrp="1"/>
          </p:cNvSpPr>
          <p:nvPr>
            <p:ph idx="1"/>
          </p:nvPr>
        </p:nvSpPr>
        <p:spPr/>
        <p:txBody>
          <a:bodyPr/>
          <a:lstStyle/>
          <a:p>
            <a:pPr marL="0" indent="0" algn="just">
              <a:buNone/>
            </a:pPr>
            <a:r>
              <a:rPr lang="en-US" b="0" i="0" dirty="0">
                <a:solidFill>
                  <a:srgbClr val="242424"/>
                </a:solidFill>
                <a:effectLst/>
                <a:latin typeface="source-serif-pro"/>
              </a:rPr>
              <a:t>They are specialized systems designed for storing, managing, and searching embedding vectors.</a:t>
            </a:r>
          </a:p>
          <a:p>
            <a:pPr marL="0" indent="0" algn="just">
              <a:buNone/>
            </a:pPr>
            <a:endParaRPr lang="en-US" dirty="0">
              <a:solidFill>
                <a:srgbClr val="242424"/>
              </a:solidFill>
              <a:latin typeface="source-serif-pro"/>
            </a:endParaRPr>
          </a:p>
          <a:p>
            <a:pPr marL="0" indent="0">
              <a:buNone/>
            </a:pPr>
            <a:r>
              <a:rPr lang="es-CO" b="1" dirty="0" err="1">
                <a:solidFill>
                  <a:srgbClr val="242424"/>
                </a:solidFill>
                <a:latin typeface="sohne"/>
              </a:rPr>
              <a:t>Chromadb</a:t>
            </a:r>
            <a:r>
              <a:rPr lang="es-CO" b="1" dirty="0">
                <a:solidFill>
                  <a:srgbClr val="242424"/>
                </a:solidFill>
                <a:latin typeface="sohne"/>
              </a:rPr>
              <a:t> </a:t>
            </a:r>
            <a:r>
              <a:rPr lang="es-CO" dirty="0">
                <a:solidFill>
                  <a:srgbClr val="242424"/>
                </a:solidFill>
                <a:latin typeface="sohne"/>
              </a:rPr>
              <a:t>(Open </a:t>
            </a:r>
            <a:r>
              <a:rPr lang="es-CO" dirty="0" err="1">
                <a:solidFill>
                  <a:srgbClr val="242424"/>
                </a:solidFill>
                <a:latin typeface="sohne"/>
              </a:rPr>
              <a:t>Source</a:t>
            </a:r>
            <a:r>
              <a:rPr lang="es-CO" dirty="0">
                <a:solidFill>
                  <a:srgbClr val="242424"/>
                </a:solidFill>
                <a:latin typeface="sohne"/>
              </a:rPr>
              <a:t>)</a:t>
            </a:r>
          </a:p>
          <a:p>
            <a:pPr marL="0" indent="0">
              <a:buNone/>
            </a:pPr>
            <a:r>
              <a:rPr lang="es-CO" b="1" dirty="0" err="1">
                <a:solidFill>
                  <a:srgbClr val="242424"/>
                </a:solidFill>
                <a:latin typeface="sohne"/>
              </a:rPr>
              <a:t>Qdrant</a:t>
            </a:r>
            <a:r>
              <a:rPr lang="es-CO" b="1" dirty="0">
                <a:solidFill>
                  <a:srgbClr val="242424"/>
                </a:solidFill>
                <a:latin typeface="sohne"/>
              </a:rPr>
              <a:t> </a:t>
            </a:r>
            <a:r>
              <a:rPr lang="es-CO" dirty="0">
                <a:solidFill>
                  <a:srgbClr val="242424"/>
                </a:solidFill>
                <a:latin typeface="sohne"/>
              </a:rPr>
              <a:t>(light and </a:t>
            </a:r>
            <a:r>
              <a:rPr lang="es-CO" dirty="0" err="1">
                <a:solidFill>
                  <a:srgbClr val="242424"/>
                </a:solidFill>
                <a:latin typeface="sohne"/>
              </a:rPr>
              <a:t>poweful</a:t>
            </a:r>
            <a:r>
              <a:rPr lang="es-CO" dirty="0">
                <a:solidFill>
                  <a:srgbClr val="242424"/>
                </a:solidFill>
                <a:latin typeface="sohne"/>
              </a:rPr>
              <a:t>)</a:t>
            </a:r>
          </a:p>
          <a:p>
            <a:pPr marL="0" indent="0">
              <a:buNone/>
            </a:pPr>
            <a:r>
              <a:rPr lang="es-CO" b="1" dirty="0" err="1">
                <a:solidFill>
                  <a:srgbClr val="242424"/>
                </a:solidFill>
                <a:latin typeface="sohne"/>
              </a:rPr>
              <a:t>Pgvector</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It’s</a:t>
            </a:r>
            <a:r>
              <a:rPr lang="es-CO" dirty="0">
                <a:solidFill>
                  <a:srgbClr val="242424"/>
                </a:solidFill>
                <a:latin typeface="sohne"/>
              </a:rPr>
              <a:t> </a:t>
            </a:r>
            <a:r>
              <a:rPr lang="es-CO" dirty="0" err="1">
                <a:solidFill>
                  <a:srgbClr val="242424"/>
                </a:solidFill>
                <a:latin typeface="sohne"/>
              </a:rPr>
              <a:t>an</a:t>
            </a:r>
            <a:r>
              <a:rPr lang="es-CO" dirty="0">
                <a:solidFill>
                  <a:srgbClr val="242424"/>
                </a:solidFill>
                <a:latin typeface="sohne"/>
              </a:rPr>
              <a:t> </a:t>
            </a:r>
            <a:r>
              <a:rPr lang="es-CO" dirty="0" err="1">
                <a:solidFill>
                  <a:srgbClr val="242424"/>
                </a:solidFill>
                <a:latin typeface="sohne"/>
              </a:rPr>
              <a:t>extension</a:t>
            </a:r>
            <a:r>
              <a:rPr lang="es-CO" dirty="0">
                <a:solidFill>
                  <a:srgbClr val="242424"/>
                </a:solidFill>
                <a:latin typeface="sohne"/>
              </a:rPr>
              <a:t> </a:t>
            </a:r>
            <a:r>
              <a:rPr lang="es-CO" dirty="0" err="1">
                <a:solidFill>
                  <a:srgbClr val="242424"/>
                </a:solidFill>
                <a:latin typeface="sohne"/>
              </a:rPr>
              <a:t>of</a:t>
            </a:r>
            <a:r>
              <a:rPr lang="es-CO" dirty="0">
                <a:solidFill>
                  <a:srgbClr val="242424"/>
                </a:solidFill>
                <a:latin typeface="sohne"/>
              </a:rPr>
              <a:t> </a:t>
            </a:r>
            <a:r>
              <a:rPr lang="es-CO" dirty="0" err="1">
                <a:solidFill>
                  <a:srgbClr val="242424"/>
                </a:solidFill>
                <a:latin typeface="sohne"/>
              </a:rPr>
              <a:t>PosgreDB</a:t>
            </a:r>
            <a:r>
              <a:rPr lang="es-CO" dirty="0">
                <a:solidFill>
                  <a:srgbClr val="242424"/>
                </a:solidFill>
                <a:latin typeface="sohne"/>
              </a:rPr>
              <a:t>)</a:t>
            </a:r>
          </a:p>
          <a:p>
            <a:pPr marL="0" indent="0">
              <a:buNone/>
            </a:pPr>
            <a:r>
              <a:rPr lang="es-CO" b="1" dirty="0" err="1">
                <a:solidFill>
                  <a:srgbClr val="242424"/>
                </a:solidFill>
                <a:latin typeface="sohne"/>
              </a:rPr>
              <a:t>Pinecone</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Industry</a:t>
            </a:r>
            <a:r>
              <a:rPr lang="es-CO" dirty="0">
                <a:solidFill>
                  <a:srgbClr val="242424"/>
                </a:solidFill>
                <a:latin typeface="sohne"/>
              </a:rPr>
              <a:t> default, </a:t>
            </a:r>
            <a:r>
              <a:rPr lang="es-CO" dirty="0" err="1">
                <a:solidFill>
                  <a:srgbClr val="242424"/>
                </a:solidFill>
                <a:latin typeface="sohne"/>
              </a:rPr>
              <a:t>but</a:t>
            </a:r>
            <a:r>
              <a:rPr lang="es-CO" dirty="0">
                <a:solidFill>
                  <a:srgbClr val="242424"/>
                </a:solidFill>
                <a:latin typeface="sohne"/>
              </a:rPr>
              <a:t> </a:t>
            </a:r>
            <a:r>
              <a:rPr lang="es-CO" dirty="0" err="1">
                <a:solidFill>
                  <a:srgbClr val="242424"/>
                </a:solidFill>
                <a:latin typeface="sohne"/>
              </a:rPr>
              <a:t>expensive</a:t>
            </a:r>
            <a:r>
              <a:rPr lang="es-CO" dirty="0">
                <a:solidFill>
                  <a:srgbClr val="242424"/>
                </a:solidFill>
                <a:latin typeface="sohne"/>
              </a:rPr>
              <a:t>)</a:t>
            </a:r>
          </a:p>
          <a:p>
            <a:pPr marL="0" indent="0">
              <a:buNone/>
            </a:pPr>
            <a:r>
              <a:rPr lang="es-CO" b="1" dirty="0" err="1">
                <a:solidFill>
                  <a:srgbClr val="242424"/>
                </a:solidFill>
                <a:latin typeface="sohne"/>
              </a:rPr>
              <a:t>Weaviate</a:t>
            </a:r>
            <a:r>
              <a:rPr lang="es-CO" b="1" dirty="0">
                <a:solidFill>
                  <a:srgbClr val="242424"/>
                </a:solidFill>
                <a:latin typeface="sohne"/>
              </a:rPr>
              <a:t> </a:t>
            </a:r>
            <a:r>
              <a:rPr lang="es-CO" dirty="0">
                <a:solidFill>
                  <a:srgbClr val="242424"/>
                </a:solidFill>
                <a:latin typeface="sohne"/>
              </a:rPr>
              <a:t>(</a:t>
            </a:r>
            <a:r>
              <a:rPr lang="es-CO" dirty="0" err="1">
                <a:solidFill>
                  <a:srgbClr val="242424"/>
                </a:solidFill>
                <a:latin typeface="sohne"/>
              </a:rPr>
              <a:t>Private</a:t>
            </a:r>
            <a:r>
              <a:rPr lang="es-CO" dirty="0">
                <a:solidFill>
                  <a:srgbClr val="242424"/>
                </a:solidFill>
                <a:latin typeface="sohne"/>
              </a:rPr>
              <a:t>)</a:t>
            </a:r>
          </a:p>
        </p:txBody>
      </p:sp>
    </p:spTree>
    <p:extLst>
      <p:ext uri="{BB962C8B-B14F-4D97-AF65-F5344CB8AC3E}">
        <p14:creationId xmlns:p14="http://schemas.microsoft.com/office/powerpoint/2010/main" val="3502044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6F2BA-60F4-846F-9632-88E648440C7B}"/>
              </a:ext>
            </a:extLst>
          </p:cNvPr>
          <p:cNvSpPr>
            <a:spLocks noGrp="1"/>
          </p:cNvSpPr>
          <p:nvPr>
            <p:ph type="title"/>
          </p:nvPr>
        </p:nvSpPr>
        <p:spPr/>
        <p:txBody>
          <a:bodyPr/>
          <a:lstStyle/>
          <a:p>
            <a:pPr algn="ctr"/>
            <a:r>
              <a:rPr lang="es-CO" b="1" dirty="0"/>
              <a:t>Vector </a:t>
            </a:r>
            <a:r>
              <a:rPr lang="es-CO" b="1" dirty="0" err="1"/>
              <a:t>Databases</a:t>
            </a:r>
            <a:r>
              <a:rPr lang="es-CO" b="1" dirty="0"/>
              <a:t> </a:t>
            </a:r>
            <a:r>
              <a:rPr lang="es-CO" b="1" dirty="0" err="1"/>
              <a:t>Comparison</a:t>
            </a:r>
            <a:r>
              <a:rPr lang="es-CO" b="1" dirty="0"/>
              <a:t> </a:t>
            </a:r>
            <a:r>
              <a:rPr lang="es-CO" b="1" dirty="0" err="1"/>
              <a:t>Parameters</a:t>
            </a:r>
            <a:endParaRPr lang="es-CO" b="1" dirty="0"/>
          </a:p>
        </p:txBody>
      </p:sp>
      <p:sp>
        <p:nvSpPr>
          <p:cNvPr id="3" name="Marcador de contenido 2">
            <a:extLst>
              <a:ext uri="{FF2B5EF4-FFF2-40B4-BE49-F238E27FC236}">
                <a16:creationId xmlns:a16="http://schemas.microsoft.com/office/drawing/2014/main" id="{E42EE6C1-F303-6A62-310E-298F4501074F}"/>
              </a:ext>
            </a:extLst>
          </p:cNvPr>
          <p:cNvSpPr>
            <a:spLocks noGrp="1"/>
          </p:cNvSpPr>
          <p:nvPr>
            <p:ph idx="1"/>
          </p:nvPr>
        </p:nvSpPr>
        <p:spPr>
          <a:xfrm>
            <a:off x="838200" y="1825625"/>
            <a:ext cx="10515600" cy="3175000"/>
          </a:xfrm>
        </p:spPr>
        <p:txBody>
          <a:bodyPr>
            <a:normAutofit fontScale="92500" lnSpcReduction="10000"/>
          </a:bodyPr>
          <a:lstStyle/>
          <a:p>
            <a:r>
              <a:rPr lang="es-CO" dirty="0" err="1"/>
              <a:t>Number</a:t>
            </a:r>
            <a:r>
              <a:rPr lang="es-CO" dirty="0"/>
              <a:t> </a:t>
            </a:r>
            <a:r>
              <a:rPr lang="es-CO" dirty="0" err="1"/>
              <a:t>of</a:t>
            </a:r>
            <a:r>
              <a:rPr lang="es-CO" dirty="0"/>
              <a:t> </a:t>
            </a:r>
            <a:r>
              <a:rPr lang="es-CO" dirty="0" err="1"/>
              <a:t>records</a:t>
            </a:r>
            <a:endParaRPr lang="es-CO" dirty="0"/>
          </a:p>
          <a:p>
            <a:r>
              <a:rPr lang="es-CO" dirty="0" err="1"/>
              <a:t>Number</a:t>
            </a:r>
            <a:r>
              <a:rPr lang="es-CO" dirty="0"/>
              <a:t> </a:t>
            </a:r>
            <a:r>
              <a:rPr lang="es-CO" dirty="0" err="1"/>
              <a:t>of</a:t>
            </a:r>
            <a:r>
              <a:rPr lang="es-CO" dirty="0"/>
              <a:t> </a:t>
            </a:r>
            <a:r>
              <a:rPr lang="es-CO" dirty="0" err="1"/>
              <a:t>dimensions</a:t>
            </a:r>
            <a:r>
              <a:rPr lang="es-CO" dirty="0"/>
              <a:t> </a:t>
            </a:r>
            <a:r>
              <a:rPr lang="es-CO" dirty="0" err="1"/>
              <a:t>they</a:t>
            </a:r>
            <a:r>
              <a:rPr lang="es-CO" dirty="0"/>
              <a:t> can store (512, 1024, 2000, </a:t>
            </a:r>
            <a:r>
              <a:rPr lang="es-CO" dirty="0" err="1"/>
              <a:t>etc</a:t>
            </a:r>
            <a:r>
              <a:rPr lang="es-CO" dirty="0"/>
              <a:t>)</a:t>
            </a:r>
          </a:p>
          <a:p>
            <a:r>
              <a:rPr lang="es-CO" dirty="0" err="1"/>
              <a:t>Number</a:t>
            </a:r>
            <a:r>
              <a:rPr lang="es-CO" dirty="0"/>
              <a:t> and </a:t>
            </a:r>
            <a:r>
              <a:rPr lang="es-CO" dirty="0" err="1"/>
              <a:t>type</a:t>
            </a:r>
            <a:r>
              <a:rPr lang="es-CO" dirty="0"/>
              <a:t> </a:t>
            </a:r>
            <a:r>
              <a:rPr lang="es-CO" dirty="0" err="1"/>
              <a:t>of</a:t>
            </a:r>
            <a:r>
              <a:rPr lang="es-CO" dirty="0"/>
              <a:t> </a:t>
            </a:r>
            <a:r>
              <a:rPr lang="es-CO" dirty="0" err="1"/>
              <a:t>algorithms</a:t>
            </a:r>
            <a:r>
              <a:rPr lang="es-CO" dirty="0"/>
              <a:t> </a:t>
            </a:r>
            <a:r>
              <a:rPr lang="es-CO" dirty="0" err="1"/>
              <a:t>to</a:t>
            </a:r>
            <a:r>
              <a:rPr lang="es-CO" dirty="0"/>
              <a:t> </a:t>
            </a:r>
            <a:r>
              <a:rPr lang="es-CO" dirty="0" err="1"/>
              <a:t>search</a:t>
            </a:r>
            <a:r>
              <a:rPr lang="es-CO" dirty="0"/>
              <a:t>: </a:t>
            </a:r>
            <a:r>
              <a:rPr lang="es-CO" dirty="0" err="1"/>
              <a:t>similarity</a:t>
            </a:r>
            <a:r>
              <a:rPr lang="es-CO" dirty="0"/>
              <a:t>, </a:t>
            </a:r>
            <a:r>
              <a:rPr lang="es-CO" dirty="0" err="1"/>
              <a:t>distance</a:t>
            </a:r>
            <a:endParaRPr lang="es-CO" dirty="0"/>
          </a:p>
          <a:p>
            <a:r>
              <a:rPr lang="es-CO" dirty="0" err="1"/>
              <a:t>Opensource</a:t>
            </a:r>
            <a:r>
              <a:rPr lang="es-CO" dirty="0"/>
              <a:t> </a:t>
            </a:r>
            <a:r>
              <a:rPr lang="es-CO" dirty="0" err="1"/>
              <a:t>or</a:t>
            </a:r>
            <a:r>
              <a:rPr lang="es-CO" dirty="0"/>
              <a:t> </a:t>
            </a:r>
            <a:r>
              <a:rPr lang="es-CO" dirty="0" err="1"/>
              <a:t>private</a:t>
            </a:r>
            <a:endParaRPr lang="es-CO" dirty="0"/>
          </a:p>
          <a:p>
            <a:r>
              <a:rPr lang="es-CO" dirty="0"/>
              <a:t>Price</a:t>
            </a:r>
          </a:p>
          <a:p>
            <a:r>
              <a:rPr lang="es-CO" dirty="0" err="1"/>
              <a:t>Speed</a:t>
            </a:r>
            <a:r>
              <a:rPr lang="es-CO" dirty="0"/>
              <a:t> </a:t>
            </a:r>
            <a:r>
              <a:rPr lang="es-CO" dirty="0" err="1"/>
              <a:t>of</a:t>
            </a:r>
            <a:r>
              <a:rPr lang="es-CO" dirty="0"/>
              <a:t> </a:t>
            </a:r>
            <a:r>
              <a:rPr lang="es-CO" dirty="0" err="1"/>
              <a:t>search</a:t>
            </a:r>
            <a:endParaRPr lang="es-CO" dirty="0"/>
          </a:p>
          <a:p>
            <a:r>
              <a:rPr lang="es-CO" dirty="0" err="1"/>
              <a:t>Similarity</a:t>
            </a:r>
            <a:r>
              <a:rPr lang="es-CO" dirty="0"/>
              <a:t> </a:t>
            </a:r>
            <a:r>
              <a:rPr lang="es-CO" dirty="0" err="1"/>
              <a:t>search</a:t>
            </a:r>
            <a:r>
              <a:rPr lang="es-CO" dirty="0"/>
              <a:t> </a:t>
            </a:r>
            <a:r>
              <a:rPr lang="es-CO" dirty="0" err="1"/>
              <a:t>algorithms</a:t>
            </a:r>
            <a:endParaRPr lang="es-CO" dirty="0"/>
          </a:p>
        </p:txBody>
      </p:sp>
    </p:spTree>
    <p:extLst>
      <p:ext uri="{BB962C8B-B14F-4D97-AF65-F5344CB8AC3E}">
        <p14:creationId xmlns:p14="http://schemas.microsoft.com/office/powerpoint/2010/main" val="936000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2DB42-BEE6-4478-EB4E-CC43C2809805}"/>
              </a:ext>
            </a:extLst>
          </p:cNvPr>
          <p:cNvSpPr>
            <a:spLocks noGrp="1"/>
          </p:cNvSpPr>
          <p:nvPr>
            <p:ph type="title"/>
          </p:nvPr>
        </p:nvSpPr>
        <p:spPr/>
        <p:txBody>
          <a:bodyPr>
            <a:normAutofit/>
          </a:bodyPr>
          <a:lstStyle/>
          <a:p>
            <a:pPr algn="ctr"/>
            <a:r>
              <a:rPr lang="en-US" sz="6000" b="1" dirty="0">
                <a:solidFill>
                  <a:srgbClr val="131314"/>
                </a:solidFill>
                <a:effectLst/>
                <a:latin typeface="Google Sans"/>
              </a:rPr>
              <a:t>LLM</a:t>
            </a:r>
            <a:endParaRPr lang="es-MX" sz="6000" b="1" dirty="0"/>
          </a:p>
        </p:txBody>
      </p:sp>
      <p:sp>
        <p:nvSpPr>
          <p:cNvPr id="3" name="Marcador de contenido 2">
            <a:extLst>
              <a:ext uri="{FF2B5EF4-FFF2-40B4-BE49-F238E27FC236}">
                <a16:creationId xmlns:a16="http://schemas.microsoft.com/office/drawing/2014/main" id="{CE7B6C77-15D3-8FD7-8CF2-570295891934}"/>
              </a:ext>
            </a:extLst>
          </p:cNvPr>
          <p:cNvSpPr>
            <a:spLocks noGrp="1"/>
          </p:cNvSpPr>
          <p:nvPr>
            <p:ph idx="1"/>
          </p:nvPr>
        </p:nvSpPr>
        <p:spPr>
          <a:xfrm>
            <a:off x="600075" y="1978025"/>
            <a:ext cx="11010900" cy="4514850"/>
          </a:xfrm>
        </p:spPr>
        <p:txBody>
          <a:bodyPr>
            <a:normAutofit/>
          </a:bodyPr>
          <a:lstStyle/>
          <a:p>
            <a:pPr marL="0" indent="0" algn="just">
              <a:buNone/>
            </a:pPr>
            <a:r>
              <a:rPr lang="en-US" b="0" i="0" dirty="0">
                <a:solidFill>
                  <a:srgbClr val="131314"/>
                </a:solidFill>
                <a:effectLst/>
                <a:latin typeface="Google Sans Text"/>
              </a:rPr>
              <a:t>An advanced deep neural networks that excel at processing, understanding, and generating human-like text.</a:t>
            </a:r>
          </a:p>
          <a:p>
            <a:pPr marL="0" indent="0" algn="just">
              <a:buNone/>
            </a:pPr>
            <a:endParaRPr lang="en-US" dirty="0">
              <a:solidFill>
                <a:srgbClr val="131314"/>
              </a:solidFill>
              <a:latin typeface="Google Sans Text"/>
            </a:endParaRPr>
          </a:p>
          <a:p>
            <a:pPr marL="0" indent="0" algn="just">
              <a:buNone/>
            </a:pPr>
            <a:r>
              <a:rPr lang="en-US" b="1" i="0" dirty="0">
                <a:solidFill>
                  <a:srgbClr val="131314"/>
                </a:solidFill>
                <a:effectLst/>
                <a:latin typeface="Google Sans Text"/>
              </a:rPr>
              <a:t>The Transformer architecture </a:t>
            </a:r>
            <a:r>
              <a:rPr lang="en-US" b="0" i="0" dirty="0">
                <a:solidFill>
                  <a:srgbClr val="131314"/>
                </a:solidFill>
                <a:effectLst/>
                <a:latin typeface="Google Sans Text"/>
              </a:rPr>
              <a:t>is trained on vast quantities of text to learn the intricate patterns of language, enabling them to perform </a:t>
            </a:r>
            <a:r>
              <a:rPr lang="es-CO" b="0" i="0" dirty="0">
                <a:solidFill>
                  <a:srgbClr val="131314"/>
                </a:solidFill>
                <a:effectLst/>
                <a:latin typeface="Google Sans Text"/>
              </a:rPr>
              <a:t>NLP</a:t>
            </a:r>
            <a:r>
              <a:rPr lang="es-MX" b="0" i="0" dirty="0">
                <a:solidFill>
                  <a:srgbClr val="131314"/>
                </a:solidFill>
                <a:effectLst/>
                <a:latin typeface="Google Sans Text"/>
              </a:rPr>
              <a:t> </a:t>
            </a:r>
            <a:r>
              <a:rPr lang="es-MX" b="0" i="0" dirty="0" err="1">
                <a:solidFill>
                  <a:srgbClr val="131314"/>
                </a:solidFill>
                <a:effectLst/>
                <a:latin typeface="Google Sans Text"/>
              </a:rPr>
              <a:t>tasks</a:t>
            </a:r>
            <a:r>
              <a:rPr lang="es-MX" b="0" i="0" dirty="0">
                <a:solidFill>
                  <a:srgbClr val="131314"/>
                </a:solidFill>
                <a:effectLst/>
                <a:latin typeface="Google Sans Text"/>
              </a:rPr>
              <a:t>.</a:t>
            </a:r>
          </a:p>
          <a:p>
            <a:pPr marL="0" indent="0" algn="just">
              <a:buNone/>
            </a:pPr>
            <a:endParaRPr lang="es-MX" dirty="0">
              <a:solidFill>
                <a:srgbClr val="131314"/>
              </a:solidFill>
              <a:latin typeface="Google Sans Text"/>
            </a:endParaRPr>
          </a:p>
          <a:p>
            <a:pPr marL="0" indent="0" algn="just">
              <a:buNone/>
            </a:pPr>
            <a:r>
              <a:rPr lang="en-US" dirty="0">
                <a:solidFill>
                  <a:srgbClr val="131314"/>
                </a:solidFill>
                <a:latin typeface="Google Sans Text"/>
              </a:rPr>
              <a:t>T</a:t>
            </a:r>
            <a:r>
              <a:rPr lang="en-US" b="0" i="0" dirty="0">
                <a:solidFill>
                  <a:srgbClr val="131314"/>
                </a:solidFill>
                <a:effectLst/>
                <a:latin typeface="Google Sans Text"/>
              </a:rPr>
              <a:t>hey can perform tasks they weren't explicitly trained for and can be "fine-tuned" for specific tasks and guided by "prompt engineering"</a:t>
            </a:r>
            <a:endParaRPr lang="es-MX" dirty="0"/>
          </a:p>
        </p:txBody>
      </p:sp>
    </p:spTree>
    <p:extLst>
      <p:ext uri="{BB962C8B-B14F-4D97-AF65-F5344CB8AC3E}">
        <p14:creationId xmlns:p14="http://schemas.microsoft.com/office/powerpoint/2010/main" val="3692688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816DE-9ED7-24F2-97E3-23F886BC5B4E}"/>
              </a:ext>
            </a:extLst>
          </p:cNvPr>
          <p:cNvSpPr>
            <a:spLocks noGrp="1"/>
          </p:cNvSpPr>
          <p:nvPr>
            <p:ph type="title"/>
          </p:nvPr>
        </p:nvSpPr>
        <p:spPr/>
        <p:txBody>
          <a:bodyPr/>
          <a:lstStyle/>
          <a:p>
            <a:pPr algn="ctr"/>
            <a:r>
              <a:rPr lang="es-CO" dirty="0"/>
              <a:t>A token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B5559FA-98DE-FA04-D26C-844CEAEE2277}"/>
                  </a:ext>
                </a:extLst>
              </p:cNvPr>
              <p:cNvSpPr>
                <a:spLocks noGrp="1"/>
              </p:cNvSpPr>
              <p:nvPr>
                <p:ph idx="1"/>
              </p:nvPr>
            </p:nvSpPr>
            <p:spPr/>
            <p:txBody>
              <a:bodyPr>
                <a:normAutofit/>
              </a:bodyPr>
              <a:lstStyle/>
              <a:p>
                <a:pPr marL="0" indent="0">
                  <a:buNone/>
                </a:pPr>
                <a:r>
                  <a:rPr lang="es-MX" dirty="0" err="1">
                    <a:highlight>
                      <a:srgbClr val="FFFFFF"/>
                    </a:highlight>
                  </a:rPr>
                  <a:t>Given</a:t>
                </a:r>
                <a:r>
                  <a:rPr lang="es-MX" dirty="0">
                    <a:highlight>
                      <a:srgbClr val="FFFFFF"/>
                    </a:highlight>
                  </a:rPr>
                  <a:t> a </a:t>
                </a:r>
                <a:r>
                  <a:rPr lang="es-MX" dirty="0" err="1">
                    <a:highlight>
                      <a:srgbClr val="FFFFFF"/>
                    </a:highlight>
                  </a:rPr>
                  <a:t>text</a:t>
                </a:r>
                <a:r>
                  <a:rPr lang="es-MX" dirty="0">
                    <a:highlight>
                      <a:srgbClr val="FFFFFF"/>
                    </a:highlight>
                  </a:rPr>
                  <a:t> </a:t>
                </a:r>
                <a:r>
                  <a:rPr lang="es-MX" dirty="0" err="1">
                    <a:highlight>
                      <a:srgbClr val="FFFFFF"/>
                    </a:highlight>
                  </a:rPr>
                  <a:t>sequence</a:t>
                </a:r>
                <a:r>
                  <a:rPr lang="es-MX" dirty="0">
                    <a:highlight>
                      <a:srgbClr val="FFFFFF"/>
                    </a:highlight>
                  </a:rPr>
                  <a:t>:</a:t>
                </a:r>
              </a:p>
              <a:p>
                <a:pPr marL="0" indent="0">
                  <a:buNone/>
                </a:pPr>
                <a14:m>
                  <m:oMathPara xmlns:m="http://schemas.openxmlformats.org/officeDocument/2006/math">
                    <m:oMathParaPr>
                      <m:jc m:val="centerGroup"/>
                    </m:oMathParaPr>
                    <m:oMath xmlns:m="http://schemas.openxmlformats.org/officeDocument/2006/math">
                      <m:r>
                        <a:rPr lang="es-MX" i="1">
                          <a:highlight>
                            <a:srgbClr val="FFFFFF"/>
                          </a:highlight>
                          <a:latin typeface="Cambria Math" panose="02040503050406030204" pitchFamily="18" charset="0"/>
                        </a:rPr>
                        <m:t>𝑋</m:t>
                      </m:r>
                      <m:r>
                        <a:rPr lang="es-MX">
                          <a:highlight>
                            <a:srgbClr val="FFFFFF"/>
                          </a:highlight>
                          <a:latin typeface="Cambria Math" panose="02040503050406030204" pitchFamily="18" charset="0"/>
                        </a:rPr>
                        <m:t>=</m:t>
                      </m:r>
                      <m:r>
                        <m:rPr>
                          <m:nor/>
                        </m:rPr>
                        <a:rPr lang="es-MX" i="1">
                          <a:highlight>
                            <a:srgbClr val="FFFFFF"/>
                          </a:highlight>
                        </a:rPr>
                        <m:t>"</m:t>
                      </m:r>
                      <m:r>
                        <m:rPr>
                          <m:nor/>
                        </m:rPr>
                        <a:rPr lang="es-MX" i="1">
                          <a:highlight>
                            <a:srgbClr val="FFFFFF"/>
                          </a:highlight>
                        </a:rPr>
                        <m:t>Large</m:t>
                      </m:r>
                      <m:r>
                        <m:rPr>
                          <m:nor/>
                        </m:rPr>
                        <a:rPr lang="es-MX" i="1">
                          <a:highlight>
                            <a:srgbClr val="FFFFFF"/>
                          </a:highlight>
                        </a:rPr>
                        <m:t> </m:t>
                      </m:r>
                      <m:r>
                        <m:rPr>
                          <m:nor/>
                        </m:rPr>
                        <a:rPr lang="es-MX" i="1">
                          <a:highlight>
                            <a:srgbClr val="FFFFFF"/>
                          </a:highlight>
                        </a:rPr>
                        <m:t>language</m:t>
                      </m:r>
                      <m:r>
                        <m:rPr>
                          <m:nor/>
                        </m:rPr>
                        <a:rPr lang="es-MX" i="1">
                          <a:highlight>
                            <a:srgbClr val="FFFFFF"/>
                          </a:highlight>
                        </a:rPr>
                        <m:t> </m:t>
                      </m:r>
                      <m:r>
                        <m:rPr>
                          <m:nor/>
                        </m:rPr>
                        <a:rPr lang="es-MX" i="1">
                          <a:highlight>
                            <a:srgbClr val="FFFFFF"/>
                          </a:highlight>
                        </a:rPr>
                        <m:t>models</m:t>
                      </m:r>
                      <m:r>
                        <m:rPr>
                          <m:nor/>
                        </m:rPr>
                        <a:rPr lang="es-MX" i="1">
                          <a:highlight>
                            <a:srgbClr val="FFFFFF"/>
                          </a:highlight>
                        </a:rPr>
                        <m:t> </m:t>
                      </m:r>
                      <m:r>
                        <m:rPr>
                          <m:nor/>
                        </m:rPr>
                        <a:rPr lang="es-MX" i="1">
                          <a:highlight>
                            <a:srgbClr val="FFFFFF"/>
                          </a:highlight>
                        </a:rPr>
                        <m:t>are</m:t>
                      </m:r>
                      <m:r>
                        <m:rPr>
                          <m:nor/>
                        </m:rPr>
                        <a:rPr lang="es-MX" i="1">
                          <a:highlight>
                            <a:srgbClr val="FFFFFF"/>
                          </a:highlight>
                        </a:rPr>
                        <m:t> </m:t>
                      </m:r>
                      <m:r>
                        <m:rPr>
                          <m:nor/>
                        </m:rPr>
                        <a:rPr lang="es-MX" i="1">
                          <a:highlight>
                            <a:srgbClr val="FFFFFF"/>
                          </a:highlight>
                        </a:rPr>
                        <m:t>powerful</m:t>
                      </m:r>
                      <m:r>
                        <m:rPr>
                          <m:nor/>
                        </m:rPr>
                        <a:rPr lang="es-MX" i="1">
                          <a:highlight>
                            <a:srgbClr val="FFFFFF"/>
                          </a:highlight>
                        </a:rPr>
                        <m:t>"</m:t>
                      </m:r>
                    </m:oMath>
                  </m:oMathPara>
                </a14:m>
                <a:endParaRPr lang="es-MX" b="0" dirty="0">
                  <a:highlight>
                    <a:srgbClr val="FFFFFF"/>
                  </a:highlight>
                </a:endParaRPr>
              </a:p>
              <a:p>
                <a:pPr marL="0" indent="0">
                  <a:buNone/>
                </a:pPr>
                <a:r>
                  <a:rPr lang="es-MX" dirty="0" err="1">
                    <a:highlight>
                      <a:srgbClr val="FFFFFF"/>
                    </a:highlight>
                  </a:rPr>
                  <a:t>Tokenization</a:t>
                </a:r>
                <a:r>
                  <a:rPr lang="es-MX" dirty="0">
                    <a:highlight>
                      <a:srgbClr val="FFFFFF"/>
                    </a:highlight>
                  </a:rPr>
                  <a:t> </a:t>
                </a:r>
                <a:r>
                  <a:rPr lang="es-MX" dirty="0" err="1">
                    <a:highlight>
                      <a:srgbClr val="FFFFFF"/>
                    </a:highlight>
                  </a:rPr>
                  <a:t>is</a:t>
                </a:r>
                <a:r>
                  <a:rPr lang="es-MX" dirty="0">
                    <a:highlight>
                      <a:srgbClr val="FFFFFF"/>
                    </a:highlight>
                  </a:rPr>
                  <a:t> a </a:t>
                </a:r>
                <a:r>
                  <a:rPr lang="es-MX" dirty="0" err="1">
                    <a:highlight>
                      <a:srgbClr val="FFFFFF"/>
                    </a:highlight>
                  </a:rPr>
                  <a:t>function</a:t>
                </a:r>
                <a:r>
                  <a:rPr lang="es-MX" dirty="0">
                    <a:highlight>
                      <a:srgbClr val="FFFFFF"/>
                    </a:highlight>
                  </a:rPr>
                  <a:t>:</a:t>
                </a:r>
              </a:p>
              <a:p>
                <a:pPr marL="0" indent="0">
                  <a:buNone/>
                </a:pPr>
                <a14:m>
                  <m:oMathPara xmlns:m="http://schemas.openxmlformats.org/officeDocument/2006/math">
                    <m:oMathParaPr>
                      <m:jc m:val="centerGroup"/>
                    </m:oMathParaPr>
                    <m:oMath xmlns:m="http://schemas.openxmlformats.org/officeDocument/2006/math">
                      <m:r>
                        <a:rPr lang="es-MX" i="1">
                          <a:highlight>
                            <a:srgbClr val="FFFFFF"/>
                          </a:highlight>
                          <a:latin typeface="Cambria Math" panose="02040503050406030204" pitchFamily="18" charset="0"/>
                        </a:rPr>
                        <m:t>𝑇</m:t>
                      </m:r>
                      <m:r>
                        <a:rPr lang="es-MX">
                          <a:highlight>
                            <a:srgbClr val="FFFFFF"/>
                          </a:highlight>
                          <a:latin typeface="Cambria Math" panose="02040503050406030204" pitchFamily="18" charset="0"/>
                        </a:rPr>
                        <m:t>:</m:t>
                      </m:r>
                      <m:r>
                        <m:rPr>
                          <m:nor/>
                        </m:rPr>
                        <a:rPr lang="es-MX" i="1">
                          <a:highlight>
                            <a:srgbClr val="FFFFFF"/>
                          </a:highlight>
                        </a:rPr>
                        <m:t>text</m:t>
                      </m:r>
                      <m:r>
                        <a:rPr lang="es-MX">
                          <a:highlight>
                            <a:srgbClr val="FFFFFF"/>
                          </a:highlight>
                          <a:latin typeface="Cambria Math" panose="02040503050406030204" pitchFamily="18" charset="0"/>
                        </a:rPr>
                        <m:t>→</m:t>
                      </m:r>
                      <m:d>
                        <m:dPr>
                          <m:sepChr m:val=","/>
                          <m:ctrlPr>
                            <a:rPr lang="ar-AE" i="1">
                              <a:highlight>
                                <a:srgbClr val="FFFFFF"/>
                              </a:highlight>
                              <a:latin typeface="Cambria Math" panose="02040503050406030204" pitchFamily="18" charset="0"/>
                            </a:rPr>
                          </m:ctrlPr>
                        </m:dPr>
                        <m:e>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a:highlight>
                                    <a:srgbClr val="FFFFFF"/>
                                  </a:highlight>
                                  <a:latin typeface="Cambria Math" panose="02040503050406030204" pitchFamily="18" charset="0"/>
                                </a:rPr>
                                <m:t>1</m:t>
                              </m:r>
                            </m:sub>
                          </m:sSub>
                        </m:e>
                        <m:e>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a:highlight>
                                    <a:srgbClr val="FFFFFF"/>
                                  </a:highlight>
                                  <a:latin typeface="Cambria Math" panose="02040503050406030204" pitchFamily="18" charset="0"/>
                                </a:rPr>
                                <m:t>2</m:t>
                              </m:r>
                            </m:sub>
                          </m:sSub>
                        </m:e>
                        <m:e>
                          <m:r>
                            <a:rPr lang="ar-AE">
                              <a:highlight>
                                <a:srgbClr val="FFFFFF"/>
                              </a:highlight>
                              <a:latin typeface="Cambria Math" panose="02040503050406030204" pitchFamily="18" charset="0"/>
                            </a:rPr>
                            <m:t>.</m:t>
                          </m:r>
                        </m:e>
                        <m:e>
                          <m:r>
                            <a:rPr lang="ar-AE">
                              <a:highlight>
                                <a:srgbClr val="FFFFFF"/>
                              </a:highlight>
                              <a:latin typeface="Cambria Math" panose="02040503050406030204" pitchFamily="18" charset="0"/>
                            </a:rPr>
                            <m:t>..</m:t>
                          </m:r>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i="1">
                                  <a:highlight>
                                    <a:srgbClr val="FFFFFF"/>
                                  </a:highlight>
                                  <a:latin typeface="Cambria Math" panose="02040503050406030204" pitchFamily="18" charset="0"/>
                                </a:rPr>
                                <m:t>𝑛</m:t>
                              </m:r>
                            </m:sub>
                          </m:sSub>
                        </m:e>
                      </m:d>
                    </m:oMath>
                  </m:oMathPara>
                </a14:m>
                <a:endParaRPr lang="ar-AE" b="0" dirty="0">
                  <a:highlight>
                    <a:srgbClr val="FFFFFF"/>
                  </a:highlight>
                </a:endParaRPr>
              </a:p>
              <a:p>
                <a:pPr marL="0" indent="0">
                  <a:buNone/>
                </a:pPr>
                <a:r>
                  <a:rPr lang="es-MX" dirty="0" err="1">
                    <a:highlight>
                      <a:srgbClr val="FFFFFF"/>
                    </a:highlight>
                  </a:rPr>
                  <a:t>Where</a:t>
                </a:r>
                <a:r>
                  <a:rPr lang="es-MX" dirty="0">
                    <a:highlight>
                      <a:srgbClr val="FFFFFF"/>
                    </a:highlight>
                  </a:rPr>
                  <a:t> </a:t>
                </a:r>
                <a:r>
                  <a:rPr lang="es-MX" dirty="0" err="1">
                    <a:highlight>
                      <a:srgbClr val="FFFFFF"/>
                    </a:highlight>
                  </a:rPr>
                  <a:t>each</a:t>
                </a:r>
                <a:r>
                  <a:rPr lang="es-MX" dirty="0">
                    <a:highlight>
                      <a:srgbClr val="FFFFFF"/>
                    </a:highlight>
                  </a:rPr>
                  <a:t> </a:t>
                </a:r>
                <a14:m>
                  <m:oMath xmlns:m="http://schemas.openxmlformats.org/officeDocument/2006/math">
                    <m:sSub>
                      <m:sSubPr>
                        <m:ctrlPr>
                          <a:rPr lang="ar-AE" i="1">
                            <a:highlight>
                              <a:srgbClr val="FFFFFF"/>
                            </a:highlight>
                            <a:latin typeface="Cambria Math" panose="02040503050406030204" pitchFamily="18" charset="0"/>
                          </a:rPr>
                        </m:ctrlPr>
                      </m:sSubPr>
                      <m:e>
                        <m:r>
                          <a:rPr lang="ar-AE" i="1">
                            <a:highlight>
                              <a:srgbClr val="FFFFFF"/>
                            </a:highlight>
                            <a:latin typeface="Cambria Math" panose="02040503050406030204" pitchFamily="18" charset="0"/>
                          </a:rPr>
                          <m:t>𝑡</m:t>
                        </m:r>
                      </m:e>
                      <m:sub>
                        <m:r>
                          <a:rPr lang="ar-AE" i="1">
                            <a:highlight>
                              <a:srgbClr val="FFFFFF"/>
                            </a:highlight>
                            <a:latin typeface="Cambria Math" panose="02040503050406030204" pitchFamily="18" charset="0"/>
                          </a:rPr>
                          <m:t>𝑖</m:t>
                        </m:r>
                      </m:sub>
                    </m:sSub>
                  </m:oMath>
                </a14:m>
                <a:r>
                  <a:rPr lang="es-MX" dirty="0" err="1">
                    <a:highlight>
                      <a:srgbClr val="FFFFFF"/>
                    </a:highlight>
                  </a:rPr>
                  <a:t>is</a:t>
                </a:r>
                <a:r>
                  <a:rPr lang="es-MX" dirty="0">
                    <a:highlight>
                      <a:srgbClr val="FFFFFF"/>
                    </a:highlight>
                  </a:rPr>
                  <a:t> a token.</a:t>
                </a:r>
              </a:p>
              <a:p>
                <a:pPr marL="0" indent="0">
                  <a:buNone/>
                </a:pPr>
                <a:endParaRPr lang="en-US" b="0" i="0" dirty="0">
                  <a:solidFill>
                    <a:srgbClr val="242424"/>
                  </a:solidFill>
                  <a:effectLst/>
                  <a:highlight>
                    <a:srgbClr val="FFFFFF"/>
                  </a:highlight>
                  <a:latin typeface="source-serif-pro"/>
                </a:endParaRPr>
              </a:p>
              <a:p>
                <a:pPr marL="0" indent="0">
                  <a:buNone/>
                </a:pPr>
                <a:r>
                  <a:rPr lang="en-US" b="0" i="0" dirty="0">
                    <a:solidFill>
                      <a:srgbClr val="242424"/>
                    </a:solidFill>
                    <a:effectLst/>
                    <a:highlight>
                      <a:srgbClr val="FFFFFF"/>
                    </a:highlight>
                    <a:latin typeface="source-serif-pro"/>
                  </a:rPr>
                  <a:t>According to OpenAI one token generally corresponds to ~4 characters of text for common English text. This translates to roughly ¾ of a word (so 100 tokens ~= 75 words).</a:t>
                </a:r>
                <a:endParaRPr lang="es-CO" dirty="0"/>
              </a:p>
            </p:txBody>
          </p:sp>
        </mc:Choice>
        <mc:Fallback xmlns="">
          <p:sp>
            <p:nvSpPr>
              <p:cNvPr id="3" name="Marcador de contenido 2">
                <a:extLst>
                  <a:ext uri="{FF2B5EF4-FFF2-40B4-BE49-F238E27FC236}">
                    <a16:creationId xmlns:a16="http://schemas.microsoft.com/office/drawing/2014/main" id="{4B5559FA-98DE-FA04-D26C-844CEAEE2277}"/>
                  </a:ext>
                </a:extLst>
              </p:cNvPr>
              <p:cNvSpPr>
                <a:spLocks noGrp="1" noRot="1" noChangeAspect="1" noMove="1" noResize="1" noEditPoints="1" noAdjustHandles="1" noChangeArrowheads="1" noChangeShapeType="1" noTextEdit="1"/>
              </p:cNvSpPr>
              <p:nvPr>
                <p:ph idx="1"/>
              </p:nvPr>
            </p:nvSpPr>
            <p:spPr>
              <a:blipFill>
                <a:blip r:embed="rId2"/>
                <a:stretch>
                  <a:fillRect l="-1217" t="-2381" r="-348"/>
                </a:stretch>
              </a:blipFill>
            </p:spPr>
            <p:txBody>
              <a:bodyPr/>
              <a:lstStyle/>
              <a:p>
                <a:r>
                  <a:rPr lang="es-MX">
                    <a:noFill/>
                  </a:rPr>
                  <a:t> </a:t>
                </a:r>
              </a:p>
            </p:txBody>
          </p:sp>
        </mc:Fallback>
      </mc:AlternateContent>
    </p:spTree>
    <p:extLst>
      <p:ext uri="{BB962C8B-B14F-4D97-AF65-F5344CB8AC3E}">
        <p14:creationId xmlns:p14="http://schemas.microsoft.com/office/powerpoint/2010/main" val="3831599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59E9C52-00C0-6FE4-C814-23D8B4F906A1}"/>
              </a:ext>
            </a:extLst>
          </p:cNvPr>
          <p:cNvSpPr>
            <a:spLocks noGrp="1"/>
          </p:cNvSpPr>
          <p:nvPr>
            <p:ph idx="1"/>
          </p:nvPr>
        </p:nvSpPr>
        <p:spPr>
          <a:xfrm>
            <a:off x="685800" y="1739900"/>
            <a:ext cx="10515600" cy="4351338"/>
          </a:xfrm>
        </p:spPr>
        <p:txBody>
          <a:bodyPr>
            <a:normAutofit fontScale="77500" lnSpcReduction="20000"/>
          </a:bodyPr>
          <a:lstStyle/>
          <a:p>
            <a:pPr marL="0" indent="0">
              <a:buNone/>
            </a:pPr>
            <a:r>
              <a:rPr lang="en-US" dirty="0"/>
              <a:t>Depending on the tokenizer, tokens can be:</a:t>
            </a:r>
          </a:p>
          <a:p>
            <a:pPr marL="0" indent="0">
              <a:buNone/>
            </a:pPr>
            <a:endParaRPr lang="en-US" dirty="0"/>
          </a:p>
          <a:p>
            <a:r>
              <a:rPr lang="en-US" dirty="0"/>
              <a:t>Words</a:t>
            </a:r>
          </a:p>
          <a:p>
            <a:r>
              <a:rPr lang="en-US" dirty="0" err="1"/>
              <a:t>Subwords</a:t>
            </a:r>
            <a:endParaRPr lang="en-US" dirty="0"/>
          </a:p>
          <a:p>
            <a:r>
              <a:rPr lang="en-US" dirty="0"/>
              <a:t>Characters</a:t>
            </a:r>
          </a:p>
          <a:p>
            <a:r>
              <a:rPr lang="en-US" dirty="0"/>
              <a:t>Byte-level units</a:t>
            </a:r>
          </a:p>
          <a:p>
            <a:pPr marL="0" indent="0">
              <a:buNone/>
            </a:pPr>
            <a:endParaRPr lang="en-US" dirty="0"/>
          </a:p>
          <a:p>
            <a:pPr marL="0" indent="0">
              <a:buNone/>
            </a:pPr>
            <a:r>
              <a:rPr lang="en-US" dirty="0"/>
              <a:t>For Example: "unbelievable“:</a:t>
            </a:r>
          </a:p>
          <a:p>
            <a:pPr marL="0" indent="0">
              <a:buNone/>
            </a:pPr>
            <a:endParaRPr lang="en-US" dirty="0"/>
          </a:p>
          <a:p>
            <a:pPr marL="0" indent="0">
              <a:buNone/>
            </a:pPr>
            <a:r>
              <a:rPr lang="es-MX" dirty="0"/>
              <a:t>- Word-</a:t>
            </a:r>
            <a:r>
              <a:rPr lang="es-MX" dirty="0" err="1"/>
              <a:t>level</a:t>
            </a:r>
            <a:r>
              <a:rPr lang="es-MX" dirty="0"/>
              <a:t>:</a:t>
            </a:r>
            <a:r>
              <a:rPr lang="en-US" dirty="0"/>
              <a:t>["unbelievable“]</a:t>
            </a:r>
          </a:p>
          <a:p>
            <a:pPr>
              <a:buFontTx/>
              <a:buChar char="-"/>
            </a:pPr>
            <a:r>
              <a:rPr lang="es-MX" dirty="0" err="1"/>
              <a:t>Subword</a:t>
            </a:r>
            <a:r>
              <a:rPr lang="es-MX" dirty="0"/>
              <a:t> </a:t>
            </a:r>
            <a:r>
              <a:rPr lang="es-MX" dirty="0" err="1"/>
              <a:t>tokenization</a:t>
            </a:r>
            <a:r>
              <a:rPr lang="es-MX" dirty="0"/>
              <a:t> (BPE-</a:t>
            </a:r>
            <a:r>
              <a:rPr lang="es-MX" dirty="0" err="1"/>
              <a:t>like</a:t>
            </a:r>
            <a:r>
              <a:rPr lang="es-MX" dirty="0"/>
              <a:t>):</a:t>
            </a:r>
            <a:r>
              <a:rPr lang="en-US" dirty="0"/>
              <a:t>["un", "</a:t>
            </a:r>
            <a:r>
              <a:rPr lang="en-US" dirty="0" err="1"/>
              <a:t>believ</a:t>
            </a:r>
            <a:r>
              <a:rPr lang="en-US" dirty="0"/>
              <a:t>", "able"]</a:t>
            </a:r>
          </a:p>
          <a:p>
            <a:pPr>
              <a:buFontTx/>
              <a:buChar char="-"/>
            </a:pPr>
            <a:r>
              <a:rPr lang="es-MX" dirty="0" err="1"/>
              <a:t>Character-level</a:t>
            </a:r>
            <a:r>
              <a:rPr lang="es-MX" dirty="0"/>
              <a:t>: </a:t>
            </a:r>
            <a:r>
              <a:rPr lang="pt-BR" dirty="0"/>
              <a:t>["</a:t>
            </a:r>
            <a:r>
              <a:rPr lang="pt-BR" dirty="0" err="1"/>
              <a:t>u","n","b","e","l","i","e","v","a","b","l","e</a:t>
            </a:r>
            <a:r>
              <a:rPr lang="pt-BR" dirty="0"/>
              <a:t>"]</a:t>
            </a:r>
            <a:r>
              <a:rPr lang="en-US" dirty="0"/>
              <a:t> </a:t>
            </a:r>
          </a:p>
          <a:p>
            <a:pPr marL="0" indent="0">
              <a:buNone/>
            </a:pPr>
            <a:endParaRPr lang="en-US" dirty="0"/>
          </a:p>
          <a:p>
            <a:pPr marL="0" indent="0">
              <a:buNone/>
            </a:pPr>
            <a:endParaRPr lang="es-MX" dirty="0"/>
          </a:p>
        </p:txBody>
      </p:sp>
      <p:sp>
        <p:nvSpPr>
          <p:cNvPr id="5" name="CuadroTexto 4">
            <a:extLst>
              <a:ext uri="{FF2B5EF4-FFF2-40B4-BE49-F238E27FC236}">
                <a16:creationId xmlns:a16="http://schemas.microsoft.com/office/drawing/2014/main" id="{57B76075-7E75-89DA-1346-F15D0CF89D4E}"/>
              </a:ext>
            </a:extLst>
          </p:cNvPr>
          <p:cNvSpPr txBox="1"/>
          <p:nvPr/>
        </p:nvSpPr>
        <p:spPr>
          <a:xfrm>
            <a:off x="685800" y="634484"/>
            <a:ext cx="9039225" cy="769441"/>
          </a:xfrm>
          <a:prstGeom prst="rect">
            <a:avLst/>
          </a:prstGeom>
          <a:noFill/>
        </p:spPr>
        <p:txBody>
          <a:bodyPr wrap="square">
            <a:spAutoFit/>
          </a:bodyPr>
          <a:lstStyle/>
          <a:p>
            <a:pPr marL="0" indent="0">
              <a:buNone/>
            </a:pPr>
            <a:r>
              <a:rPr lang="en-US" sz="4400" b="1" dirty="0"/>
              <a:t>Tokens ≠ Words</a:t>
            </a:r>
          </a:p>
        </p:txBody>
      </p:sp>
    </p:spTree>
    <p:extLst>
      <p:ext uri="{BB962C8B-B14F-4D97-AF65-F5344CB8AC3E}">
        <p14:creationId xmlns:p14="http://schemas.microsoft.com/office/powerpoint/2010/main" val="3294237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DF5069-1FFE-9BFE-D59B-971A98723FE8}"/>
              </a:ext>
            </a:extLst>
          </p:cNvPr>
          <p:cNvSpPr>
            <a:spLocks noGrp="1"/>
          </p:cNvSpPr>
          <p:nvPr>
            <p:ph type="title"/>
          </p:nvPr>
        </p:nvSpPr>
        <p:spPr/>
        <p:txBody>
          <a:bodyPr/>
          <a:lstStyle/>
          <a:p>
            <a:r>
              <a:rPr lang="en-US" dirty="0"/>
              <a:t>Why Tokenization Matters in LLMs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B5B445-2D9B-A9BD-0279-CF36F86E6958}"/>
                  </a:ext>
                </a:extLst>
              </p:cNvPr>
              <p:cNvSpPr>
                <a:spLocks noGrp="1"/>
              </p:cNvSpPr>
              <p:nvPr>
                <p:ph idx="1"/>
              </p:nvPr>
            </p:nvSpPr>
            <p:spPr>
              <a:xfrm>
                <a:off x="838200" y="1825625"/>
                <a:ext cx="11163300" cy="4351338"/>
              </a:xfrm>
            </p:spPr>
            <p:txBody>
              <a:bodyPr>
                <a:normAutofit fontScale="92500" lnSpcReduction="10000"/>
              </a:bodyPr>
              <a:lstStyle/>
              <a:p>
                <a:pPr marL="0" indent="0">
                  <a:buNone/>
                </a:pPr>
                <a:r>
                  <a:rPr lang="es-MX" dirty="0" err="1"/>
                  <a:t>LLMs</a:t>
                </a:r>
                <a:r>
                  <a:rPr lang="es-MX" dirty="0"/>
                  <a:t> do </a:t>
                </a:r>
                <a:r>
                  <a:rPr lang="es-MX" dirty="0" err="1"/>
                  <a:t>not</a:t>
                </a:r>
                <a:r>
                  <a:rPr lang="es-MX" dirty="0"/>
                  <a:t> </a:t>
                </a:r>
                <a:r>
                  <a:rPr lang="es-MX" dirty="0" err="1"/>
                  <a:t>see</a:t>
                </a:r>
                <a:r>
                  <a:rPr lang="es-MX" dirty="0"/>
                  <a:t> </a:t>
                </a:r>
                <a:r>
                  <a:rPr lang="es-MX" dirty="0" err="1"/>
                  <a:t>text</a:t>
                </a:r>
                <a:r>
                  <a:rPr lang="es-MX" dirty="0"/>
                  <a:t> — </a:t>
                </a:r>
                <a:r>
                  <a:rPr lang="es-MX" dirty="0" err="1"/>
                  <a:t>they</a:t>
                </a:r>
                <a:r>
                  <a:rPr lang="es-MX" dirty="0"/>
                  <a:t> </a:t>
                </a:r>
                <a:r>
                  <a:rPr lang="es-MX" dirty="0" err="1"/>
                  <a:t>see</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𝑛</m:t>
                              </m:r>
                            </m:sub>
                          </m:sSub>
                        </m:e>
                      </m:d>
                      <m:r>
                        <a:rPr lang="ar-AE">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𝑖</m:t>
                          </m:r>
                        </m:e>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a:latin typeface="Cambria Math" panose="02040503050406030204" pitchFamily="18" charset="0"/>
                                </a:rPr>
                                <m:t>1</m:t>
                              </m:r>
                            </m:sub>
                          </m:sSub>
                        </m:e>
                        <m:e>
                          <m:r>
                            <a:rPr lang="ar-AE" i="1">
                              <a:latin typeface="Cambria Math" panose="02040503050406030204" pitchFamily="18" charset="0"/>
                            </a:rPr>
                            <m:t>𝑖</m:t>
                          </m:r>
                        </m:e>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𝑖</m:t>
                          </m:r>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𝑛</m:t>
                              </m:r>
                            </m:sub>
                          </m:sSub>
                        </m:e>
                      </m:d>
                    </m:oMath>
                  </m:oMathPara>
                </a14:m>
                <a:endParaRPr lang="ar-AE" dirty="0"/>
              </a:p>
              <a:p>
                <a:pPr marL="0" indent="0">
                  <a:buNone/>
                </a:pPr>
                <a:r>
                  <a:rPr lang="es-MX" dirty="0" err="1"/>
                  <a:t>Each</a:t>
                </a:r>
                <a:r>
                  <a:rPr lang="es-MX" dirty="0"/>
                  <a:t> token </a:t>
                </a:r>
                <a:r>
                  <a:rPr lang="es-MX" dirty="0" err="1"/>
                  <a:t>maps</a:t>
                </a:r>
                <a:r>
                  <a:rPr lang="es-MX" dirty="0"/>
                  <a:t> </a:t>
                </a:r>
                <a:r>
                  <a:rPr lang="es-MX" dirty="0" err="1"/>
                  <a:t>to</a:t>
                </a:r>
                <a:r>
                  <a:rPr lang="es-MX" dirty="0"/>
                  <a:t> a </a:t>
                </a:r>
                <a:r>
                  <a:rPr lang="es-MX" dirty="0" err="1"/>
                  <a:t>vocabulary</a:t>
                </a:r>
                <a:r>
                  <a:rPr lang="es-MX" dirty="0"/>
                  <a:t> </a:t>
                </a:r>
                <a:r>
                  <a:rPr lang="es-MX" dirty="0" err="1"/>
                  <a:t>index</a:t>
                </a:r>
                <a:r>
                  <a:rPr lang="es-MX" dirty="0"/>
                  <a:t>.</a:t>
                </a:r>
              </a:p>
              <a:p>
                <a:pPr marL="0" indent="0">
                  <a:buNone/>
                </a:pPr>
                <a:endParaRPr lang="es-MX" dirty="0"/>
              </a:p>
              <a:p>
                <a:pPr marL="0" indent="0">
                  <a:buNone/>
                </a:pPr>
                <a:r>
                  <a:rPr lang="es-MX" dirty="0" err="1"/>
                  <a:t>Example</a:t>
                </a:r>
                <a:r>
                  <a:rPr lang="es-MX" dirty="0"/>
                  <a:t> (GPT-2 </a:t>
                </a:r>
                <a:r>
                  <a:rPr lang="es-MX" dirty="0" err="1"/>
                  <a:t>style</a:t>
                </a:r>
                <a:r>
                  <a:rPr lang="es-MX" dirty="0"/>
                  <a:t>): </a:t>
                </a:r>
                <a:r>
                  <a:rPr lang="en-US" dirty="0"/>
                  <a:t>"ChatGPT is powerful"→ [15496, 318, 3561]</a:t>
                </a:r>
                <a:endParaRPr lang="es-MX" dirty="0"/>
              </a:p>
              <a:p>
                <a:pPr marL="0" indent="0">
                  <a:buNone/>
                </a:pPr>
                <a:endParaRPr lang="es-MX" dirty="0"/>
              </a:p>
              <a:p>
                <a:pPr marL="0" indent="0">
                  <a:buNone/>
                </a:pPr>
                <a:r>
                  <a:rPr lang="es-MX" dirty="0" err="1"/>
                  <a:t>The</a:t>
                </a:r>
                <a:r>
                  <a:rPr lang="es-MX" dirty="0"/>
                  <a:t> </a:t>
                </a:r>
                <a:r>
                  <a:rPr lang="es-MX" dirty="0" err="1"/>
                  <a:t>model</a:t>
                </a:r>
                <a:r>
                  <a:rPr lang="es-MX" dirty="0"/>
                  <a:t> </a:t>
                </a:r>
                <a:r>
                  <a:rPr lang="es-MX" dirty="0" err="1"/>
                  <a:t>predicts</a:t>
                </a:r>
                <a:r>
                  <a:rPr lang="es-MX" dirty="0"/>
                  <a:t>:</a:t>
                </a:r>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&lt;</m:t>
                              </m:r>
                              <m:r>
                                <a:rPr lang="ar-AE" i="1">
                                  <a:latin typeface="Cambria Math" panose="02040503050406030204" pitchFamily="18" charset="0"/>
                                </a:rPr>
                                <m:t>𝑡</m:t>
                              </m:r>
                            </m:sub>
                          </m:sSub>
                        </m:e>
                      </m:d>
                    </m:oMath>
                  </m:oMathPara>
                </a14:m>
                <a:endParaRPr lang="es-CO" dirty="0"/>
              </a:p>
              <a:p>
                <a:pPr marL="0" indent="0">
                  <a:buNone/>
                </a:pPr>
                <a:endParaRPr lang="ar-AE" dirty="0"/>
              </a:p>
              <a:p>
                <a:pPr marL="0" indent="0">
                  <a:buNone/>
                </a:pPr>
                <a:r>
                  <a:rPr lang="es-MX" dirty="0" err="1"/>
                  <a:t>Therefore</a:t>
                </a:r>
                <a:r>
                  <a:rPr lang="es-MX" dirty="0"/>
                  <a:t>, </a:t>
                </a:r>
                <a:r>
                  <a:rPr lang="en-US" dirty="0"/>
                  <a:t>Changing tokenizer changes evaluation results.</a:t>
                </a:r>
                <a:endParaRPr lang="es-MX" dirty="0"/>
              </a:p>
            </p:txBody>
          </p:sp>
        </mc:Choice>
        <mc:Fallback xmlns="">
          <p:sp>
            <p:nvSpPr>
              <p:cNvPr id="3" name="Marcador de contenido 2">
                <a:extLst>
                  <a:ext uri="{FF2B5EF4-FFF2-40B4-BE49-F238E27FC236}">
                    <a16:creationId xmlns:a16="http://schemas.microsoft.com/office/drawing/2014/main" id="{51B5B445-2D9B-A9BD-0279-CF36F86E6958}"/>
                  </a:ext>
                </a:extLst>
              </p:cNvPr>
              <p:cNvSpPr>
                <a:spLocks noGrp="1" noRot="1" noChangeAspect="1" noMove="1" noResize="1" noEditPoints="1" noAdjustHandles="1" noChangeArrowheads="1" noChangeShapeType="1" noTextEdit="1"/>
              </p:cNvSpPr>
              <p:nvPr>
                <p:ph idx="1"/>
              </p:nvPr>
            </p:nvSpPr>
            <p:spPr>
              <a:xfrm>
                <a:off x="838200" y="1825625"/>
                <a:ext cx="11163300" cy="4351338"/>
              </a:xfrm>
              <a:blipFill>
                <a:blip r:embed="rId2"/>
                <a:stretch>
                  <a:fillRect l="-983" t="-2801" b="-1120"/>
                </a:stretch>
              </a:blipFill>
            </p:spPr>
            <p:txBody>
              <a:bodyPr/>
              <a:lstStyle/>
              <a:p>
                <a:r>
                  <a:rPr lang="es-MX">
                    <a:noFill/>
                  </a:rPr>
                  <a:t> </a:t>
                </a:r>
              </a:p>
            </p:txBody>
          </p:sp>
        </mc:Fallback>
      </mc:AlternateContent>
    </p:spTree>
    <p:extLst>
      <p:ext uri="{BB962C8B-B14F-4D97-AF65-F5344CB8AC3E}">
        <p14:creationId xmlns:p14="http://schemas.microsoft.com/office/powerpoint/2010/main" val="85745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7810B-DFA6-CF17-5F43-8D7F44701C09}"/>
              </a:ext>
            </a:extLst>
          </p:cNvPr>
          <p:cNvSpPr>
            <a:spLocks noGrp="1"/>
          </p:cNvSpPr>
          <p:nvPr>
            <p:ph type="title"/>
          </p:nvPr>
        </p:nvSpPr>
        <p:spPr>
          <a:xfrm>
            <a:off x="838200" y="103981"/>
            <a:ext cx="10515600" cy="1325563"/>
          </a:xfrm>
        </p:spPr>
        <p:txBody>
          <a:bodyPr/>
          <a:lstStyle/>
          <a:p>
            <a:r>
              <a:rPr lang="es-MX" dirty="0" err="1"/>
              <a:t>What</a:t>
            </a:r>
            <a:r>
              <a:rPr lang="es-MX" dirty="0"/>
              <a:t> </a:t>
            </a:r>
            <a:r>
              <a:rPr lang="es-MX" dirty="0" err="1"/>
              <a:t>Is</a:t>
            </a:r>
            <a:r>
              <a:rPr lang="es-MX" dirty="0"/>
              <a:t> </a:t>
            </a:r>
            <a:r>
              <a:rPr lang="es-MX" dirty="0" err="1"/>
              <a:t>an</a:t>
            </a:r>
            <a:r>
              <a:rPr lang="es-MX" dirty="0"/>
              <a:t> n-Gram?</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06A5756-7E03-EDDA-F3E4-87425976A9C5}"/>
                  </a:ext>
                </a:extLst>
              </p:cNvPr>
              <p:cNvSpPr>
                <a:spLocks noGrp="1"/>
              </p:cNvSpPr>
              <p:nvPr>
                <p:ph idx="1"/>
              </p:nvPr>
            </p:nvSpPr>
            <p:spPr>
              <a:xfrm>
                <a:off x="438150" y="1171574"/>
                <a:ext cx="11563349" cy="5448295"/>
              </a:xfrm>
            </p:spPr>
            <p:txBody>
              <a:bodyPr>
                <a:normAutofit fontScale="85000" lnSpcReduction="20000"/>
              </a:bodyPr>
              <a:lstStyle/>
              <a:p>
                <a:pPr marL="0" indent="0">
                  <a:buNone/>
                </a:pPr>
                <a:r>
                  <a:rPr lang="en-US" dirty="0"/>
                  <a:t>It’s a contiguous sequence of n tokens.</a:t>
                </a:r>
              </a:p>
              <a:p>
                <a:pPr marL="0" indent="0">
                  <a:buNone/>
                </a:pPr>
                <a:endParaRPr lang="es-MX" dirty="0"/>
              </a:p>
              <a:p>
                <a:pPr marL="0" indent="0">
                  <a:buNone/>
                </a:pPr>
                <a:r>
                  <a:rPr lang="es-MX" dirty="0" err="1"/>
                  <a:t>Given</a:t>
                </a:r>
                <a:r>
                  <a:rPr lang="es-MX" dirty="0"/>
                  <a:t> token </a:t>
                </a:r>
                <a:r>
                  <a:rPr lang="es-MX" dirty="0" err="1"/>
                  <a:t>sequence</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3</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4</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5</m:t>
                              </m:r>
                            </m:sub>
                          </m:sSub>
                        </m:e>
                      </m:d>
                    </m:oMath>
                  </m:oMathPara>
                </a14:m>
                <a:endParaRPr lang="ar-AE" dirty="0"/>
              </a:p>
              <a:p>
                <a:pPr marL="0" indent="0">
                  <a:buNone/>
                </a:pPr>
                <a:r>
                  <a:rPr lang="es-MX" dirty="0" err="1"/>
                  <a:t>An</a:t>
                </a:r>
                <a:r>
                  <a:rPr lang="es-MX" dirty="0"/>
                  <a:t> n-</a:t>
                </a:r>
                <a:r>
                  <a:rPr lang="es-MX" dirty="0" err="1"/>
                  <a:t>gram</a:t>
                </a:r>
                <a:r>
                  <a:rPr lang="es-MX" dirty="0"/>
                  <a:t> </a:t>
                </a:r>
                <a:r>
                  <a:rPr lang="es-MX" dirty="0" err="1"/>
                  <a:t>is</a:t>
                </a:r>
                <a:r>
                  <a:rPr lang="es-MX" dirty="0"/>
                  <a:t>:</a:t>
                </a:r>
              </a:p>
              <a:p>
                <a:pPr marL="0" indent="0">
                  <a:buNone/>
                </a:pP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sub>
                          </m:sSub>
                        </m:e>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Sub>
                        </m:e>
                        <m:e>
                          <m:r>
                            <a:rPr lang="ar-AE">
                              <a:latin typeface="Cambria Math" panose="02040503050406030204" pitchFamily="18" charset="0"/>
                            </a:rPr>
                            <m:t>.</m:t>
                          </m:r>
                        </m:e>
                        <m:e>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e>
                      </m:d>
                    </m:oMath>
                  </m:oMathPara>
                </a14:m>
                <a:endParaRPr lang="ar-AE" dirty="0"/>
              </a:p>
              <a:p>
                <a:pPr marL="0" indent="0">
                  <a:buNone/>
                </a:pPr>
                <a:endParaRPr lang="es-MX" dirty="0"/>
              </a:p>
              <a:p>
                <a:pPr marL="0" indent="0">
                  <a:buNone/>
                </a:pPr>
                <a:r>
                  <a:rPr lang="es-MX" dirty="0" err="1"/>
                  <a:t>For</a:t>
                </a:r>
                <a:r>
                  <a:rPr lang="es-MX" dirty="0"/>
                  <a:t> </a:t>
                </a:r>
                <a:r>
                  <a:rPr lang="es-MX" dirty="0" err="1"/>
                  <a:t>example</a:t>
                </a:r>
                <a:r>
                  <a:rPr lang="es-MX" dirty="0"/>
                  <a:t>: </a:t>
                </a:r>
                <a:r>
                  <a:rPr lang="en-US" dirty="0"/>
                  <a:t>"Language models are very powerful“</a:t>
                </a:r>
              </a:p>
              <a:p>
                <a:pPr marL="0" indent="0">
                  <a:buNone/>
                </a:pPr>
                <a:endParaRPr lang="en-US" dirty="0"/>
              </a:p>
              <a:p>
                <a:pPr>
                  <a:buFontTx/>
                  <a:buChar char="-"/>
                </a:pPr>
                <a:r>
                  <a:rPr lang="es-MX" dirty="0" err="1"/>
                  <a:t>Unigrams</a:t>
                </a:r>
                <a:r>
                  <a:rPr lang="es-MX" dirty="0"/>
                  <a:t> (n=1) </a:t>
                </a:r>
                <a:r>
                  <a:rPr lang="en-US" dirty="0"/>
                  <a:t>["Language"], ["models"], ["are"], ["very"], ["powerful"]</a:t>
                </a:r>
              </a:p>
              <a:p>
                <a:pPr>
                  <a:buFontTx/>
                  <a:buChar char="-"/>
                </a:pPr>
                <a:r>
                  <a:rPr lang="es-MX" dirty="0" err="1"/>
                  <a:t>Bigrams</a:t>
                </a:r>
                <a:r>
                  <a:rPr lang="es-MX" dirty="0"/>
                  <a:t> (n=2) </a:t>
                </a:r>
                <a:r>
                  <a:rPr lang="en-US" dirty="0"/>
                  <a:t>["Language models"] ["models are"] ["are very"] ["very powerful"]</a:t>
                </a:r>
              </a:p>
              <a:p>
                <a:pPr>
                  <a:buFontTx/>
                  <a:buChar char="-"/>
                </a:pPr>
                <a:r>
                  <a:rPr lang="es-MX" dirty="0" err="1"/>
                  <a:t>Trigrams</a:t>
                </a:r>
                <a:r>
                  <a:rPr lang="es-MX" dirty="0"/>
                  <a:t> (n=3)</a:t>
                </a:r>
                <a:r>
                  <a:rPr lang="en-US" dirty="0"/>
                  <a:t> ["Language models are"]["models are very"]["are very powerful"]</a:t>
                </a:r>
              </a:p>
              <a:p>
                <a:pPr marL="0" indent="0">
                  <a:buNone/>
                </a:pPr>
                <a:endParaRPr lang="en-US" dirty="0"/>
              </a:p>
              <a:p>
                <a:pPr marL="0" indent="0">
                  <a:buNone/>
                </a:pPr>
                <a:r>
                  <a:rPr lang="en-US" dirty="0"/>
                  <a:t>n-grams capture </a:t>
                </a:r>
                <a:r>
                  <a:rPr lang="en-US" b="1" dirty="0"/>
                  <a:t>local dependency structure</a:t>
                </a:r>
                <a:r>
                  <a:rPr lang="en-US" dirty="0"/>
                  <a:t>.</a:t>
                </a:r>
              </a:p>
              <a:p>
                <a:pPr>
                  <a:buFontTx/>
                  <a:buChar char="-"/>
                </a:pPr>
                <a:endParaRPr lang="en-US"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906A5756-7E03-EDDA-F3E4-87425976A9C5}"/>
                  </a:ext>
                </a:extLst>
              </p:cNvPr>
              <p:cNvSpPr>
                <a:spLocks noGrp="1" noRot="1" noChangeAspect="1" noMove="1" noResize="1" noEditPoints="1" noAdjustHandles="1" noChangeArrowheads="1" noChangeShapeType="1" noTextEdit="1"/>
              </p:cNvSpPr>
              <p:nvPr>
                <p:ph idx="1"/>
              </p:nvPr>
            </p:nvSpPr>
            <p:spPr>
              <a:xfrm>
                <a:off x="438150" y="1171574"/>
                <a:ext cx="11563349" cy="5448295"/>
              </a:xfrm>
              <a:blipFill>
                <a:blip r:embed="rId2"/>
                <a:stretch>
                  <a:fillRect l="-843" t="-246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8C98F3CE-9F5C-1C02-1E0E-36061EE49C51}"/>
              </a:ext>
            </a:extLst>
          </p:cNvPr>
          <p:cNvSpPr>
            <a:spLocks noChangeArrowheads="1"/>
          </p:cNvSpPr>
          <p:nvPr/>
        </p:nvSpPr>
        <p:spPr bwMode="auto">
          <a:xfrm>
            <a:off x="7571961" y="1080377"/>
            <a:ext cx="45993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Unigrams</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vocabulary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distribution</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Bigrams</a:t>
            </a:r>
            <a:r>
              <a:rPr kumimoji="0" lang="es-MX" altLang="es-MX" sz="1800" b="0" i="0" u="none" strike="noStrike" cap="none" normalizeH="0" baseline="0" dirty="0">
                <a:ln>
                  <a:noFill/>
                </a:ln>
                <a:solidFill>
                  <a:schemeClr val="tx1"/>
                </a:solidFill>
                <a:effectLst/>
                <a:latin typeface="Arial" panose="020B0604020202020204" pitchFamily="34" charset="0"/>
              </a:rPr>
              <a:t> → short </a:t>
            </a:r>
            <a:r>
              <a:rPr kumimoji="0" lang="es-MX" altLang="es-MX" sz="1800" b="0" i="0" u="none" strike="noStrike" cap="none" normalizeH="0" baseline="0" dirty="0" err="1">
                <a:ln>
                  <a:noFill/>
                </a:ln>
                <a:solidFill>
                  <a:schemeClr val="tx1"/>
                </a:solidFill>
                <a:effectLst/>
                <a:latin typeface="Arial" panose="020B0604020202020204" pitchFamily="34" charset="0"/>
              </a:rPr>
              <a:t>dependency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Trigrams</a:t>
            </a:r>
            <a:r>
              <a:rPr kumimoji="0" lang="es-MX" altLang="es-MX" sz="1800" b="0" i="0" u="none" strike="noStrike" cap="none" normalizeH="0" baseline="0" dirty="0">
                <a:ln>
                  <a:noFill/>
                </a:ln>
                <a:solidFill>
                  <a:schemeClr val="tx1"/>
                </a:solidFill>
                <a:effectLst/>
                <a:latin typeface="Arial" panose="020B0604020202020204" pitchFamily="34" charset="0"/>
              </a:rPr>
              <a:t> → short </a:t>
            </a:r>
            <a:r>
              <a:rPr kumimoji="0" lang="es-MX" altLang="es-MX" sz="1800" b="0" i="0" u="none" strike="noStrike" cap="none" normalizeH="0" baseline="0" dirty="0" err="1">
                <a:ln>
                  <a:noFill/>
                </a:ln>
                <a:solidFill>
                  <a:schemeClr val="tx1"/>
                </a:solidFill>
                <a:effectLst/>
                <a:latin typeface="Arial" panose="020B0604020202020204" pitchFamily="34" charset="0"/>
              </a:rPr>
              <a:t>phrase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structure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Higher</a:t>
            </a:r>
            <a:r>
              <a:rPr kumimoji="0" lang="es-MX" altLang="es-MX" sz="1800" b="0" i="0" u="none" strike="noStrike" cap="none" normalizeH="0" baseline="0" dirty="0">
                <a:ln>
                  <a:noFill/>
                </a:ln>
                <a:solidFill>
                  <a:schemeClr val="tx1"/>
                </a:solidFill>
                <a:effectLst/>
                <a:latin typeface="Arial" panose="020B0604020202020204" pitchFamily="34" charset="0"/>
              </a:rPr>
              <a:t> n → </a:t>
            </a:r>
            <a:r>
              <a:rPr kumimoji="0" lang="es-MX" altLang="es-MX" sz="1800" b="0" i="0" u="none" strike="noStrike" cap="none" normalizeH="0" baseline="0" dirty="0" err="1">
                <a:ln>
                  <a:noFill/>
                </a:ln>
                <a:solidFill>
                  <a:schemeClr val="tx1"/>
                </a:solidFill>
                <a:effectLst/>
                <a:latin typeface="Arial" panose="020B0604020202020204" pitchFamily="34" charset="0"/>
              </a:rPr>
              <a:t>stronger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structural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constraints</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3891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EECB3C-E584-8F29-59CD-6F90E9FB9715}"/>
              </a:ext>
            </a:extLst>
          </p:cNvPr>
          <p:cNvSpPr>
            <a:spLocks noGrp="1"/>
          </p:cNvSpPr>
          <p:nvPr>
            <p:ph type="title"/>
          </p:nvPr>
        </p:nvSpPr>
        <p:spPr>
          <a:xfrm>
            <a:off x="762000" y="46037"/>
            <a:ext cx="10515600" cy="1325563"/>
          </a:xfrm>
        </p:spPr>
        <p:txBody>
          <a:bodyPr/>
          <a:lstStyle/>
          <a:p>
            <a:r>
              <a:rPr lang="es-CO" dirty="0" err="1"/>
              <a:t>Example</a:t>
            </a:r>
            <a:endParaRPr lang="es-MX" dirty="0"/>
          </a:p>
        </p:txBody>
      </p:sp>
      <p:sp>
        <p:nvSpPr>
          <p:cNvPr id="3" name="Marcador de contenido 2">
            <a:extLst>
              <a:ext uri="{FF2B5EF4-FFF2-40B4-BE49-F238E27FC236}">
                <a16:creationId xmlns:a16="http://schemas.microsoft.com/office/drawing/2014/main" id="{2F2F3DF1-314C-AD39-0D37-7CFCCD89A8CF}"/>
              </a:ext>
            </a:extLst>
          </p:cNvPr>
          <p:cNvSpPr>
            <a:spLocks noGrp="1"/>
          </p:cNvSpPr>
          <p:nvPr>
            <p:ph idx="1"/>
          </p:nvPr>
        </p:nvSpPr>
        <p:spPr>
          <a:xfrm>
            <a:off x="762000" y="1371600"/>
            <a:ext cx="10515600" cy="5048250"/>
          </a:xfrm>
        </p:spPr>
        <p:txBody>
          <a:bodyPr>
            <a:normAutofit fontScale="92500" lnSpcReduction="10000"/>
          </a:bodyPr>
          <a:lstStyle/>
          <a:p>
            <a:pPr marL="0" indent="0">
              <a:buNone/>
            </a:pPr>
            <a:r>
              <a:rPr lang="en-US" dirty="0"/>
              <a:t>Reference: "The cat is on the mat"</a:t>
            </a:r>
          </a:p>
          <a:p>
            <a:pPr marL="0" indent="0">
              <a:buNone/>
            </a:pPr>
            <a:r>
              <a:rPr lang="en-US" dirty="0"/>
              <a:t>Candidate: "The cat sat on the mat“</a:t>
            </a:r>
          </a:p>
          <a:p>
            <a:pPr marL="0" indent="0">
              <a:buNone/>
            </a:pPr>
            <a:endParaRPr lang="en-US" dirty="0"/>
          </a:p>
          <a:p>
            <a:pPr marL="0" indent="0">
              <a:buNone/>
            </a:pPr>
            <a:r>
              <a:rPr lang="es-MX" b="1" dirty="0" err="1"/>
              <a:t>Unigram</a:t>
            </a:r>
            <a:r>
              <a:rPr lang="es-MX" b="1" dirty="0"/>
              <a:t> </a:t>
            </a:r>
            <a:r>
              <a:rPr lang="es-MX" b="1" dirty="0" err="1"/>
              <a:t>overlap</a:t>
            </a:r>
            <a:r>
              <a:rPr lang="es-MX" b="1" dirty="0"/>
              <a:t> </a:t>
            </a:r>
            <a:r>
              <a:rPr lang="es-MX" dirty="0"/>
              <a:t>(</a:t>
            </a:r>
            <a:r>
              <a:rPr lang="es-MX" dirty="0" err="1"/>
              <a:t>Common</a:t>
            </a:r>
            <a:r>
              <a:rPr lang="es-MX" dirty="0"/>
              <a:t> tokens):</a:t>
            </a:r>
          </a:p>
          <a:p>
            <a:pPr marL="0" indent="0">
              <a:buNone/>
            </a:pPr>
            <a:r>
              <a:rPr lang="en-US" dirty="0"/>
              <a:t>The, cat, on, the, mat</a:t>
            </a:r>
          </a:p>
          <a:p>
            <a:pPr marL="0" indent="0">
              <a:buNone/>
            </a:pPr>
            <a:endParaRPr lang="en-US" dirty="0"/>
          </a:p>
          <a:p>
            <a:pPr marL="0" indent="0">
              <a:buNone/>
            </a:pPr>
            <a:r>
              <a:rPr lang="es-MX" b="1" dirty="0" err="1"/>
              <a:t>Bigram</a:t>
            </a:r>
            <a:r>
              <a:rPr lang="es-MX" b="1" dirty="0"/>
              <a:t> </a:t>
            </a:r>
            <a:r>
              <a:rPr lang="es-MX" b="1" dirty="0" err="1"/>
              <a:t>overlap</a:t>
            </a:r>
            <a:r>
              <a:rPr lang="es-MX" b="1" dirty="0"/>
              <a:t> </a:t>
            </a:r>
            <a:r>
              <a:rPr lang="es-MX" dirty="0"/>
              <a:t>(</a:t>
            </a:r>
            <a:r>
              <a:rPr lang="es-MX" dirty="0" err="1"/>
              <a:t>Matches</a:t>
            </a:r>
            <a:r>
              <a:rPr lang="es-MX" dirty="0"/>
              <a:t>): </a:t>
            </a:r>
            <a:r>
              <a:rPr lang="en-US" dirty="0"/>
              <a:t>The cat, on the, the mat</a:t>
            </a:r>
          </a:p>
          <a:p>
            <a:pPr marL="0" indent="0">
              <a:buNone/>
            </a:pPr>
            <a:r>
              <a:rPr lang="es-MX" dirty="0" err="1"/>
              <a:t>Lower</a:t>
            </a:r>
            <a:r>
              <a:rPr lang="es-MX" dirty="0"/>
              <a:t> </a:t>
            </a:r>
            <a:r>
              <a:rPr lang="es-MX" dirty="0" err="1"/>
              <a:t>than</a:t>
            </a:r>
            <a:r>
              <a:rPr lang="es-MX" dirty="0"/>
              <a:t> </a:t>
            </a:r>
            <a:r>
              <a:rPr lang="es-MX" dirty="0" err="1"/>
              <a:t>unigram</a:t>
            </a:r>
            <a:r>
              <a:rPr lang="es-MX" dirty="0"/>
              <a:t> </a:t>
            </a:r>
            <a:r>
              <a:rPr lang="es-MX" dirty="0" err="1"/>
              <a:t>precision</a:t>
            </a:r>
            <a:r>
              <a:rPr lang="es-MX" dirty="0"/>
              <a:t>.</a:t>
            </a:r>
          </a:p>
          <a:p>
            <a:pPr marL="0" indent="0">
              <a:buNone/>
            </a:pPr>
            <a:endParaRPr lang="es-MX" dirty="0"/>
          </a:p>
          <a:p>
            <a:pPr marL="0" indent="0">
              <a:buNone/>
            </a:pPr>
            <a:r>
              <a:rPr lang="es-MX" b="1" dirty="0" err="1"/>
              <a:t>Trigram</a:t>
            </a:r>
            <a:r>
              <a:rPr lang="es-MX" b="1" dirty="0"/>
              <a:t> </a:t>
            </a:r>
            <a:r>
              <a:rPr lang="es-MX" b="1" dirty="0" err="1"/>
              <a:t>overlap</a:t>
            </a:r>
            <a:r>
              <a:rPr lang="es-MX" b="1" dirty="0"/>
              <a:t> </a:t>
            </a:r>
            <a:r>
              <a:rPr lang="es-MX" dirty="0"/>
              <a:t>(</a:t>
            </a:r>
            <a:r>
              <a:rPr lang="es-MX" dirty="0" err="1"/>
              <a:t>Matches</a:t>
            </a:r>
            <a:r>
              <a:rPr lang="es-MX" dirty="0"/>
              <a:t>)</a:t>
            </a:r>
            <a:r>
              <a:rPr lang="es-MX" b="1" dirty="0"/>
              <a:t>: </a:t>
            </a:r>
            <a:r>
              <a:rPr lang="es-MX" dirty="0" err="1"/>
              <a:t>on</a:t>
            </a:r>
            <a:r>
              <a:rPr lang="es-MX" dirty="0"/>
              <a:t> </a:t>
            </a:r>
            <a:r>
              <a:rPr lang="es-MX" dirty="0" err="1"/>
              <a:t>the</a:t>
            </a:r>
            <a:r>
              <a:rPr lang="es-MX" dirty="0"/>
              <a:t> </a:t>
            </a:r>
            <a:r>
              <a:rPr lang="es-MX" dirty="0" err="1"/>
              <a:t>mat</a:t>
            </a:r>
            <a:endParaRPr lang="es-MX" dirty="0"/>
          </a:p>
          <a:p>
            <a:pPr marL="0" indent="0">
              <a:buNone/>
            </a:pPr>
            <a:r>
              <a:rPr lang="es-MX" dirty="0" err="1"/>
              <a:t>Precision</a:t>
            </a:r>
            <a:r>
              <a:rPr lang="es-MX" dirty="0"/>
              <a:t> </a:t>
            </a:r>
            <a:r>
              <a:rPr lang="es-MX" dirty="0" err="1"/>
              <a:t>drops</a:t>
            </a:r>
            <a:r>
              <a:rPr lang="es-MX" dirty="0"/>
              <a:t> </a:t>
            </a:r>
            <a:r>
              <a:rPr lang="es-MX" dirty="0" err="1"/>
              <a:t>further</a:t>
            </a:r>
            <a:r>
              <a:rPr lang="es-MX" dirty="0"/>
              <a:t>.</a:t>
            </a:r>
          </a:p>
        </p:txBody>
      </p:sp>
    </p:spTree>
    <p:extLst>
      <p:ext uri="{BB962C8B-B14F-4D97-AF65-F5344CB8AC3E}">
        <p14:creationId xmlns:p14="http://schemas.microsoft.com/office/powerpoint/2010/main" val="32555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2D542E-895F-BBC9-59BB-06E789A0C33B}"/>
              </a:ext>
            </a:extLst>
          </p:cNvPr>
          <p:cNvSpPr>
            <a:spLocks noGrp="1"/>
          </p:cNvSpPr>
          <p:nvPr>
            <p:ph type="title"/>
          </p:nvPr>
        </p:nvSpPr>
        <p:spPr/>
        <p:txBody>
          <a:bodyPr/>
          <a:lstStyle/>
          <a:p>
            <a:r>
              <a:rPr lang="en-US" dirty="0" err="1"/>
              <a:t>Subword</a:t>
            </a:r>
            <a:r>
              <a:rPr lang="en-US" dirty="0"/>
              <a:t> Tokenization in Modern LLMs</a:t>
            </a:r>
            <a:endParaRPr lang="es-MX" dirty="0"/>
          </a:p>
        </p:txBody>
      </p:sp>
      <p:sp>
        <p:nvSpPr>
          <p:cNvPr id="3" name="Marcador de contenido 2">
            <a:extLst>
              <a:ext uri="{FF2B5EF4-FFF2-40B4-BE49-F238E27FC236}">
                <a16:creationId xmlns:a16="http://schemas.microsoft.com/office/drawing/2014/main" id="{4A331C0E-F1F0-052F-BFFE-445D86EF6AFF}"/>
              </a:ext>
            </a:extLst>
          </p:cNvPr>
          <p:cNvSpPr>
            <a:spLocks noGrp="1"/>
          </p:cNvSpPr>
          <p:nvPr>
            <p:ph idx="1"/>
          </p:nvPr>
        </p:nvSpPr>
        <p:spPr/>
        <p:txBody>
          <a:bodyPr>
            <a:normAutofit fontScale="92500" lnSpcReduction="10000"/>
          </a:bodyPr>
          <a:lstStyle/>
          <a:p>
            <a:pPr marL="0" indent="0">
              <a:buNone/>
            </a:pPr>
            <a:r>
              <a:rPr lang="en-US" dirty="0"/>
              <a:t>Modern LLMs use BPE (Byte Pair Encoding), also known as </a:t>
            </a:r>
            <a:r>
              <a:rPr lang="es-MX" dirty="0"/>
              <a:t>Symbol </a:t>
            </a:r>
            <a:r>
              <a:rPr lang="es-MX" dirty="0" err="1"/>
              <a:t>Pair</a:t>
            </a:r>
            <a:r>
              <a:rPr lang="es-MX" dirty="0"/>
              <a:t> </a:t>
            </a:r>
            <a:r>
              <a:rPr lang="es-MX" dirty="0" err="1"/>
              <a:t>Encoding</a:t>
            </a:r>
            <a:r>
              <a:rPr lang="en-US" dirty="0"/>
              <a:t> splits words into frequent units, To solve:</a:t>
            </a:r>
          </a:p>
          <a:p>
            <a:pPr marL="0" indent="0">
              <a:buNone/>
            </a:pPr>
            <a:endParaRPr lang="en-US" dirty="0"/>
          </a:p>
          <a:p>
            <a:r>
              <a:rPr lang="en-US" dirty="0"/>
              <a:t>Rare words, Open vocabulary problem, Morphology</a:t>
            </a:r>
          </a:p>
          <a:p>
            <a:pPr marL="0" indent="0">
              <a:buNone/>
            </a:pPr>
            <a:endParaRPr lang="en-US" dirty="0"/>
          </a:p>
          <a:p>
            <a:pPr marL="0" indent="0">
              <a:buNone/>
            </a:pPr>
            <a:r>
              <a:rPr lang="en-US" dirty="0"/>
              <a:t>Example: "internationalization“, Instead of OOV:</a:t>
            </a:r>
          </a:p>
          <a:p>
            <a:pPr marL="0" indent="0">
              <a:buNone/>
            </a:pPr>
            <a:r>
              <a:rPr lang="en-US" dirty="0"/>
              <a:t>["international", "</a:t>
            </a:r>
            <a:r>
              <a:rPr lang="en-US" dirty="0" err="1"/>
              <a:t>ization</a:t>
            </a:r>
            <a:r>
              <a:rPr lang="en-US" dirty="0"/>
              <a:t>"]</a:t>
            </a:r>
          </a:p>
          <a:p>
            <a:pPr marL="0" indent="0">
              <a:buNone/>
            </a:pPr>
            <a:endParaRPr lang="en-US" dirty="0"/>
          </a:p>
          <a:p>
            <a:pPr marL="0" indent="0">
              <a:buNone/>
            </a:pPr>
            <a:r>
              <a:rPr lang="en-US" dirty="0"/>
              <a:t>This reduces vocabulary size, sequence length and improves generalization. Does not use linguistic rules.</a:t>
            </a:r>
          </a:p>
          <a:p>
            <a:pPr marL="0" indent="0">
              <a:buNone/>
            </a:pPr>
            <a:endParaRPr lang="en-US" dirty="0"/>
          </a:p>
          <a:p>
            <a:pPr marL="0" indent="0">
              <a:buNone/>
            </a:pPr>
            <a:endParaRPr lang="en-US" dirty="0"/>
          </a:p>
          <a:p>
            <a:pPr marL="0" indent="0">
              <a:buNone/>
            </a:pPr>
            <a:endParaRPr lang="en-US" dirty="0"/>
          </a:p>
          <a:p>
            <a:pPr marL="0" indent="0">
              <a:buNone/>
            </a:pPr>
            <a:endParaRPr lang="es-MX" dirty="0"/>
          </a:p>
        </p:txBody>
      </p:sp>
    </p:spTree>
    <p:extLst>
      <p:ext uri="{BB962C8B-B14F-4D97-AF65-F5344CB8AC3E}">
        <p14:creationId xmlns:p14="http://schemas.microsoft.com/office/powerpoint/2010/main" val="154629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E798A-EF4A-F0E9-143F-1B016A10573C}"/>
              </a:ext>
            </a:extLst>
          </p:cNvPr>
          <p:cNvSpPr>
            <a:spLocks noGrp="1"/>
          </p:cNvSpPr>
          <p:nvPr>
            <p:ph type="title"/>
          </p:nvPr>
        </p:nvSpPr>
        <p:spPr/>
        <p:txBody>
          <a:bodyPr/>
          <a:lstStyle/>
          <a:p>
            <a:r>
              <a:rPr lang="es-CO" dirty="0" err="1"/>
              <a:t>Why</a:t>
            </a:r>
            <a:r>
              <a:rPr lang="es-CO" dirty="0"/>
              <a:t> BPE Works </a:t>
            </a:r>
            <a:endParaRPr lang="es-MX" dirty="0"/>
          </a:p>
        </p:txBody>
      </p:sp>
      <p:sp>
        <p:nvSpPr>
          <p:cNvPr id="4" name="Rectangle 1">
            <a:extLst>
              <a:ext uri="{FF2B5EF4-FFF2-40B4-BE49-F238E27FC236}">
                <a16:creationId xmlns:a16="http://schemas.microsoft.com/office/drawing/2014/main" id="{12DB7FA6-40F3-866E-4F47-F8CC39B9455B}"/>
              </a:ext>
            </a:extLst>
          </p:cNvPr>
          <p:cNvSpPr>
            <a:spLocks noGrp="1" noChangeArrowheads="1"/>
          </p:cNvSpPr>
          <p:nvPr>
            <p:ph idx="1"/>
          </p:nvPr>
        </p:nvSpPr>
        <p:spPr bwMode="auto">
          <a:xfrm>
            <a:off x="838200" y="1621438"/>
            <a:ext cx="10944225" cy="4258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Frequent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morphemes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become</a:t>
            </a:r>
            <a:r>
              <a:rPr kumimoji="0" lang="es-MX" altLang="es-MX" sz="1800" b="0" i="0" u="none" strike="noStrike" cap="none" normalizeH="0" baseline="0" dirty="0">
                <a:ln>
                  <a:noFill/>
                </a:ln>
                <a:solidFill>
                  <a:schemeClr val="tx1"/>
                </a:solidFill>
                <a:effectLst/>
                <a:latin typeface="Arial" panose="020B0604020202020204" pitchFamily="34" charset="0"/>
              </a:rPr>
              <a:t> tokens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Rare </a:t>
            </a:r>
            <a:r>
              <a:rPr kumimoji="0" lang="es-MX" altLang="es-MX" sz="1800" b="0" i="0" u="none" strike="noStrike" cap="none" normalizeH="0" baseline="0" dirty="0" err="1">
                <a:ln>
                  <a:noFill/>
                </a:ln>
                <a:solidFill>
                  <a:schemeClr val="tx1"/>
                </a:solidFill>
                <a:effectLst/>
                <a:latin typeface="Arial" panose="020B0604020202020204" pitchFamily="34" charset="0"/>
              </a:rPr>
              <a:t>words</a:t>
            </a:r>
            <a:r>
              <a:rPr kumimoji="0" lang="es-MX" altLang="es-MX" sz="1800" b="0" i="0" u="none" strike="noStrike" cap="none" normalizeH="0" baseline="0" dirty="0">
                <a:ln>
                  <a:noFill/>
                </a:ln>
                <a:solidFill>
                  <a:schemeClr val="tx1"/>
                </a:solidFill>
                <a:effectLst/>
                <a:latin typeface="Arial" panose="020B0604020202020204" pitchFamily="34" charset="0"/>
              </a:rPr>
              <a:t> are </a:t>
            </a:r>
            <a:r>
              <a:rPr kumimoji="0" lang="es-MX" altLang="es-MX" sz="1800" b="0" i="0" u="none" strike="noStrike" cap="none" normalizeH="0" baseline="0" dirty="0" err="1">
                <a:ln>
                  <a:noFill/>
                </a:ln>
                <a:solidFill>
                  <a:schemeClr val="tx1"/>
                </a:solidFill>
                <a:effectLst/>
                <a:latin typeface="Arial" panose="020B0604020202020204" pitchFamily="34" charset="0"/>
              </a:rPr>
              <a:t>decomposed</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Open </a:t>
            </a:r>
            <a:r>
              <a:rPr kumimoji="0" lang="es-MX" altLang="es-MX" sz="1800" b="0" i="0" u="none" strike="noStrike" cap="none" normalizeH="0" baseline="0" dirty="0" err="1">
                <a:ln>
                  <a:noFill/>
                </a:ln>
                <a:solidFill>
                  <a:schemeClr val="tx1"/>
                </a:solidFill>
                <a:effectLst/>
                <a:latin typeface="Arial" panose="020B0604020202020204" pitchFamily="34" charset="0"/>
              </a:rPr>
              <a:t>vocabulary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achieved</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indent="0">
              <a:buNone/>
            </a:pPr>
            <a:r>
              <a:rPr lang="en-US" sz="1800" dirty="0"/>
              <a:t>Example: "unbelievable“ might tokenize as:</a:t>
            </a:r>
          </a:p>
          <a:p>
            <a:pPr marL="0" indent="0">
              <a:buNone/>
            </a:pPr>
            <a:endParaRPr lang="en-US" sz="1800" dirty="0"/>
          </a:p>
          <a:p>
            <a:pPr marL="0" indent="0">
              <a:buNone/>
            </a:pPr>
            <a:r>
              <a:rPr lang="en-US" sz="1800" dirty="0"/>
              <a:t>["un", "</a:t>
            </a:r>
            <a:r>
              <a:rPr lang="en-US" sz="1800" dirty="0" err="1"/>
              <a:t>believ</a:t>
            </a:r>
            <a:r>
              <a:rPr lang="en-US" sz="1800" dirty="0"/>
              <a:t>", "able"]</a:t>
            </a:r>
          </a:p>
          <a:p>
            <a:pPr marL="0" indent="0">
              <a:buNone/>
            </a:pPr>
            <a:endParaRPr lang="en-US" sz="1800" dirty="0"/>
          </a:p>
          <a:p>
            <a:pPr marL="0" indent="0">
              <a:buNone/>
            </a:pPr>
            <a:r>
              <a:rPr lang="en-US" sz="1800" dirty="0"/>
              <a:t>If later we see "believable“, it reuses: ["</a:t>
            </a:r>
            <a:r>
              <a:rPr lang="en-US" sz="1800" dirty="0" err="1"/>
              <a:t>believ</a:t>
            </a:r>
            <a:r>
              <a:rPr lang="en-US" sz="1800" dirty="0"/>
              <a:t>", "able"]</a:t>
            </a:r>
          </a:p>
          <a:p>
            <a:pPr marL="0" indent="0">
              <a:buNone/>
            </a:pPr>
            <a:endParaRPr lang="en-US" sz="1800" dirty="0"/>
          </a:p>
          <a:p>
            <a:pPr marL="0" indent="0">
              <a:buNone/>
            </a:pPr>
            <a:r>
              <a:rPr lang="es-MX" sz="1800" dirty="0" err="1"/>
              <a:t>Generalization</a:t>
            </a:r>
            <a:r>
              <a:rPr lang="es-MX" sz="1800" dirty="0"/>
              <a:t> </a:t>
            </a:r>
            <a:r>
              <a:rPr lang="es-MX" sz="1800" dirty="0" err="1"/>
              <a:t>improves</a:t>
            </a:r>
            <a:r>
              <a:rPr lang="es-MX" sz="1800" dirty="0"/>
              <a:t>.</a:t>
            </a:r>
            <a:endParaRPr lang="en-US"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DB45B088-FC12-8299-25C2-CCDBADE69327}"/>
              </a:ext>
            </a:extLst>
          </p:cNvPr>
          <p:cNvSpPr txBox="1"/>
          <p:nvPr/>
        </p:nvSpPr>
        <p:spPr>
          <a:xfrm>
            <a:off x="3409950" y="5880040"/>
            <a:ext cx="6096000" cy="369332"/>
          </a:xfrm>
          <a:prstGeom prst="rect">
            <a:avLst/>
          </a:prstGeom>
          <a:noFill/>
        </p:spPr>
        <p:txBody>
          <a:bodyPr wrap="square">
            <a:spAutoFit/>
          </a:bodyPr>
          <a:lstStyle/>
          <a:p>
            <a:r>
              <a:rPr lang="es-MX" dirty="0"/>
              <a:t>Text → Tokens → Token </a:t>
            </a:r>
            <a:r>
              <a:rPr lang="es-MX" dirty="0" err="1"/>
              <a:t>IDs</a:t>
            </a:r>
            <a:r>
              <a:rPr lang="es-MX" dirty="0"/>
              <a:t> → </a:t>
            </a:r>
            <a:r>
              <a:rPr lang="es-MX" dirty="0" err="1"/>
              <a:t>Embeddings</a:t>
            </a:r>
            <a:r>
              <a:rPr lang="es-MX" dirty="0"/>
              <a:t> → </a:t>
            </a:r>
            <a:r>
              <a:rPr lang="es-MX" dirty="0" err="1"/>
              <a:t>Model</a:t>
            </a:r>
            <a:endParaRPr lang="es-MX" dirty="0"/>
          </a:p>
        </p:txBody>
      </p:sp>
      <p:sp>
        <p:nvSpPr>
          <p:cNvPr id="7" name="Rectangle 2">
            <a:extLst>
              <a:ext uri="{FF2B5EF4-FFF2-40B4-BE49-F238E27FC236}">
                <a16:creationId xmlns:a16="http://schemas.microsoft.com/office/drawing/2014/main" id="{6787C961-9966-A017-C6CA-63E585957DBB}"/>
              </a:ext>
            </a:extLst>
          </p:cNvPr>
          <p:cNvSpPr>
            <a:spLocks noChangeArrowheads="1"/>
          </p:cNvSpPr>
          <p:nvPr/>
        </p:nvSpPr>
        <p:spPr bwMode="auto">
          <a:xfrm>
            <a:off x="8239125" y="2829610"/>
            <a:ext cx="27719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GPT-2: 50,257 tokens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LLaMA</a:t>
            </a:r>
            <a:r>
              <a:rPr kumimoji="0" lang="es-MX" altLang="es-MX" sz="1800" b="0" i="0" u="none" strike="noStrike" cap="none" normalizeH="0" baseline="0" dirty="0">
                <a:ln>
                  <a:noFill/>
                </a:ln>
                <a:solidFill>
                  <a:schemeClr val="tx1"/>
                </a:solidFill>
                <a:effectLst/>
                <a:latin typeface="Arial" panose="020B0604020202020204" pitchFamily="34" charset="0"/>
              </a:rPr>
              <a:t>: ~32,000 tokens</a:t>
            </a:r>
          </a:p>
        </p:txBody>
      </p:sp>
    </p:spTree>
    <p:extLst>
      <p:ext uri="{BB962C8B-B14F-4D97-AF65-F5344CB8AC3E}">
        <p14:creationId xmlns:p14="http://schemas.microsoft.com/office/powerpoint/2010/main" val="627455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F1342-1033-1D17-29DE-745C1CC0633D}"/>
              </a:ext>
            </a:extLst>
          </p:cNvPr>
          <p:cNvSpPr>
            <a:spLocks noGrp="1"/>
          </p:cNvSpPr>
          <p:nvPr>
            <p:ph type="title"/>
          </p:nvPr>
        </p:nvSpPr>
        <p:spPr/>
        <p:txBody>
          <a:bodyPr>
            <a:normAutofit/>
          </a:bodyPr>
          <a:lstStyle/>
          <a:p>
            <a:r>
              <a:rPr lang="en-US" b="1" dirty="0">
                <a:solidFill>
                  <a:srgbClr val="131314"/>
                </a:solidFill>
                <a:effectLst/>
                <a:latin typeface="Google Sans"/>
              </a:rPr>
              <a:t>Transformer architecture and its evolution</a:t>
            </a:r>
            <a:endParaRPr lang="es-MX" b="1" dirty="0"/>
          </a:p>
        </p:txBody>
      </p:sp>
      <p:sp>
        <p:nvSpPr>
          <p:cNvPr id="3" name="Marcador de contenido 2">
            <a:extLst>
              <a:ext uri="{FF2B5EF4-FFF2-40B4-BE49-F238E27FC236}">
                <a16:creationId xmlns:a16="http://schemas.microsoft.com/office/drawing/2014/main" id="{AB2819ED-C142-99FE-C03E-AC889AA7FD06}"/>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a:t>
            </a:r>
            <a:r>
              <a:rPr lang="en-US" b="0" i="0" dirty="0">
                <a:solidFill>
                  <a:srgbClr val="131314"/>
                </a:solidFill>
                <a:effectLst/>
                <a:latin typeface="Google Sans Text"/>
                <a:hlinkClick r:id="rId2"/>
              </a:rPr>
              <a:t>Attention Is All You Need" (2017), is comprised of an "encoder" - "decoder</a:t>
            </a:r>
            <a:r>
              <a:rPr lang="en-US" b="0" i="0" dirty="0">
                <a:solidFill>
                  <a:srgbClr val="131314"/>
                </a:solidFill>
                <a:effectLst/>
                <a:latin typeface="Google Sans Text"/>
              </a:rPr>
              <a:t>.“</a:t>
            </a:r>
          </a:p>
          <a:p>
            <a:pPr marL="0" indent="0" algn="just">
              <a:buNone/>
            </a:pPr>
            <a:endParaRPr lang="en-US" b="1" i="0" dirty="0">
              <a:solidFill>
                <a:srgbClr val="131314"/>
              </a:solidFill>
              <a:effectLst/>
              <a:latin typeface="Google Sans Text"/>
            </a:endParaRPr>
          </a:p>
          <a:p>
            <a:pPr marL="0" indent="0" algn="just">
              <a:buNone/>
            </a:pPr>
            <a:r>
              <a:rPr lang="en-US" b="1" i="0" dirty="0">
                <a:solidFill>
                  <a:srgbClr val="131314"/>
                </a:solidFill>
                <a:effectLst/>
                <a:latin typeface="Google Sans Text"/>
              </a:rPr>
              <a:t>Encoder:</a:t>
            </a:r>
            <a:r>
              <a:rPr lang="en-US" b="0" i="0" dirty="0">
                <a:solidFill>
                  <a:srgbClr val="131314"/>
                </a:solidFill>
                <a:effectLst/>
                <a:latin typeface="Google Sans Text"/>
              </a:rPr>
              <a:t> transforms the input sequence into a continuous representation containing contextual information for each token. It uses multi-head self-attention, feed-forward networks, normalization layers, and residual connections. Positional encodings are added to embeddings to preserve word order.</a:t>
            </a:r>
          </a:p>
          <a:p>
            <a:pPr marL="0" indent="0" algn="just">
              <a:buNone/>
            </a:pPr>
            <a:endParaRPr lang="en-US" b="0" i="0" dirty="0">
              <a:solidFill>
                <a:srgbClr val="131314"/>
              </a:solidFill>
              <a:effectLst/>
              <a:latin typeface="Google Sans Text"/>
            </a:endParaRPr>
          </a:p>
          <a:p>
            <a:pPr marL="0" indent="0" algn="just">
              <a:buNone/>
            </a:pPr>
            <a:endParaRPr lang="es-MX" dirty="0"/>
          </a:p>
        </p:txBody>
      </p:sp>
    </p:spTree>
    <p:extLst>
      <p:ext uri="{BB962C8B-B14F-4D97-AF65-F5344CB8AC3E}">
        <p14:creationId xmlns:p14="http://schemas.microsoft.com/office/powerpoint/2010/main" val="327539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758EC9-9A72-7D63-909C-03C60370B5EE}"/>
              </a:ext>
            </a:extLst>
          </p:cNvPr>
          <p:cNvSpPr>
            <a:spLocks noGrp="1"/>
          </p:cNvSpPr>
          <p:nvPr>
            <p:ph idx="1"/>
          </p:nvPr>
        </p:nvSpPr>
        <p:spPr>
          <a:xfrm>
            <a:off x="838200" y="777875"/>
            <a:ext cx="10515600" cy="4351338"/>
          </a:xfrm>
        </p:spPr>
        <p:txBody>
          <a:bodyPr>
            <a:normAutofit/>
          </a:bodyPr>
          <a:lstStyle/>
          <a:p>
            <a:pPr marL="0" indent="0" algn="just">
              <a:buNone/>
            </a:pPr>
            <a:r>
              <a:rPr lang="en-US" b="1" i="0" dirty="0">
                <a:solidFill>
                  <a:srgbClr val="131314"/>
                </a:solidFill>
                <a:effectLst/>
                <a:latin typeface="Google Sans Text"/>
              </a:rPr>
              <a:t>Decoder:</a:t>
            </a:r>
            <a:r>
              <a:rPr lang="en-US" b="0" i="0" dirty="0">
                <a:solidFill>
                  <a:srgbClr val="131314"/>
                </a:solidFill>
                <a:effectLst/>
                <a:latin typeface="Google Sans Text"/>
              </a:rPr>
              <a:t> generates the output sequence based on the contextual information from the encoder. It operates token-by-token using "</a:t>
            </a:r>
            <a:r>
              <a:rPr lang="en-US" b="1" i="0" dirty="0">
                <a:solidFill>
                  <a:srgbClr val="131314"/>
                </a:solidFill>
                <a:effectLst/>
                <a:latin typeface="Google Sans Text"/>
              </a:rPr>
              <a:t>masked self-attention</a:t>
            </a:r>
            <a:r>
              <a:rPr lang="en-US" b="0" i="0" dirty="0">
                <a:solidFill>
                  <a:srgbClr val="131314"/>
                </a:solidFill>
                <a:effectLst/>
                <a:latin typeface="Google Sans Text"/>
              </a:rPr>
              <a:t>" (prevent seeing future tokens) and "encoder-decoder cross-attention" (to focus on relevant parts of the input).</a:t>
            </a:r>
          </a:p>
          <a:p>
            <a:pPr marL="0" indent="0" algn="just">
              <a:buNone/>
            </a:pPr>
            <a:endParaRPr lang="en-US" dirty="0">
              <a:solidFill>
                <a:srgbClr val="131314"/>
              </a:solidFill>
              <a:latin typeface="Google Sans Text"/>
            </a:endParaRPr>
          </a:p>
          <a:p>
            <a:pPr marL="0" indent="0" algn="just">
              <a:buNone/>
            </a:pPr>
            <a:r>
              <a:rPr lang="en-US" dirty="0">
                <a:solidFill>
                  <a:srgbClr val="131314"/>
                </a:solidFill>
                <a:latin typeface="Google Sans Text"/>
              </a:rPr>
              <a:t>From GPT-3, Llama on LLMs have adopted a "decoder-only" variant of the Transformer architecture. This simplifies the model by merging the encoding and decoding functions, focusing solely on generating output sequences directly from the input using masked self-attention.</a:t>
            </a:r>
            <a:endParaRPr lang="es-MX" dirty="0"/>
          </a:p>
          <a:p>
            <a:pPr marL="0" indent="0" algn="just">
              <a:buNone/>
            </a:pPr>
            <a:endParaRPr lang="en-US" b="0" i="0" dirty="0">
              <a:solidFill>
                <a:srgbClr val="131314"/>
              </a:solidFill>
              <a:effectLst/>
              <a:latin typeface="Google Sans Text"/>
            </a:endParaRPr>
          </a:p>
          <a:p>
            <a:pPr marL="0" indent="0" algn="just">
              <a:buNone/>
            </a:pPr>
            <a:endParaRPr lang="en-US" b="0" i="0" dirty="0">
              <a:solidFill>
                <a:srgbClr val="131314"/>
              </a:solidFill>
              <a:effectLst/>
              <a:latin typeface="Google Sans Text"/>
            </a:endParaRPr>
          </a:p>
          <a:p>
            <a:pPr marL="0" indent="0" algn="just">
              <a:buNone/>
            </a:pPr>
            <a:endParaRPr lang="es-MX" dirty="0"/>
          </a:p>
        </p:txBody>
      </p:sp>
    </p:spTree>
    <p:extLst>
      <p:ext uri="{BB962C8B-B14F-4D97-AF65-F5344CB8AC3E}">
        <p14:creationId xmlns:p14="http://schemas.microsoft.com/office/powerpoint/2010/main" val="2809014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94C923-3187-CD43-6D3C-9503BC2CBF07}"/>
              </a:ext>
            </a:extLst>
          </p:cNvPr>
          <p:cNvPicPr>
            <a:picLocks noChangeAspect="1"/>
          </p:cNvPicPr>
          <p:nvPr/>
        </p:nvPicPr>
        <p:blipFill rotWithShape="1">
          <a:blip r:embed="rId2"/>
          <a:srcRect l="2127" t="2534" r="720"/>
          <a:stretch/>
        </p:blipFill>
        <p:spPr>
          <a:xfrm>
            <a:off x="704087" y="118872"/>
            <a:ext cx="10515601" cy="6684264"/>
          </a:xfrm>
          <a:prstGeom prst="rect">
            <a:avLst/>
          </a:prstGeom>
        </p:spPr>
      </p:pic>
    </p:spTree>
    <p:extLst>
      <p:ext uri="{BB962C8B-B14F-4D97-AF65-F5344CB8AC3E}">
        <p14:creationId xmlns:p14="http://schemas.microsoft.com/office/powerpoint/2010/main" val="50608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E6B12-1843-7598-A78D-99AAC97BE8F2}"/>
              </a:ext>
            </a:extLst>
          </p:cNvPr>
          <p:cNvSpPr>
            <a:spLocks noGrp="1"/>
          </p:cNvSpPr>
          <p:nvPr>
            <p:ph type="title"/>
          </p:nvPr>
        </p:nvSpPr>
        <p:spPr>
          <a:xfrm>
            <a:off x="838200" y="203200"/>
            <a:ext cx="10515600" cy="1325563"/>
          </a:xfrm>
        </p:spPr>
        <p:txBody>
          <a:bodyPr>
            <a:normAutofit/>
          </a:bodyPr>
          <a:lstStyle/>
          <a:p>
            <a:pPr algn="ctr"/>
            <a:r>
              <a:rPr lang="en-US" b="1" dirty="0">
                <a:solidFill>
                  <a:srgbClr val="131314"/>
                </a:solidFill>
                <a:effectLst/>
                <a:latin typeface="Google Sans"/>
              </a:rPr>
              <a:t>How do Transformer models process language?</a:t>
            </a:r>
            <a:endParaRPr lang="es-MX" b="1" dirty="0"/>
          </a:p>
        </p:txBody>
      </p:sp>
      <p:sp>
        <p:nvSpPr>
          <p:cNvPr id="3" name="Marcador de contenido 2">
            <a:extLst>
              <a:ext uri="{FF2B5EF4-FFF2-40B4-BE49-F238E27FC236}">
                <a16:creationId xmlns:a16="http://schemas.microsoft.com/office/drawing/2014/main" id="{57BBF128-EED2-5AAA-6D5B-81F31DE913D2}"/>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Revolutionized sequence processing by a mechanism called "self-attention." Older models (RNNs) process tokens sequentially,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It can process entire sequences in parallel, allowing them to model “long-term contexts" more effectively and speed up training.</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“Multi-head attention" module (the "self-attention" mechanism) generates three specialized vectors: a "query" (Q), a "key" (K), and a "value" (V) for each input word (token).</a:t>
            </a:r>
            <a:endParaRPr lang="es-MX" dirty="0"/>
          </a:p>
        </p:txBody>
      </p:sp>
    </p:spTree>
    <p:extLst>
      <p:ext uri="{BB962C8B-B14F-4D97-AF65-F5344CB8AC3E}">
        <p14:creationId xmlns:p14="http://schemas.microsoft.com/office/powerpoint/2010/main" val="654776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556C0EA-7E01-13B9-3822-3B63F03F1CAD}"/>
              </a:ext>
            </a:extLst>
          </p:cNvPr>
          <p:cNvSpPr>
            <a:spLocks noGrp="1"/>
          </p:cNvSpPr>
          <p:nvPr>
            <p:ph idx="1"/>
          </p:nvPr>
        </p:nvSpPr>
        <p:spPr>
          <a:xfrm>
            <a:off x="838200" y="1063625"/>
            <a:ext cx="10515600" cy="4351338"/>
          </a:xfrm>
        </p:spPr>
        <p:txBody>
          <a:bodyPr/>
          <a:lstStyle/>
          <a:p>
            <a:pPr algn="l">
              <a:buFont typeface="+mj-lt"/>
              <a:buAutoNum type="arabicPeriod"/>
            </a:pPr>
            <a:r>
              <a:rPr lang="en-US" b="1" i="0" dirty="0">
                <a:solidFill>
                  <a:srgbClr val="131314"/>
                </a:solidFill>
                <a:effectLst/>
                <a:latin typeface="Google Sans Text"/>
              </a:rPr>
              <a:t>Query</a:t>
            </a:r>
            <a:r>
              <a:rPr lang="en-US" b="0" i="0" dirty="0">
                <a:solidFill>
                  <a:srgbClr val="131314"/>
                </a:solidFill>
                <a:effectLst/>
                <a:latin typeface="Google Sans Text"/>
              </a:rPr>
              <a:t> help the model ask which other words are relevant.</a:t>
            </a:r>
          </a:p>
          <a:p>
            <a:pPr algn="l">
              <a:buFont typeface="+mj-lt"/>
              <a:buAutoNum type="arabicPeriod"/>
            </a:pPr>
            <a:r>
              <a:rPr lang="en-US" b="1" i="0" dirty="0">
                <a:solidFill>
                  <a:srgbClr val="131314"/>
                </a:solidFill>
                <a:effectLst/>
                <a:latin typeface="Google Sans Text"/>
              </a:rPr>
              <a:t>Key</a:t>
            </a:r>
            <a:r>
              <a:rPr lang="en-US" b="0" i="0" dirty="0">
                <a:solidFill>
                  <a:srgbClr val="131314"/>
                </a:solidFill>
                <a:effectLst/>
                <a:latin typeface="Google Sans Text"/>
              </a:rPr>
              <a:t> act as labels to identify how a word might be relevant to others.</a:t>
            </a:r>
          </a:p>
          <a:p>
            <a:pPr algn="l">
              <a:buFont typeface="+mj-lt"/>
              <a:buAutoNum type="arabicPeriod"/>
            </a:pPr>
            <a:r>
              <a:rPr lang="en-US" b="1" i="0" dirty="0">
                <a:solidFill>
                  <a:srgbClr val="131314"/>
                </a:solidFill>
                <a:effectLst/>
                <a:latin typeface="Google Sans Text"/>
              </a:rPr>
              <a:t>Value</a:t>
            </a:r>
            <a:r>
              <a:rPr lang="en-US" b="0" i="0" dirty="0">
                <a:solidFill>
                  <a:srgbClr val="131314"/>
                </a:solidFill>
                <a:effectLst/>
                <a:latin typeface="Google Sans Text"/>
              </a:rPr>
              <a:t> hold the actual content information of the word.</a:t>
            </a:r>
          </a:p>
          <a:p>
            <a:pPr marL="0" indent="0" algn="just">
              <a:buNone/>
            </a:pPr>
            <a:endParaRPr lang="es-MX" dirty="0"/>
          </a:p>
          <a:p>
            <a:pPr marL="0" indent="0" algn="just">
              <a:buNone/>
            </a:pPr>
            <a:r>
              <a:rPr lang="en-US" b="0" i="0" dirty="0">
                <a:solidFill>
                  <a:srgbClr val="131314"/>
                </a:solidFill>
                <a:effectLst/>
                <a:latin typeface="Google Sans Text"/>
              </a:rPr>
              <a:t>"Scores" are calculated by the dot product of a word's query vector with the key vectors of all other words in the sequence.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Scores are then normalized using a </a:t>
            </a:r>
            <a:r>
              <a:rPr lang="en-US" b="0" i="0" dirty="0" err="1">
                <a:solidFill>
                  <a:srgbClr val="131314"/>
                </a:solidFill>
                <a:effectLst/>
                <a:latin typeface="Google Sans Text"/>
              </a:rPr>
              <a:t>softmax</a:t>
            </a:r>
            <a:r>
              <a:rPr lang="en-US" b="0" i="0" dirty="0">
                <a:solidFill>
                  <a:srgbClr val="131314"/>
                </a:solidFill>
                <a:effectLst/>
                <a:latin typeface="Google Sans Text"/>
              </a:rPr>
              <a:t> to produce "attention weights," which indicate the strength of connection between words.</a:t>
            </a:r>
            <a:endParaRPr lang="es-MX" dirty="0"/>
          </a:p>
        </p:txBody>
      </p:sp>
    </p:spTree>
    <p:extLst>
      <p:ext uri="{BB962C8B-B14F-4D97-AF65-F5344CB8AC3E}">
        <p14:creationId xmlns:p14="http://schemas.microsoft.com/office/powerpoint/2010/main" val="2554540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8B971-9502-B928-8BCC-798AD1DFD365}"/>
              </a:ext>
            </a:extLst>
          </p:cNvPr>
          <p:cNvSpPr>
            <a:spLocks noGrp="1"/>
          </p:cNvSpPr>
          <p:nvPr>
            <p:ph idx="1"/>
          </p:nvPr>
        </p:nvSpPr>
        <p:spPr/>
        <p:txBody>
          <a:bodyPr/>
          <a:lstStyle/>
          <a:p>
            <a:pPr marL="0" indent="0" algn="just">
              <a:buNone/>
            </a:pPr>
            <a:r>
              <a:rPr lang="en-US" b="0" i="0" dirty="0">
                <a:solidFill>
                  <a:srgbClr val="131314"/>
                </a:solidFill>
                <a:effectLst/>
                <a:latin typeface="Google Sans Text"/>
              </a:rPr>
              <a:t>Finally, each value vector is multiplied by its corresponding attention weight, and the results are summed up to create a "context-aware representation" for each word.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This mechanism allows the model to dynamically focus on relevant parts of the input, like understanding that "it" in a sentence refers to the subject i.e. "the cat"</a:t>
            </a:r>
            <a:endParaRPr lang="es-MX" dirty="0"/>
          </a:p>
        </p:txBody>
      </p:sp>
    </p:spTree>
    <p:extLst>
      <p:ext uri="{BB962C8B-B14F-4D97-AF65-F5344CB8AC3E}">
        <p14:creationId xmlns:p14="http://schemas.microsoft.com/office/powerpoint/2010/main" val="2526319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F21AF9D-ECB0-F90B-3E26-F321ECCE40E0}"/>
              </a:ext>
            </a:extLst>
          </p:cNvPr>
          <p:cNvPicPr>
            <a:picLocks noChangeAspect="1"/>
          </p:cNvPicPr>
          <p:nvPr/>
        </p:nvPicPr>
        <p:blipFill>
          <a:blip r:embed="rId2"/>
          <a:stretch>
            <a:fillRect/>
          </a:stretch>
        </p:blipFill>
        <p:spPr>
          <a:xfrm>
            <a:off x="128016" y="365125"/>
            <a:ext cx="12192000" cy="6575710"/>
          </a:xfrm>
          <a:prstGeom prst="rect">
            <a:avLst/>
          </a:prstGeom>
        </p:spPr>
      </p:pic>
    </p:spTree>
    <p:extLst>
      <p:ext uri="{BB962C8B-B14F-4D97-AF65-F5344CB8AC3E}">
        <p14:creationId xmlns:p14="http://schemas.microsoft.com/office/powerpoint/2010/main" val="608371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184D13-1A44-C8B6-726F-0CA87254298E}"/>
              </a:ext>
            </a:extLst>
          </p:cNvPr>
          <p:cNvSpPr>
            <a:spLocks noGrp="1"/>
          </p:cNvSpPr>
          <p:nvPr>
            <p:ph type="title"/>
          </p:nvPr>
        </p:nvSpPr>
        <p:spPr/>
        <p:txBody>
          <a:bodyPr/>
          <a:lstStyle/>
          <a:p>
            <a:r>
              <a:rPr lang="es-CO" dirty="0"/>
              <a:t>Sub </a:t>
            </a:r>
            <a:r>
              <a:rPr lang="es-CO" dirty="0" err="1"/>
              <a:t>word</a:t>
            </a:r>
            <a:r>
              <a:rPr lang="es-CO" dirty="0"/>
              <a:t> and Multi </a:t>
            </a:r>
            <a:r>
              <a:rPr lang="es-CO" dirty="0" err="1"/>
              <a:t>words</a:t>
            </a:r>
            <a:r>
              <a:rPr lang="es-CO" dirty="0"/>
              <a:t> tokens</a:t>
            </a:r>
          </a:p>
        </p:txBody>
      </p:sp>
      <p:sp>
        <p:nvSpPr>
          <p:cNvPr id="3" name="Marcador de contenido 2">
            <a:extLst>
              <a:ext uri="{FF2B5EF4-FFF2-40B4-BE49-F238E27FC236}">
                <a16:creationId xmlns:a16="http://schemas.microsoft.com/office/drawing/2014/main" id="{5D28018A-1BBE-B7D7-A847-8938FFEA06DF}"/>
              </a:ext>
            </a:extLst>
          </p:cNvPr>
          <p:cNvSpPr>
            <a:spLocks noGrp="1"/>
          </p:cNvSpPr>
          <p:nvPr>
            <p:ph idx="1"/>
          </p:nvPr>
        </p:nvSpPr>
        <p:spPr>
          <a:xfrm>
            <a:off x="847725" y="1731962"/>
            <a:ext cx="10515600" cy="4351338"/>
          </a:xfrm>
        </p:spPr>
        <p:txBody>
          <a:bodyPr/>
          <a:lstStyle/>
          <a:p>
            <a:pPr marL="0" indent="0" algn="just">
              <a:buNone/>
            </a:pPr>
            <a:r>
              <a:rPr lang="en-US" b="0" i="0" dirty="0">
                <a:solidFill>
                  <a:srgbClr val="242424"/>
                </a:solidFill>
                <a:effectLst/>
                <a:highlight>
                  <a:srgbClr val="FFFFFF"/>
                </a:highlight>
                <a:latin typeface="source-serif-pro"/>
              </a:rPr>
              <a:t>sub-word tokenization breaks down a word into smaller parts like its root, prefix, suffix, and other linguistic elements. </a:t>
            </a:r>
          </a:p>
          <a:p>
            <a:pPr marL="0" indent="0" algn="just">
              <a:buNone/>
            </a:pPr>
            <a:endParaRPr lang="en-US" dirty="0">
              <a:solidFill>
                <a:srgbClr val="242424"/>
              </a:solidFill>
              <a:highlight>
                <a:srgbClr val="FFFFFF"/>
              </a:highlight>
              <a:latin typeface="source-serif-pro"/>
            </a:endParaRPr>
          </a:p>
          <a:p>
            <a:pPr marL="0" indent="0" algn="just">
              <a:buNone/>
            </a:pPr>
            <a:r>
              <a:rPr lang="en-US" b="0" i="0" dirty="0">
                <a:solidFill>
                  <a:srgbClr val="242424"/>
                </a:solidFill>
                <a:effectLst/>
                <a:highlight>
                  <a:srgbClr val="FFFFFF"/>
                </a:highlight>
                <a:latin typeface="source-serif-pro"/>
              </a:rPr>
              <a:t>For example, the word “tiresome” can be split into “tire” and “some,” while “tired” can be divided into “tire” and “d.” By doing this, we can recognize that “tiresome” and “tired” share the same root and have a similar derivation. (Wang, 2023)</a:t>
            </a:r>
            <a:endParaRPr lang="es-CO" dirty="0"/>
          </a:p>
        </p:txBody>
      </p:sp>
    </p:spTree>
    <p:extLst>
      <p:ext uri="{BB962C8B-B14F-4D97-AF65-F5344CB8AC3E}">
        <p14:creationId xmlns:p14="http://schemas.microsoft.com/office/powerpoint/2010/main" val="3583151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C4E5EE-858D-204F-6102-0924AA043DAC}"/>
              </a:ext>
            </a:extLst>
          </p:cNvPr>
          <p:cNvSpPr>
            <a:spLocks noGrp="1"/>
          </p:cNvSpPr>
          <p:nvPr>
            <p:ph type="title"/>
          </p:nvPr>
        </p:nvSpPr>
        <p:spPr/>
        <p:txBody>
          <a:bodyPr/>
          <a:lstStyle/>
          <a:p>
            <a:r>
              <a:rPr lang="es-CO" dirty="0" err="1"/>
              <a:t>Tokenization</a:t>
            </a:r>
            <a:r>
              <a:rPr lang="es-CO" dirty="0"/>
              <a:t> (</a:t>
            </a:r>
            <a:r>
              <a:rPr lang="es-MX" b="1" dirty="0"/>
              <a:t>Byte </a:t>
            </a:r>
            <a:r>
              <a:rPr lang="es-MX" b="1" dirty="0" err="1"/>
              <a:t>Pair</a:t>
            </a:r>
            <a:r>
              <a:rPr lang="es-MX" b="1" dirty="0"/>
              <a:t> </a:t>
            </a:r>
            <a:r>
              <a:rPr lang="es-MX" b="1" dirty="0" err="1"/>
              <a:t>Encoding</a:t>
            </a:r>
            <a:r>
              <a:rPr lang="es-MX" b="1" dirty="0"/>
              <a:t> (BPE)</a:t>
            </a:r>
            <a:r>
              <a:rPr lang="es-CO" dirty="0"/>
              <a:t>)</a:t>
            </a:r>
            <a:endParaRPr lang="es-MX" dirty="0"/>
          </a:p>
        </p:txBody>
      </p:sp>
      <p:sp>
        <p:nvSpPr>
          <p:cNvPr id="3" name="Marcador de contenido 2">
            <a:extLst>
              <a:ext uri="{FF2B5EF4-FFF2-40B4-BE49-F238E27FC236}">
                <a16:creationId xmlns:a16="http://schemas.microsoft.com/office/drawing/2014/main" id="{B6D49912-C7E3-6C8C-95B1-A8A3296095AC}"/>
              </a:ext>
            </a:extLst>
          </p:cNvPr>
          <p:cNvSpPr>
            <a:spLocks noGrp="1"/>
          </p:cNvSpPr>
          <p:nvPr>
            <p:ph idx="1"/>
          </p:nvPr>
        </p:nvSpPr>
        <p:spPr/>
        <p:txBody>
          <a:bodyPr/>
          <a:lstStyle/>
          <a:p>
            <a:pPr marL="0" indent="0">
              <a:buNone/>
            </a:pPr>
            <a:r>
              <a:rPr lang="en-US" dirty="0" err="1"/>
              <a:t>Subword</a:t>
            </a:r>
            <a:r>
              <a:rPr lang="en-US" dirty="0"/>
              <a:t> tokenization</a:t>
            </a:r>
          </a:p>
          <a:p>
            <a:pPr marL="0" indent="0">
              <a:buNone/>
            </a:pPr>
            <a:endParaRPr lang="en-US" dirty="0"/>
          </a:p>
          <a:p>
            <a:r>
              <a:rPr lang="en-US" dirty="0"/>
              <a:t>Begins with a vocabulary of </a:t>
            </a:r>
            <a:r>
              <a:rPr lang="en-US" b="1" dirty="0"/>
              <a:t>single characters</a:t>
            </a:r>
            <a:r>
              <a:rPr lang="en-US" dirty="0"/>
              <a:t> as the base units.</a:t>
            </a:r>
          </a:p>
          <a:p>
            <a:r>
              <a:rPr lang="en-US" dirty="0"/>
              <a:t>Iteratively merges the </a:t>
            </a:r>
            <a:r>
              <a:rPr lang="en-US" b="1" dirty="0"/>
              <a:t>most frequent pairs of tokens</a:t>
            </a:r>
            <a:r>
              <a:rPr lang="en-US" dirty="0"/>
              <a:t> to form new tokens.</a:t>
            </a:r>
          </a:p>
          <a:p>
            <a:r>
              <a:rPr lang="en-US" dirty="0"/>
              <a:t>This merging continues until the tokenizer reaches a </a:t>
            </a:r>
            <a:r>
              <a:rPr lang="en-US" b="1" dirty="0"/>
              <a:t>predefined vocabulary size</a:t>
            </a:r>
            <a:r>
              <a:rPr lang="en-US" dirty="0"/>
              <a:t>.</a:t>
            </a:r>
          </a:p>
          <a:p>
            <a:r>
              <a:rPr lang="en-US" dirty="0"/>
              <a:t>Known for being simple and effective, and widely adopted in models like GPT and </a:t>
            </a:r>
            <a:r>
              <a:rPr lang="en-US" dirty="0" err="1"/>
              <a:t>RoBERTa</a:t>
            </a:r>
            <a:r>
              <a:rPr lang="en-US" dirty="0"/>
              <a:t>.</a:t>
            </a:r>
            <a:endParaRPr lang="es-MX" dirty="0"/>
          </a:p>
        </p:txBody>
      </p:sp>
    </p:spTree>
    <p:extLst>
      <p:ext uri="{BB962C8B-B14F-4D97-AF65-F5344CB8AC3E}">
        <p14:creationId xmlns:p14="http://schemas.microsoft.com/office/powerpoint/2010/main" val="1515801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6BCB15-AA8A-09E4-2794-48B503614529}"/>
              </a:ext>
            </a:extLst>
          </p:cNvPr>
          <p:cNvSpPr>
            <a:spLocks noGrp="1"/>
          </p:cNvSpPr>
          <p:nvPr>
            <p:ph type="title"/>
          </p:nvPr>
        </p:nvSpPr>
        <p:spPr/>
        <p:txBody>
          <a:bodyPr/>
          <a:lstStyle/>
          <a:p>
            <a:r>
              <a:rPr lang="es-MX" b="1" dirty="0" err="1"/>
              <a:t>Unigram</a:t>
            </a:r>
            <a:r>
              <a:rPr lang="es-MX" b="1" dirty="0"/>
              <a:t> </a:t>
            </a:r>
            <a:r>
              <a:rPr lang="es-MX" b="1" dirty="0" err="1"/>
              <a:t>Language</a:t>
            </a:r>
            <a:r>
              <a:rPr lang="es-MX" b="1" dirty="0"/>
              <a:t> </a:t>
            </a:r>
            <a:r>
              <a:rPr lang="es-MX" b="1" dirty="0" err="1"/>
              <a:t>Model</a:t>
            </a:r>
            <a:endParaRPr lang="es-MX" dirty="0"/>
          </a:p>
        </p:txBody>
      </p:sp>
      <p:sp>
        <p:nvSpPr>
          <p:cNvPr id="3" name="Marcador de contenido 2">
            <a:extLst>
              <a:ext uri="{FF2B5EF4-FFF2-40B4-BE49-F238E27FC236}">
                <a16:creationId xmlns:a16="http://schemas.microsoft.com/office/drawing/2014/main" id="{68024196-AC29-DB1C-8BC3-6E9590F30489}"/>
              </a:ext>
            </a:extLst>
          </p:cNvPr>
          <p:cNvSpPr>
            <a:spLocks noGrp="1"/>
          </p:cNvSpPr>
          <p:nvPr>
            <p:ph idx="1"/>
          </p:nvPr>
        </p:nvSpPr>
        <p:spPr/>
        <p:txBody>
          <a:bodyPr>
            <a:normAutofit lnSpcReduction="10000"/>
          </a:bodyPr>
          <a:lstStyle/>
          <a:p>
            <a:pPr marL="0" indent="0">
              <a:buNone/>
            </a:pPr>
            <a:r>
              <a:rPr lang="en-US" dirty="0"/>
              <a:t>the unigrams: [“Read”, “this”, “sentence”, “for”, “me”]. Here are all the bigrams: [“Read this”, “this sentence”, “sentence for”, “for me”, ”Read”, “this”, “sentence”, “for”, “me”].</a:t>
            </a:r>
          </a:p>
          <a:p>
            <a:endParaRPr lang="en-US" dirty="0"/>
          </a:p>
          <a:p>
            <a:r>
              <a:rPr lang="en-US" dirty="0"/>
              <a:t>Starts from the </a:t>
            </a:r>
            <a:r>
              <a:rPr lang="en-US" b="1" dirty="0"/>
              <a:t>entire corpus vocabulary</a:t>
            </a:r>
            <a:r>
              <a:rPr lang="en-US" dirty="0"/>
              <a:t>, including all words and possible </a:t>
            </a:r>
            <a:r>
              <a:rPr lang="en-US" dirty="0" err="1"/>
              <a:t>subwords</a:t>
            </a:r>
            <a:r>
              <a:rPr lang="en-US" dirty="0"/>
              <a:t>.</a:t>
            </a:r>
          </a:p>
          <a:p>
            <a:r>
              <a:rPr lang="en-US" dirty="0"/>
              <a:t>Then progressively </a:t>
            </a:r>
            <a:r>
              <a:rPr lang="en-US" b="1" dirty="0"/>
              <a:t>removes or splits</a:t>
            </a:r>
            <a:r>
              <a:rPr lang="en-US" dirty="0"/>
              <a:t> tokens that contribute least to performance.</a:t>
            </a:r>
          </a:p>
          <a:p>
            <a:r>
              <a:rPr lang="en-US" dirty="0"/>
              <a:t>Continues pruning until the </a:t>
            </a:r>
            <a:r>
              <a:rPr lang="en-US" b="1" dirty="0"/>
              <a:t>target vocabulary size</a:t>
            </a:r>
            <a:r>
              <a:rPr lang="en-US" dirty="0"/>
              <a:t> is reached.</a:t>
            </a:r>
          </a:p>
          <a:p>
            <a:r>
              <a:rPr lang="en-US" dirty="0"/>
              <a:t>Often performs better with diverse text types</a:t>
            </a:r>
          </a:p>
        </p:txBody>
      </p:sp>
    </p:spTree>
    <p:extLst>
      <p:ext uri="{BB962C8B-B14F-4D97-AF65-F5344CB8AC3E}">
        <p14:creationId xmlns:p14="http://schemas.microsoft.com/office/powerpoint/2010/main" val="2155430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7CC78-216E-6FB8-24F7-AC4827DBFE86}"/>
              </a:ext>
            </a:extLst>
          </p:cNvPr>
          <p:cNvSpPr>
            <a:spLocks noGrp="1"/>
          </p:cNvSpPr>
          <p:nvPr>
            <p:ph type="title"/>
          </p:nvPr>
        </p:nvSpPr>
        <p:spPr/>
        <p:txBody>
          <a:bodyPr/>
          <a:lstStyle/>
          <a:p>
            <a:r>
              <a:rPr lang="es-MX" b="1" dirty="0" err="1"/>
              <a:t>WordPiece</a:t>
            </a:r>
            <a:endParaRPr lang="es-MX" dirty="0"/>
          </a:p>
        </p:txBody>
      </p:sp>
      <p:sp>
        <p:nvSpPr>
          <p:cNvPr id="3" name="Marcador de contenido 2">
            <a:extLst>
              <a:ext uri="{FF2B5EF4-FFF2-40B4-BE49-F238E27FC236}">
                <a16:creationId xmlns:a16="http://schemas.microsoft.com/office/drawing/2014/main" id="{81BF92D0-82B7-444E-D67D-9FA2514D51C2}"/>
              </a:ext>
            </a:extLst>
          </p:cNvPr>
          <p:cNvSpPr>
            <a:spLocks noGrp="1"/>
          </p:cNvSpPr>
          <p:nvPr>
            <p:ph idx="1"/>
          </p:nvPr>
        </p:nvSpPr>
        <p:spPr/>
        <p:txBody>
          <a:bodyPr/>
          <a:lstStyle/>
          <a:p>
            <a:r>
              <a:rPr lang="en-US" dirty="0"/>
              <a:t>A predecessor to Unigram, used in BERT.</a:t>
            </a:r>
          </a:p>
          <a:p>
            <a:r>
              <a:rPr lang="en-US" dirty="0"/>
              <a:t>Focuses on </a:t>
            </a:r>
            <a:r>
              <a:rPr lang="en-US" b="1" dirty="0"/>
              <a:t>maximizing the likelihood of the training data</a:t>
            </a:r>
            <a:r>
              <a:rPr lang="en-US" dirty="0"/>
              <a:t> using a fixed vocabulary.</a:t>
            </a:r>
          </a:p>
          <a:p>
            <a:r>
              <a:rPr lang="en-US" dirty="0"/>
              <a:t>The official implementation by Google was </a:t>
            </a:r>
            <a:r>
              <a:rPr lang="en-US" b="1" dirty="0"/>
              <a:t>never open-sourced</a:t>
            </a:r>
            <a:r>
              <a:rPr lang="en-US" dirty="0"/>
              <a:t>, but alternatives exist.</a:t>
            </a:r>
          </a:p>
          <a:p>
            <a:pPr marL="0" indent="0">
              <a:buNone/>
            </a:pPr>
            <a:endParaRPr lang="es-MX" dirty="0"/>
          </a:p>
        </p:txBody>
      </p:sp>
    </p:spTree>
    <p:extLst>
      <p:ext uri="{BB962C8B-B14F-4D97-AF65-F5344CB8AC3E}">
        <p14:creationId xmlns:p14="http://schemas.microsoft.com/office/powerpoint/2010/main" val="669460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666A7C-054A-CAA8-548A-080936A92B69}"/>
              </a:ext>
            </a:extLst>
          </p:cNvPr>
          <p:cNvSpPr>
            <a:spLocks noGrp="1"/>
          </p:cNvSpPr>
          <p:nvPr>
            <p:ph type="title"/>
          </p:nvPr>
        </p:nvSpPr>
        <p:spPr/>
        <p:txBody>
          <a:bodyPr/>
          <a:lstStyle/>
          <a:p>
            <a:r>
              <a:rPr lang="es-MX" b="1" dirty="0"/>
              <a:t>Comparative </a:t>
            </a:r>
            <a:r>
              <a:rPr lang="es-MX" b="1" dirty="0" err="1"/>
              <a:t>Insights</a:t>
            </a:r>
            <a:endParaRPr lang="es-MX" dirty="0"/>
          </a:p>
        </p:txBody>
      </p:sp>
      <p:sp>
        <p:nvSpPr>
          <p:cNvPr id="3" name="Marcador de contenido 2">
            <a:extLst>
              <a:ext uri="{FF2B5EF4-FFF2-40B4-BE49-F238E27FC236}">
                <a16:creationId xmlns:a16="http://schemas.microsoft.com/office/drawing/2014/main" id="{2927B55C-B1A4-939D-3A2C-1DCAD2F28FBB}"/>
              </a:ext>
            </a:extLst>
          </p:cNvPr>
          <p:cNvSpPr>
            <a:spLocks noGrp="1"/>
          </p:cNvSpPr>
          <p:nvPr>
            <p:ph idx="1"/>
          </p:nvPr>
        </p:nvSpPr>
        <p:spPr/>
        <p:txBody>
          <a:bodyPr/>
          <a:lstStyle/>
          <a:p>
            <a:r>
              <a:rPr lang="en-US" b="1" dirty="0"/>
              <a:t>No single algorithm is universally superior</a:t>
            </a:r>
            <a:r>
              <a:rPr lang="en-US" dirty="0"/>
              <a:t>; performance depends on the dataset and task.</a:t>
            </a:r>
          </a:p>
          <a:p>
            <a:r>
              <a:rPr lang="en-US" b="1" dirty="0"/>
              <a:t>BPE</a:t>
            </a:r>
            <a:r>
              <a:rPr lang="en-US" dirty="0"/>
              <a:t> and </a:t>
            </a:r>
            <a:r>
              <a:rPr lang="en-US" b="1" dirty="0"/>
              <a:t>Unigram</a:t>
            </a:r>
            <a:r>
              <a:rPr lang="en-US" dirty="0"/>
              <a:t> generally offer </a:t>
            </a:r>
            <a:r>
              <a:rPr lang="en-US" b="1" dirty="0"/>
              <a:t>strong and consistent results</a:t>
            </a:r>
            <a:r>
              <a:rPr lang="en-US" dirty="0"/>
              <a:t> across many scenarios.</a:t>
            </a:r>
          </a:p>
          <a:p>
            <a:pPr marL="0" indent="0">
              <a:buNone/>
            </a:pPr>
            <a:endParaRPr lang="en-US" dirty="0"/>
          </a:p>
          <a:p>
            <a:pPr marL="0" indent="0">
              <a:buNone/>
            </a:pPr>
            <a:r>
              <a:rPr lang="en-US" dirty="0"/>
              <a:t>evaluation criteria include:</a:t>
            </a:r>
          </a:p>
          <a:p>
            <a:r>
              <a:rPr lang="en-US" dirty="0"/>
              <a:t>Token efficiency (fewer tokens per sentence)</a:t>
            </a:r>
          </a:p>
          <a:p>
            <a:r>
              <a:rPr lang="en-US" dirty="0"/>
              <a:t>Handling of domain-specific words</a:t>
            </a:r>
          </a:p>
          <a:p>
            <a:r>
              <a:rPr lang="en-US" dirty="0"/>
              <a:t>Vocabulary adaptability, language and size</a:t>
            </a:r>
          </a:p>
          <a:p>
            <a:pPr marL="0" indent="0">
              <a:buNone/>
            </a:pPr>
            <a:endParaRPr lang="es-MX" dirty="0"/>
          </a:p>
        </p:txBody>
      </p:sp>
    </p:spTree>
    <p:extLst>
      <p:ext uri="{BB962C8B-B14F-4D97-AF65-F5344CB8AC3E}">
        <p14:creationId xmlns:p14="http://schemas.microsoft.com/office/powerpoint/2010/main" val="3657970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E0F9A-2CB9-CB1C-ECE3-D778459C5A2C}"/>
              </a:ext>
            </a:extLst>
          </p:cNvPr>
          <p:cNvSpPr>
            <a:spLocks noGrp="1"/>
          </p:cNvSpPr>
          <p:nvPr>
            <p:ph type="title"/>
          </p:nvPr>
        </p:nvSpPr>
        <p:spPr/>
        <p:txBody>
          <a:bodyPr/>
          <a:lstStyle/>
          <a:p>
            <a:r>
              <a:rPr lang="es-CO" b="1" dirty="0" err="1"/>
              <a:t>Types</a:t>
            </a:r>
            <a:r>
              <a:rPr lang="es-CO" b="1" dirty="0"/>
              <a:t> </a:t>
            </a:r>
            <a:r>
              <a:rPr lang="es-CO" b="1" dirty="0" err="1"/>
              <a:t>of</a:t>
            </a:r>
            <a:r>
              <a:rPr lang="es-CO" b="1" dirty="0"/>
              <a:t> </a:t>
            </a:r>
            <a:r>
              <a:rPr lang="es-CO" b="1" dirty="0" err="1"/>
              <a:t>Pre-training</a:t>
            </a:r>
            <a:r>
              <a:rPr lang="es-CO" b="1" dirty="0"/>
              <a:t> </a:t>
            </a:r>
            <a:r>
              <a:rPr lang="es-CO" b="1" dirty="0" err="1"/>
              <a:t>of</a:t>
            </a:r>
            <a:r>
              <a:rPr lang="es-CO" b="1" dirty="0"/>
              <a:t> </a:t>
            </a:r>
            <a:r>
              <a:rPr lang="es-CO" b="1" dirty="0" err="1"/>
              <a:t>LLMs</a:t>
            </a:r>
            <a:endParaRPr lang="es-MX" b="1" dirty="0"/>
          </a:p>
        </p:txBody>
      </p:sp>
      <p:sp>
        <p:nvSpPr>
          <p:cNvPr id="3" name="Marcador de contenido 2">
            <a:extLst>
              <a:ext uri="{FF2B5EF4-FFF2-40B4-BE49-F238E27FC236}">
                <a16:creationId xmlns:a16="http://schemas.microsoft.com/office/drawing/2014/main" id="{C6F1EFAF-ECE0-9DCE-A101-7B53C49921B3}"/>
              </a:ext>
            </a:extLst>
          </p:cNvPr>
          <p:cNvSpPr>
            <a:spLocks noGrp="1"/>
          </p:cNvSpPr>
          <p:nvPr>
            <p:ph idx="1"/>
          </p:nvPr>
        </p:nvSpPr>
        <p:spPr/>
        <p:txBody>
          <a:bodyPr>
            <a:normAutofit fontScale="92500" lnSpcReduction="20000"/>
          </a:bodyPr>
          <a:lstStyle/>
          <a:p>
            <a:pPr marL="0" indent="0" algn="just">
              <a:buNone/>
            </a:pPr>
            <a:r>
              <a:rPr lang="es-CO" dirty="0" err="1"/>
              <a:t>Supervised</a:t>
            </a:r>
            <a:r>
              <a:rPr lang="es-CO" dirty="0"/>
              <a:t> (</a:t>
            </a:r>
            <a:r>
              <a:rPr lang="es-CO" dirty="0" err="1"/>
              <a:t>sequence</a:t>
            </a:r>
            <a:r>
              <a:rPr lang="es-CO" dirty="0"/>
              <a:t> </a:t>
            </a:r>
            <a:r>
              <a:rPr lang="es-CO" dirty="0" err="1"/>
              <a:t>to</a:t>
            </a:r>
            <a:r>
              <a:rPr lang="es-CO" dirty="0"/>
              <a:t> </a:t>
            </a:r>
            <a:r>
              <a:rPr lang="es-CO" dirty="0" err="1"/>
              <a:t>sequence</a:t>
            </a:r>
            <a:r>
              <a:rPr lang="es-CO" dirty="0"/>
              <a:t>)</a:t>
            </a:r>
          </a:p>
          <a:p>
            <a:pPr marL="0" indent="0" algn="just">
              <a:buNone/>
            </a:pPr>
            <a:endParaRPr lang="es-CO" dirty="0"/>
          </a:p>
          <a:p>
            <a:pPr algn="just"/>
            <a:r>
              <a:rPr lang="es-CO" dirty="0"/>
              <a:t>Corpus </a:t>
            </a:r>
            <a:r>
              <a:rPr lang="es-CO" dirty="0" err="1"/>
              <a:t>of</a:t>
            </a:r>
            <a:r>
              <a:rPr lang="es-CO" dirty="0"/>
              <a:t> </a:t>
            </a:r>
            <a:r>
              <a:rPr lang="es-CO" dirty="0" err="1"/>
              <a:t>questions</a:t>
            </a:r>
            <a:r>
              <a:rPr lang="es-CO" dirty="0"/>
              <a:t> and </a:t>
            </a:r>
            <a:r>
              <a:rPr lang="es-CO" dirty="0" err="1"/>
              <a:t>answers</a:t>
            </a:r>
            <a:endParaRPr lang="es-CO" dirty="0"/>
          </a:p>
          <a:p>
            <a:pPr algn="just"/>
            <a:r>
              <a:rPr lang="es-CO" dirty="0"/>
              <a:t>Corpus </a:t>
            </a:r>
            <a:r>
              <a:rPr lang="es-CO" dirty="0" err="1"/>
              <a:t>of</a:t>
            </a:r>
            <a:r>
              <a:rPr lang="es-CO" dirty="0"/>
              <a:t> </a:t>
            </a:r>
            <a:r>
              <a:rPr lang="es-CO" dirty="0" err="1"/>
              <a:t>papers</a:t>
            </a:r>
            <a:r>
              <a:rPr lang="es-CO" dirty="0"/>
              <a:t> and </a:t>
            </a:r>
            <a:r>
              <a:rPr lang="es-CO" dirty="0" err="1"/>
              <a:t>abstracts</a:t>
            </a:r>
            <a:endParaRPr lang="es-CO" dirty="0"/>
          </a:p>
          <a:p>
            <a:pPr marL="0" indent="0" algn="just">
              <a:buNone/>
            </a:pPr>
            <a:endParaRPr lang="es-CO" dirty="0"/>
          </a:p>
          <a:p>
            <a:pPr marL="0" indent="0" algn="just">
              <a:buNone/>
            </a:pPr>
            <a:endParaRPr lang="es-CO" dirty="0"/>
          </a:p>
          <a:p>
            <a:pPr marL="0" indent="0" algn="just">
              <a:buNone/>
            </a:pPr>
            <a:r>
              <a:rPr lang="es-CO" dirty="0" err="1"/>
              <a:t>Unsupervised</a:t>
            </a:r>
            <a:r>
              <a:rPr lang="es-CO" dirty="0"/>
              <a:t> (</a:t>
            </a:r>
            <a:r>
              <a:rPr lang="es-CO" dirty="0" err="1"/>
              <a:t>context</a:t>
            </a:r>
            <a:r>
              <a:rPr lang="es-CO" dirty="0"/>
              <a:t> </a:t>
            </a:r>
            <a:r>
              <a:rPr lang="es-CO" dirty="0" err="1"/>
              <a:t>or</a:t>
            </a:r>
            <a:r>
              <a:rPr lang="es-CO" dirty="0"/>
              <a:t> </a:t>
            </a:r>
            <a:r>
              <a:rPr lang="es-CO" dirty="0" err="1"/>
              <a:t>hidding</a:t>
            </a:r>
            <a:r>
              <a:rPr lang="es-CO" dirty="0"/>
              <a:t>)</a:t>
            </a:r>
          </a:p>
          <a:p>
            <a:pPr marL="0" indent="0" algn="just">
              <a:buNone/>
            </a:pPr>
            <a:endParaRPr lang="es-CO" dirty="0"/>
          </a:p>
          <a:p>
            <a:pPr algn="just"/>
            <a:r>
              <a:rPr lang="es-CO" dirty="0" err="1"/>
              <a:t>Mask</a:t>
            </a:r>
            <a:r>
              <a:rPr lang="es-CO" dirty="0"/>
              <a:t> </a:t>
            </a:r>
            <a:r>
              <a:rPr lang="es-CO" dirty="0" err="1"/>
              <a:t>Modelling</a:t>
            </a:r>
            <a:r>
              <a:rPr lang="es-CO" dirty="0"/>
              <a:t> </a:t>
            </a:r>
            <a:r>
              <a:rPr lang="es-CO" dirty="0" err="1"/>
              <a:t>Language</a:t>
            </a:r>
            <a:r>
              <a:rPr lang="es-CO" dirty="0"/>
              <a:t> (MML): </a:t>
            </a:r>
            <a:r>
              <a:rPr lang="en-US" dirty="0"/>
              <a:t>“The [MASK] sat on the mat”</a:t>
            </a:r>
          </a:p>
          <a:p>
            <a:pPr algn="just"/>
            <a:r>
              <a:rPr lang="en-US" dirty="0"/>
              <a:t>Next Sentence Prediction (NSP): “The cat sat on the _______”</a:t>
            </a:r>
          </a:p>
          <a:p>
            <a:pPr algn="just"/>
            <a:endParaRPr lang="en-US" dirty="0"/>
          </a:p>
          <a:p>
            <a:pPr algn="just"/>
            <a:endParaRPr lang="en-US" dirty="0"/>
          </a:p>
          <a:p>
            <a:pPr algn="just"/>
            <a:endParaRPr lang="es-CO" dirty="0"/>
          </a:p>
          <a:p>
            <a:pPr algn="just"/>
            <a:endParaRPr lang="es-MX" dirty="0"/>
          </a:p>
        </p:txBody>
      </p:sp>
    </p:spTree>
    <p:extLst>
      <p:ext uri="{BB962C8B-B14F-4D97-AF65-F5344CB8AC3E}">
        <p14:creationId xmlns:p14="http://schemas.microsoft.com/office/powerpoint/2010/main" val="2766938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196F0-7739-F76A-7F3E-FD494D06F6BC}"/>
              </a:ext>
            </a:extLst>
          </p:cNvPr>
          <p:cNvSpPr>
            <a:spLocks noGrp="1"/>
          </p:cNvSpPr>
          <p:nvPr>
            <p:ph type="title"/>
          </p:nvPr>
        </p:nvSpPr>
        <p:spPr/>
        <p:txBody>
          <a:bodyPr/>
          <a:lstStyle/>
          <a:p>
            <a:r>
              <a:rPr lang="es-CO" dirty="0"/>
              <a:t>BERT: </a:t>
            </a:r>
            <a:r>
              <a:rPr lang="es-MX" sz="4000" b="1" dirty="0" err="1"/>
              <a:t>Bidirectional</a:t>
            </a:r>
            <a:r>
              <a:rPr lang="es-MX" sz="4000" b="1" dirty="0"/>
              <a:t> </a:t>
            </a:r>
            <a:r>
              <a:rPr lang="es-MX" sz="4000" b="1" dirty="0" err="1"/>
              <a:t>Encoder</a:t>
            </a:r>
            <a:r>
              <a:rPr lang="es-MX" sz="4000" b="1" dirty="0"/>
              <a:t> </a:t>
            </a:r>
            <a:r>
              <a:rPr lang="es-MX" sz="4000" b="1" dirty="0" err="1"/>
              <a:t>Representations</a:t>
            </a:r>
            <a:r>
              <a:rPr lang="es-MX" sz="4000" b="1" dirty="0"/>
              <a:t> </a:t>
            </a:r>
            <a:r>
              <a:rPr lang="es-MX" sz="4000" b="1" dirty="0" err="1"/>
              <a:t>from</a:t>
            </a:r>
            <a:r>
              <a:rPr lang="es-MX" sz="4000" b="1" dirty="0"/>
              <a:t> Transformers</a:t>
            </a:r>
            <a:endParaRPr lang="es-MX" sz="4000" dirty="0"/>
          </a:p>
        </p:txBody>
      </p:sp>
      <p:sp>
        <p:nvSpPr>
          <p:cNvPr id="3" name="Marcador de contenido 2">
            <a:extLst>
              <a:ext uri="{FF2B5EF4-FFF2-40B4-BE49-F238E27FC236}">
                <a16:creationId xmlns:a16="http://schemas.microsoft.com/office/drawing/2014/main" id="{B8AA3058-B2B9-6FDE-5168-017468AC759E}"/>
              </a:ext>
            </a:extLst>
          </p:cNvPr>
          <p:cNvSpPr>
            <a:spLocks noGrp="1"/>
          </p:cNvSpPr>
          <p:nvPr>
            <p:ph idx="1"/>
          </p:nvPr>
        </p:nvSpPr>
        <p:spPr>
          <a:xfrm>
            <a:off x="838200" y="2141537"/>
            <a:ext cx="10515600" cy="3640138"/>
          </a:xfrm>
        </p:spPr>
        <p:txBody>
          <a:bodyPr/>
          <a:lstStyle/>
          <a:p>
            <a:pPr algn="just">
              <a:buFontTx/>
              <a:buChar char="-"/>
            </a:pPr>
            <a:r>
              <a:rPr lang="es-CO" dirty="0"/>
              <a:t>Deep </a:t>
            </a:r>
            <a:r>
              <a:rPr lang="es-CO" dirty="0" err="1"/>
              <a:t>context</a:t>
            </a:r>
            <a:r>
              <a:rPr lang="es-CO" dirty="0"/>
              <a:t> </a:t>
            </a:r>
            <a:r>
              <a:rPr lang="es-CO" dirty="0" err="1"/>
              <a:t>understanding</a:t>
            </a:r>
            <a:r>
              <a:rPr lang="es-CO" dirty="0"/>
              <a:t> </a:t>
            </a:r>
            <a:r>
              <a:rPr lang="es-CO" dirty="0" err="1"/>
              <a:t>using</a:t>
            </a:r>
            <a:r>
              <a:rPr lang="es-CO" dirty="0"/>
              <a:t> </a:t>
            </a:r>
            <a:r>
              <a:rPr lang="es-CO" dirty="0" err="1"/>
              <a:t>both</a:t>
            </a:r>
            <a:r>
              <a:rPr lang="es-CO" dirty="0"/>
              <a:t> MML and NSP</a:t>
            </a:r>
          </a:p>
          <a:p>
            <a:pPr marL="0" indent="0" algn="just">
              <a:buNone/>
            </a:pPr>
            <a:endParaRPr lang="es-CO" dirty="0"/>
          </a:p>
          <a:p>
            <a:pPr algn="just">
              <a:buFontTx/>
              <a:buChar char="-"/>
            </a:pPr>
            <a:r>
              <a:rPr lang="es-CO" dirty="0" err="1"/>
              <a:t>Entity</a:t>
            </a:r>
            <a:r>
              <a:rPr lang="es-CO" dirty="0"/>
              <a:t> </a:t>
            </a:r>
            <a:r>
              <a:rPr lang="es-CO" dirty="0" err="1"/>
              <a:t>Name</a:t>
            </a:r>
            <a:r>
              <a:rPr lang="es-CO" dirty="0"/>
              <a:t> </a:t>
            </a:r>
            <a:r>
              <a:rPr lang="es-CO" dirty="0" err="1"/>
              <a:t>Recognition</a:t>
            </a:r>
            <a:r>
              <a:rPr lang="es-CO" dirty="0"/>
              <a:t>, </a:t>
            </a:r>
            <a:r>
              <a:rPr lang="es-CO" dirty="0" err="1"/>
              <a:t>Question</a:t>
            </a:r>
            <a:r>
              <a:rPr lang="es-CO" dirty="0"/>
              <a:t> and </a:t>
            </a:r>
            <a:r>
              <a:rPr lang="es-CO" dirty="0" err="1"/>
              <a:t>Answer</a:t>
            </a:r>
            <a:r>
              <a:rPr lang="es-CO" dirty="0"/>
              <a:t>, and </a:t>
            </a:r>
            <a:r>
              <a:rPr lang="es-CO" dirty="0" err="1"/>
              <a:t>Sentiment</a:t>
            </a:r>
            <a:r>
              <a:rPr lang="es-CO" dirty="0"/>
              <a:t> </a:t>
            </a:r>
            <a:r>
              <a:rPr lang="es-CO" dirty="0" err="1"/>
              <a:t>Analysis</a:t>
            </a:r>
            <a:endParaRPr lang="es-CO" dirty="0"/>
          </a:p>
          <a:p>
            <a:pPr marL="0" indent="0" algn="just">
              <a:buNone/>
            </a:pPr>
            <a:endParaRPr lang="es-CO" dirty="0"/>
          </a:p>
          <a:p>
            <a:pPr algn="just">
              <a:buFontTx/>
              <a:buChar char="-"/>
            </a:pPr>
            <a:r>
              <a:rPr lang="es-CO" dirty="0" err="1"/>
              <a:t>Since</a:t>
            </a:r>
            <a:r>
              <a:rPr lang="es-CO" dirty="0"/>
              <a:t> </a:t>
            </a:r>
            <a:r>
              <a:rPr lang="es-CO" dirty="0" err="1"/>
              <a:t>it’s</a:t>
            </a:r>
            <a:r>
              <a:rPr lang="es-CO" dirty="0"/>
              <a:t> </a:t>
            </a:r>
            <a:r>
              <a:rPr lang="es-CO" dirty="0" err="1"/>
              <a:t>encoder</a:t>
            </a:r>
            <a:r>
              <a:rPr lang="es-CO" dirty="0"/>
              <a:t> </a:t>
            </a:r>
            <a:r>
              <a:rPr lang="es-CO" dirty="0" err="1"/>
              <a:t>only</a:t>
            </a:r>
            <a:r>
              <a:rPr lang="es-CO" dirty="0"/>
              <a:t>, </a:t>
            </a:r>
            <a:r>
              <a:rPr lang="es-CO" dirty="0" err="1"/>
              <a:t>cannot</a:t>
            </a:r>
            <a:r>
              <a:rPr lang="es-CO" dirty="0"/>
              <a:t> </a:t>
            </a:r>
            <a:r>
              <a:rPr lang="es-CO" dirty="0" err="1"/>
              <a:t>generate</a:t>
            </a:r>
            <a:r>
              <a:rPr lang="es-CO" dirty="0"/>
              <a:t> </a:t>
            </a:r>
            <a:r>
              <a:rPr lang="es-CO" dirty="0" err="1"/>
              <a:t>text</a:t>
            </a:r>
            <a:endParaRPr lang="es-MX" dirty="0"/>
          </a:p>
        </p:txBody>
      </p:sp>
      <p:sp>
        <p:nvSpPr>
          <p:cNvPr id="5" name="CuadroTexto 4">
            <a:hlinkClick r:id="rId2"/>
            <a:extLst>
              <a:ext uri="{FF2B5EF4-FFF2-40B4-BE49-F238E27FC236}">
                <a16:creationId xmlns:a16="http://schemas.microsoft.com/office/drawing/2014/main" id="{B239BA31-9C98-8AF6-CA92-89A836C55A1D}"/>
              </a:ext>
            </a:extLst>
          </p:cNvPr>
          <p:cNvSpPr txBox="1"/>
          <p:nvPr/>
        </p:nvSpPr>
        <p:spPr>
          <a:xfrm>
            <a:off x="5343525" y="6127234"/>
            <a:ext cx="6096000" cy="523220"/>
          </a:xfrm>
          <a:prstGeom prst="rect">
            <a:avLst/>
          </a:prstGeom>
          <a:noFill/>
        </p:spPr>
        <p:txBody>
          <a:bodyPr wrap="square">
            <a:spAutoFit/>
          </a:bodyPr>
          <a:lstStyle/>
          <a:p>
            <a:pPr algn="r"/>
            <a:r>
              <a:rPr lang="es-MX" sz="2800" dirty="0" err="1"/>
              <a:t>Devlin</a:t>
            </a:r>
            <a:r>
              <a:rPr lang="es-MX" sz="2800" dirty="0"/>
              <a:t>, 2018</a:t>
            </a:r>
          </a:p>
        </p:txBody>
      </p:sp>
    </p:spTree>
    <p:extLst>
      <p:ext uri="{BB962C8B-B14F-4D97-AF65-F5344CB8AC3E}">
        <p14:creationId xmlns:p14="http://schemas.microsoft.com/office/powerpoint/2010/main" val="2032426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F0E98-A014-0A10-0CB4-131B55ABE522}"/>
              </a:ext>
            </a:extLst>
          </p:cNvPr>
          <p:cNvSpPr>
            <a:spLocks noGrp="1"/>
          </p:cNvSpPr>
          <p:nvPr>
            <p:ph type="title"/>
          </p:nvPr>
        </p:nvSpPr>
        <p:spPr/>
        <p:txBody>
          <a:bodyPr>
            <a:normAutofit/>
          </a:bodyPr>
          <a:lstStyle/>
          <a:p>
            <a:r>
              <a:rPr lang="en-US" b="1" dirty="0">
                <a:solidFill>
                  <a:srgbClr val="131314"/>
                </a:solidFill>
                <a:effectLst/>
                <a:latin typeface="Google Sans"/>
              </a:rPr>
              <a:t>Fine-tuning of LLMs</a:t>
            </a:r>
            <a:endParaRPr lang="es-MX" b="1" dirty="0"/>
          </a:p>
        </p:txBody>
      </p:sp>
      <p:sp>
        <p:nvSpPr>
          <p:cNvPr id="3" name="Marcador de contenido 2">
            <a:extLst>
              <a:ext uri="{FF2B5EF4-FFF2-40B4-BE49-F238E27FC236}">
                <a16:creationId xmlns:a16="http://schemas.microsoft.com/office/drawing/2014/main" id="{C4079BB3-962B-5D0F-966A-33B8E2ED2D55}"/>
              </a:ext>
            </a:extLst>
          </p:cNvPr>
          <p:cNvSpPr>
            <a:spLocks noGrp="1"/>
          </p:cNvSpPr>
          <p:nvPr>
            <p:ph idx="1"/>
          </p:nvPr>
        </p:nvSpPr>
        <p:spPr>
          <a:xfrm>
            <a:off x="838200" y="2838449"/>
            <a:ext cx="10515600" cy="3338513"/>
          </a:xfrm>
        </p:spPr>
        <p:txBody>
          <a:bodyPr/>
          <a:lstStyle/>
          <a:p>
            <a:pPr marL="0" indent="0" algn="just">
              <a:buNone/>
            </a:pPr>
            <a:r>
              <a:rPr lang="en-US" b="0" i="0" dirty="0">
                <a:solidFill>
                  <a:srgbClr val="131314"/>
                </a:solidFill>
                <a:effectLst/>
                <a:latin typeface="Google Sans Text"/>
              </a:rPr>
              <a:t>A post-pre-training stage in the development of Large Language Models (LLMs). After the "pre-training" on massive, diverse datasets to learn general language understanding and generation, fine-tuning specializes the model for specific tasks or domains.</a:t>
            </a:r>
            <a:endParaRPr lang="es-MX" dirty="0"/>
          </a:p>
        </p:txBody>
      </p:sp>
    </p:spTree>
    <p:extLst>
      <p:ext uri="{BB962C8B-B14F-4D97-AF65-F5344CB8AC3E}">
        <p14:creationId xmlns:p14="http://schemas.microsoft.com/office/powerpoint/2010/main" val="1736420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844BE-47C1-201B-5248-54EBFFD8BAA2}"/>
              </a:ext>
            </a:extLst>
          </p:cNvPr>
          <p:cNvSpPr>
            <a:spLocks noGrp="1"/>
          </p:cNvSpPr>
          <p:nvPr>
            <p:ph type="title"/>
          </p:nvPr>
        </p:nvSpPr>
        <p:spPr>
          <a:xfrm>
            <a:off x="838200" y="-28067"/>
            <a:ext cx="10515600" cy="1325563"/>
          </a:xfrm>
        </p:spPr>
        <p:txBody>
          <a:bodyPr/>
          <a:lstStyle/>
          <a:p>
            <a:r>
              <a:rPr lang="es-CO" b="1" dirty="0"/>
              <a:t>Fine </a:t>
            </a:r>
            <a:r>
              <a:rPr lang="es-CO" b="1" dirty="0" err="1"/>
              <a:t>tuneable</a:t>
            </a:r>
            <a:r>
              <a:rPr lang="es-CO" b="1" dirty="0"/>
              <a:t> </a:t>
            </a:r>
            <a:r>
              <a:rPr lang="es-CO" b="1" dirty="0" err="1"/>
              <a:t>LLMs</a:t>
            </a:r>
            <a:endParaRPr lang="es-CO" b="1" dirty="0"/>
          </a:p>
        </p:txBody>
      </p:sp>
      <p:graphicFrame>
        <p:nvGraphicFramePr>
          <p:cNvPr id="4" name="Marcador de contenido 3">
            <a:extLst>
              <a:ext uri="{FF2B5EF4-FFF2-40B4-BE49-F238E27FC236}">
                <a16:creationId xmlns:a16="http://schemas.microsoft.com/office/drawing/2014/main" id="{9045148C-72AB-8081-AF57-7E3A141A6BFB}"/>
              </a:ext>
            </a:extLst>
          </p:cNvPr>
          <p:cNvGraphicFramePr>
            <a:graphicFrameLocks noGrp="1"/>
          </p:cNvGraphicFramePr>
          <p:nvPr>
            <p:ph idx="1"/>
            <p:extLst>
              <p:ext uri="{D42A27DB-BD31-4B8C-83A1-F6EECF244321}">
                <p14:modId xmlns:p14="http://schemas.microsoft.com/office/powerpoint/2010/main" val="2682099371"/>
              </p:ext>
            </p:extLst>
          </p:nvPr>
        </p:nvGraphicFramePr>
        <p:xfrm>
          <a:off x="210206" y="1110487"/>
          <a:ext cx="11698016" cy="5306186"/>
        </p:xfrm>
        <a:graphic>
          <a:graphicData uri="http://schemas.openxmlformats.org/drawingml/2006/table">
            <a:tbl>
              <a:tblPr firstRow="1" bandRow="1">
                <a:tableStyleId>{5940675A-B579-460E-94D1-54222C63F5DA}</a:tableStyleId>
              </a:tblPr>
              <a:tblGrid>
                <a:gridCol w="2043685">
                  <a:extLst>
                    <a:ext uri="{9D8B030D-6E8A-4147-A177-3AD203B41FA5}">
                      <a16:colId xmlns:a16="http://schemas.microsoft.com/office/drawing/2014/main" val="311622326"/>
                    </a:ext>
                  </a:extLst>
                </a:gridCol>
                <a:gridCol w="1044961">
                  <a:extLst>
                    <a:ext uri="{9D8B030D-6E8A-4147-A177-3AD203B41FA5}">
                      <a16:colId xmlns:a16="http://schemas.microsoft.com/office/drawing/2014/main" val="1132802877"/>
                    </a:ext>
                  </a:extLst>
                </a:gridCol>
                <a:gridCol w="1026466">
                  <a:extLst>
                    <a:ext uri="{9D8B030D-6E8A-4147-A177-3AD203B41FA5}">
                      <a16:colId xmlns:a16="http://schemas.microsoft.com/office/drawing/2014/main" val="191912930"/>
                    </a:ext>
                  </a:extLst>
                </a:gridCol>
                <a:gridCol w="2062180">
                  <a:extLst>
                    <a:ext uri="{9D8B030D-6E8A-4147-A177-3AD203B41FA5}">
                      <a16:colId xmlns:a16="http://schemas.microsoft.com/office/drawing/2014/main" val="1660345312"/>
                    </a:ext>
                  </a:extLst>
                </a:gridCol>
                <a:gridCol w="2540707">
                  <a:extLst>
                    <a:ext uri="{9D8B030D-6E8A-4147-A177-3AD203B41FA5}">
                      <a16:colId xmlns:a16="http://schemas.microsoft.com/office/drawing/2014/main" val="764027199"/>
                    </a:ext>
                  </a:extLst>
                </a:gridCol>
                <a:gridCol w="2980017">
                  <a:extLst>
                    <a:ext uri="{9D8B030D-6E8A-4147-A177-3AD203B41FA5}">
                      <a16:colId xmlns:a16="http://schemas.microsoft.com/office/drawing/2014/main" val="2695062044"/>
                    </a:ext>
                  </a:extLst>
                </a:gridCol>
              </a:tblGrid>
              <a:tr h="654057">
                <a:tc>
                  <a:txBody>
                    <a:bodyPr/>
                    <a:lstStyle/>
                    <a:p>
                      <a:pPr algn="ctr"/>
                      <a:r>
                        <a:rPr lang="es-CO" b="1" dirty="0"/>
                        <a:t>LLM</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Type</a:t>
                      </a:r>
                      <a:endParaRPr lang="es-CO"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Size</a:t>
                      </a:r>
                      <a:r>
                        <a:rPr lang="es-CO" b="1" dirty="0"/>
                        <a:t> (MP)</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Pre-trained</a:t>
                      </a:r>
                      <a:endParaRPr lang="es-CO" b="1" dirty="0"/>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a:t>Use</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s-CO" b="1" dirty="0" err="1"/>
                        <a:t>Paper</a:t>
                      </a:r>
                      <a:endParaRPr lang="es-CO" b="1" dirty="0"/>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767744283"/>
                  </a:ext>
                </a:extLst>
              </a:tr>
              <a:tr h="1060604">
                <a:tc>
                  <a:txBody>
                    <a:bodyPr/>
                    <a:lstStyle/>
                    <a:p>
                      <a:pPr algn="ctr"/>
                      <a:r>
                        <a:rPr lang="es-CO" b="1" dirty="0"/>
                        <a:t>T5</a:t>
                      </a:r>
                    </a:p>
                    <a:p>
                      <a:pPr algn="ctr"/>
                      <a:r>
                        <a:rPr lang="es-CO" sz="1400" dirty="0"/>
                        <a:t>Text-</a:t>
                      </a:r>
                      <a:r>
                        <a:rPr lang="es-CO" sz="1400" dirty="0" err="1"/>
                        <a:t>To</a:t>
                      </a:r>
                      <a:r>
                        <a:rPr lang="es-CO" sz="1400" dirty="0"/>
                        <a:t>-Text Transfer </a:t>
                      </a:r>
                      <a:r>
                        <a:rPr lang="es-CO" sz="1400" dirty="0" err="1"/>
                        <a:t>Transformer</a:t>
                      </a:r>
                      <a:endParaRPr lang="es-CO" sz="1400"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Encoder-decoder</a:t>
                      </a:r>
                      <a:endParaRPr lang="es-CO" sz="1600" b="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60</a:t>
                      </a:r>
                      <a:endParaRPr lang="es-CO" sz="1600" b="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C4 </a:t>
                      </a:r>
                      <a:r>
                        <a:rPr lang="es-CO" sz="1600" dirty="0" err="1"/>
                        <a:t>dataset</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translation, summarization, question answering</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Colin </a:t>
                      </a:r>
                      <a:r>
                        <a:rPr lang="es-CO" sz="1600" dirty="0" err="1"/>
                        <a:t>Raffel</a:t>
                      </a:r>
                      <a:r>
                        <a:rPr lang="es-CO" sz="1600" dirty="0"/>
                        <a:t> et al. (Google), 2019</a:t>
                      </a:r>
                      <a:endParaRPr lang="es-CO" sz="1600" b="0"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1245790"/>
                  </a:ext>
                </a:extLst>
              </a:tr>
              <a:tr h="1121241">
                <a:tc>
                  <a:txBody>
                    <a:bodyPr/>
                    <a:lstStyle/>
                    <a:p>
                      <a:pPr algn="ctr"/>
                      <a:r>
                        <a:rPr lang="es-CO" b="1" dirty="0"/>
                        <a:t>FLAN T5</a:t>
                      </a:r>
                    </a:p>
                    <a:p>
                      <a:pPr algn="ctr"/>
                      <a:r>
                        <a:rPr lang="es-CO" sz="1600" dirty="0"/>
                        <a:t>Fine-</a:t>
                      </a:r>
                      <a:r>
                        <a:rPr lang="es-CO" sz="1600" dirty="0" err="1"/>
                        <a:t>tuned</a:t>
                      </a:r>
                      <a:r>
                        <a:rPr lang="es-CO" sz="1600" dirty="0"/>
                        <a:t> </a:t>
                      </a:r>
                      <a:r>
                        <a:rPr lang="es-CO" sz="1600" dirty="0" err="1"/>
                        <a:t>Language</a:t>
                      </a:r>
                      <a:r>
                        <a:rPr lang="es-CO" sz="1600" dirty="0"/>
                        <a:t> </a:t>
                      </a:r>
                      <a:r>
                        <a:rPr lang="es-CO" sz="1600" dirty="0" err="1"/>
                        <a:t>Model</a:t>
                      </a:r>
                      <a:r>
                        <a:rPr lang="es-CO" sz="1600" dirty="0"/>
                        <a:t> T5</a:t>
                      </a:r>
                      <a:endParaRPr lang="es-CO" sz="1600" b="1" dirty="0"/>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Encoder-decoder</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60</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Multiple</a:t>
                      </a:r>
                      <a:r>
                        <a:rPr lang="es-CO" sz="1600" dirty="0"/>
                        <a:t> </a:t>
                      </a:r>
                      <a:r>
                        <a:rPr lang="es-CO" sz="1600" dirty="0" err="1"/>
                        <a:t>datasets</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translation, summarization, question answering plus reasoning tasks</a:t>
                      </a:r>
                      <a:endParaRPr lang="es-CO" sz="16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CO"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Google </a:t>
                      </a:r>
                      <a:r>
                        <a:rPr lang="es-CO" sz="1600" dirty="0" err="1"/>
                        <a:t>Research</a:t>
                      </a:r>
                      <a:r>
                        <a:rPr lang="es-CO" sz="1600" dirty="0"/>
                        <a:t>, 2022</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6946748"/>
                  </a:ext>
                </a:extLst>
              </a:tr>
              <a:tr h="11603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Bert</a:t>
                      </a:r>
                    </a:p>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err="1"/>
                        <a:t>Bidirectional</a:t>
                      </a:r>
                      <a:r>
                        <a:rPr lang="es-CO" sz="1400" dirty="0"/>
                        <a:t> </a:t>
                      </a:r>
                      <a:r>
                        <a:rPr lang="es-CO" sz="1400" dirty="0" err="1"/>
                        <a:t>Encoder</a:t>
                      </a:r>
                      <a:r>
                        <a:rPr lang="es-CO" sz="1400" dirty="0"/>
                        <a:t> </a:t>
                      </a:r>
                      <a:r>
                        <a:rPr lang="es-CO" sz="1400" dirty="0" err="1"/>
                        <a:t>Representations</a:t>
                      </a:r>
                      <a:r>
                        <a:rPr lang="es-CO" sz="1400" dirty="0"/>
                        <a:t> </a:t>
                      </a:r>
                      <a:r>
                        <a:rPr lang="es-CO" sz="1400" dirty="0" err="1"/>
                        <a:t>from</a:t>
                      </a:r>
                      <a:r>
                        <a:rPr lang="es-CO" sz="1400" dirty="0"/>
                        <a:t> Transformers</a:t>
                      </a:r>
                      <a:endParaRPr lang="es-CO" sz="1400" b="1" dirty="0"/>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Encoder</a:t>
                      </a:r>
                      <a:r>
                        <a:rPr lang="es-CO" sz="1600" b="0" dirty="0"/>
                        <a:t> </a:t>
                      </a:r>
                      <a:r>
                        <a:rPr lang="es-CO" sz="1600" b="0" dirty="0" err="1"/>
                        <a:t>Only</a:t>
                      </a:r>
                      <a:endParaRPr lang="es-CO" sz="16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110</a:t>
                      </a:r>
                      <a:endParaRPr lang="es-CO"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dirty="0" err="1"/>
                        <a:t>BooksCorpus</a:t>
                      </a:r>
                      <a:r>
                        <a:rPr lang="es-CO" sz="1600" dirty="0"/>
                        <a:t>, English Wikipedia.</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Text </a:t>
                      </a:r>
                      <a:r>
                        <a:rPr lang="es-CO" sz="1600" dirty="0" err="1"/>
                        <a:t>classification</a:t>
                      </a:r>
                      <a:r>
                        <a:rPr lang="es-CO" sz="1600" dirty="0"/>
                        <a:t>, Q&amp;A</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a:t>Z</a:t>
                      </a:r>
                      <a:r>
                        <a:rPr lang="da-DK" sz="1600" dirty="0"/>
                        <a:t>Jacob Devlin et al. (Google), 2018</a:t>
                      </a:r>
                      <a:endParaRPr lang="es-CO" sz="1600" b="0"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81084489"/>
                  </a:ext>
                </a:extLst>
              </a:tr>
              <a:tr h="1090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err="1"/>
                        <a:t>XLNet</a:t>
                      </a:r>
                      <a:endParaRPr lang="es-CO" b="1" dirty="0"/>
                    </a:p>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Extended </a:t>
                      </a:r>
                      <a:r>
                        <a:rPr lang="es-CO" sz="1600" b="0" dirty="0" err="1"/>
                        <a:t>Language</a:t>
                      </a:r>
                      <a:r>
                        <a:rPr lang="es-CO" sz="1600" b="0" dirty="0"/>
                        <a:t> Network</a:t>
                      </a:r>
                    </a:p>
                  </a:txBody>
                  <a:tcP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err="1"/>
                        <a:t>Decoder</a:t>
                      </a:r>
                      <a:r>
                        <a:rPr lang="es-CO" sz="1600" b="0" dirty="0"/>
                        <a:t> </a:t>
                      </a:r>
                      <a:r>
                        <a:rPr lang="es-CO" sz="1600" b="0" dirty="0" err="1"/>
                        <a:t>Only</a:t>
                      </a:r>
                      <a:endParaRPr lang="es-CO" sz="1600" b="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0" dirty="0"/>
                        <a:t>110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BooksCorpus</a:t>
                      </a:r>
                      <a:r>
                        <a:rPr lang="en-US" sz="1600" dirty="0"/>
                        <a:t>, Wikipedia, Giga5, </a:t>
                      </a:r>
                      <a:r>
                        <a:rPr lang="en-US" sz="1600" dirty="0" err="1"/>
                        <a:t>ClueWeb</a:t>
                      </a:r>
                      <a:r>
                        <a:rPr lang="en-US" sz="1600" dirty="0"/>
                        <a:t>, Common Crawl</a:t>
                      </a:r>
                      <a:endParaRPr lang="es-CO" sz="16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next</a:t>
                      </a:r>
                      <a:r>
                        <a:rPr lang="es-CO" sz="1600" dirty="0"/>
                        <a:t> </a:t>
                      </a:r>
                      <a:r>
                        <a:rPr lang="es-CO" sz="1600" dirty="0" err="1"/>
                        <a:t>word</a:t>
                      </a:r>
                      <a:r>
                        <a:rPr lang="es-CO" sz="1600" dirty="0"/>
                        <a:t> </a:t>
                      </a:r>
                      <a:r>
                        <a:rPr lang="es-CO" sz="1600" dirty="0" err="1"/>
                        <a:t>prediction</a:t>
                      </a:r>
                      <a:r>
                        <a:rPr lang="es-CO" sz="1600" dirty="0"/>
                        <a:t>,</a:t>
                      </a:r>
                      <a:r>
                        <a:rPr lang="en-US" sz="1600" dirty="0"/>
                        <a:t> good at capturing long-range dependencies</a:t>
                      </a:r>
                      <a:r>
                        <a:rPr lang="es-CO" sz="1600" dirty="0"/>
                        <a:t> </a:t>
                      </a:r>
                      <a:endParaRPr lang="es-CO" sz="16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dirty="0" err="1"/>
                        <a:t>Zhilin</a:t>
                      </a:r>
                      <a:r>
                        <a:rPr lang="es-CO" sz="1600" dirty="0"/>
                        <a:t> Yang et al. (Google &amp; CMU), 2019</a:t>
                      </a:r>
                      <a:endParaRPr lang="es-CO" sz="1800" b="0" dirty="0"/>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24057880"/>
                  </a:ext>
                </a:extLst>
              </a:tr>
            </a:tbl>
          </a:graphicData>
        </a:graphic>
      </p:graphicFrame>
      <p:pic>
        <p:nvPicPr>
          <p:cNvPr id="3" name="Imagen 2">
            <a:extLst>
              <a:ext uri="{FF2B5EF4-FFF2-40B4-BE49-F238E27FC236}">
                <a16:creationId xmlns:a16="http://schemas.microsoft.com/office/drawing/2014/main" id="{096D357C-B8A0-9F87-5705-A06D962FDB37}"/>
              </a:ext>
            </a:extLst>
          </p:cNvPr>
          <p:cNvPicPr>
            <a:picLocks noChangeAspect="1"/>
          </p:cNvPicPr>
          <p:nvPr/>
        </p:nvPicPr>
        <p:blipFill>
          <a:blip r:embed="rId2">
            <a:extLst>
              <a:ext uri="{28A0092B-C50C-407E-A947-70E740481C1C}">
                <a14:useLocalDpi xmlns:a14="http://schemas.microsoft.com/office/drawing/2010/main" val="0"/>
              </a:ext>
            </a:extLst>
          </a:blip>
          <a:srcRect l="10463" t="32080" r="10604" b="31227"/>
          <a:stretch/>
        </p:blipFill>
        <p:spPr>
          <a:xfrm>
            <a:off x="10305288" y="5918708"/>
            <a:ext cx="1691640" cy="786384"/>
          </a:xfrm>
          <a:prstGeom prst="rect">
            <a:avLst/>
          </a:prstGeom>
        </p:spPr>
      </p:pic>
      <p:sp>
        <p:nvSpPr>
          <p:cNvPr id="6" name="CuadroTexto 5">
            <a:extLst>
              <a:ext uri="{FF2B5EF4-FFF2-40B4-BE49-F238E27FC236}">
                <a16:creationId xmlns:a16="http://schemas.microsoft.com/office/drawing/2014/main" id="{9C21D59D-47A5-36C7-8DBB-F543E08C016C}"/>
              </a:ext>
            </a:extLst>
          </p:cNvPr>
          <p:cNvSpPr txBox="1"/>
          <p:nvPr/>
        </p:nvSpPr>
        <p:spPr>
          <a:xfrm>
            <a:off x="283778" y="6397315"/>
            <a:ext cx="8724900" cy="307777"/>
          </a:xfrm>
          <a:prstGeom prst="rect">
            <a:avLst/>
          </a:prstGeom>
          <a:noFill/>
        </p:spPr>
        <p:txBody>
          <a:bodyPr wrap="square">
            <a:spAutoFit/>
          </a:bodyPr>
          <a:lstStyle/>
          <a:p>
            <a:r>
              <a:rPr lang="en-US" sz="1400" b="0" i="0" dirty="0" err="1">
                <a:solidFill>
                  <a:srgbClr val="000000"/>
                </a:solidFill>
                <a:effectLst/>
                <a:latin typeface="Helvetica" panose="020B0604020202020204" pitchFamily="34" charset="0"/>
              </a:rPr>
              <a:t>Pixtral</a:t>
            </a:r>
            <a:r>
              <a:rPr lang="en-US" sz="1400" b="0" i="0" dirty="0">
                <a:solidFill>
                  <a:srgbClr val="000000"/>
                </a:solidFill>
                <a:effectLst/>
                <a:latin typeface="Helvetica" panose="020B0604020202020204" pitchFamily="34" charset="0"/>
              </a:rPr>
              <a:t> Large, boasting 124 billion parameters with a </a:t>
            </a:r>
            <a:r>
              <a:rPr lang="en-US" sz="1400" b="1" i="0" dirty="0">
                <a:solidFill>
                  <a:srgbClr val="000000"/>
                </a:solidFill>
                <a:effectLst/>
                <a:latin typeface="Helvetica" panose="020B0604020202020204" pitchFamily="34" charset="0"/>
              </a:rPr>
              <a:t>128,000-token context window</a:t>
            </a:r>
            <a:endParaRPr lang="es-CO" sz="1400" dirty="0"/>
          </a:p>
        </p:txBody>
      </p:sp>
    </p:spTree>
    <p:extLst>
      <p:ext uri="{BB962C8B-B14F-4D97-AF65-F5344CB8AC3E}">
        <p14:creationId xmlns:p14="http://schemas.microsoft.com/office/powerpoint/2010/main" val="11484659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002F005-FCC7-525A-0199-2A77AE8A36AC}"/>
              </a:ext>
            </a:extLst>
          </p:cNvPr>
          <p:cNvSpPr>
            <a:spLocks noGrp="1"/>
          </p:cNvSpPr>
          <p:nvPr>
            <p:ph idx="1"/>
          </p:nvPr>
        </p:nvSpPr>
        <p:spPr>
          <a:xfrm>
            <a:off x="838200" y="1253331"/>
            <a:ext cx="10515600" cy="4351338"/>
          </a:xfrm>
        </p:spPr>
        <p:txBody>
          <a:bodyPr>
            <a:normAutofit fontScale="92500" lnSpcReduction="10000"/>
          </a:bodyPr>
          <a:lstStyle/>
          <a:p>
            <a:pPr marL="0" indent="0" algn="just">
              <a:buNone/>
            </a:pPr>
            <a:r>
              <a:rPr lang="en-US" b="0" i="0" dirty="0">
                <a:solidFill>
                  <a:srgbClr val="131314"/>
                </a:solidFill>
                <a:effectLst/>
                <a:latin typeface="Google Sans Text"/>
              </a:rPr>
              <a:t>"</a:t>
            </a:r>
            <a:r>
              <a:rPr lang="en-US" b="1" i="0" dirty="0">
                <a:solidFill>
                  <a:srgbClr val="131314"/>
                </a:solidFill>
                <a:effectLst/>
                <a:latin typeface="Google Sans Text"/>
              </a:rPr>
              <a:t>instruction-tuning" or "supervised fine-tuning (SFT)," </a:t>
            </a:r>
            <a:r>
              <a:rPr lang="en-US" b="0" i="0" dirty="0">
                <a:solidFill>
                  <a:srgbClr val="131314"/>
                </a:solidFill>
                <a:effectLst/>
                <a:latin typeface="Google Sans Text"/>
              </a:rPr>
              <a:t>involves training the LLM on smaller, task-specific datasets. </a:t>
            </a:r>
          </a:p>
          <a:p>
            <a:pPr marL="0" indent="0" algn="just">
              <a:buNone/>
            </a:pPr>
            <a:endParaRPr lang="en-US" dirty="0">
              <a:solidFill>
                <a:srgbClr val="131314"/>
              </a:solidFill>
              <a:latin typeface="Google Sans Text"/>
            </a:endParaRPr>
          </a:p>
          <a:p>
            <a:pPr marL="0" indent="0" algn="just">
              <a:buNone/>
            </a:pPr>
            <a:r>
              <a:rPr lang="en-US" b="0" i="0" dirty="0">
                <a:solidFill>
                  <a:srgbClr val="131314"/>
                </a:solidFill>
                <a:effectLst/>
                <a:latin typeface="Google Sans Text"/>
              </a:rPr>
              <a:t>It is less computationally intensive and requires less data than pre-training an LLM. Techniques like Low-Rank Adaptation (</a:t>
            </a:r>
            <a:r>
              <a:rPr lang="en-US" b="0" i="0" dirty="0" err="1">
                <a:solidFill>
                  <a:srgbClr val="131314"/>
                </a:solidFill>
                <a:effectLst/>
                <a:latin typeface="Google Sans Text"/>
              </a:rPr>
              <a:t>LoRA</a:t>
            </a:r>
            <a:r>
              <a:rPr lang="en-US" b="0" i="0" dirty="0">
                <a:solidFill>
                  <a:srgbClr val="131314"/>
                </a:solidFill>
                <a:effectLst/>
                <a:latin typeface="Google Sans Text"/>
              </a:rPr>
              <a:t>) further enhance efficiency by only training small update matrices instead of the entire model, making fine-tuned modules easily plug-and-play.</a:t>
            </a:r>
          </a:p>
          <a:p>
            <a:pPr marL="0" indent="0" algn="just">
              <a:buNone/>
            </a:pPr>
            <a:endParaRPr lang="en-US" b="0" i="0" dirty="0">
              <a:solidFill>
                <a:srgbClr val="131314"/>
              </a:solidFill>
              <a:effectLst/>
              <a:latin typeface="Google Sans Text"/>
            </a:endParaRPr>
          </a:p>
          <a:p>
            <a:pPr marL="0" indent="0" algn="just">
              <a:buNone/>
            </a:pPr>
            <a:r>
              <a:rPr lang="en-US" b="0" i="0" dirty="0">
                <a:solidFill>
                  <a:srgbClr val="131314"/>
                </a:solidFill>
                <a:effectLst/>
                <a:latin typeface="Google Sans Text"/>
              </a:rPr>
              <a:t>This allows LLMs to be customized for a wide range of practical applications like instruction following (e.g., summarizing text, writing code, generating poetry in a specific style).</a:t>
            </a:r>
            <a:endParaRPr lang="es-MX" dirty="0"/>
          </a:p>
        </p:txBody>
      </p:sp>
    </p:spTree>
    <p:extLst>
      <p:ext uri="{BB962C8B-B14F-4D97-AF65-F5344CB8AC3E}">
        <p14:creationId xmlns:p14="http://schemas.microsoft.com/office/powerpoint/2010/main" val="954499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DED67C-3856-A455-E483-F2F01F0585EC}"/>
              </a:ext>
            </a:extLst>
          </p:cNvPr>
          <p:cNvSpPr>
            <a:spLocks noGrp="1"/>
          </p:cNvSpPr>
          <p:nvPr>
            <p:ph type="title"/>
          </p:nvPr>
        </p:nvSpPr>
        <p:spPr/>
        <p:txBody>
          <a:bodyPr/>
          <a:lstStyle/>
          <a:p>
            <a:r>
              <a:rPr lang="es-CO" b="1" dirty="0" err="1"/>
              <a:t>Loss</a:t>
            </a:r>
            <a:r>
              <a:rPr lang="es-CO" b="1" dirty="0"/>
              <a:t> </a:t>
            </a:r>
            <a:r>
              <a:rPr lang="es-CO" b="1" dirty="0" err="1"/>
              <a:t>Functions</a:t>
            </a:r>
            <a:r>
              <a:rPr lang="es-CO" b="1" dirty="0"/>
              <a:t> and </a:t>
            </a:r>
            <a:r>
              <a:rPr lang="es-CO" b="1" dirty="0" err="1"/>
              <a:t>Metrics</a:t>
            </a:r>
            <a:endParaRPr lang="es-CO" b="1" dirty="0"/>
          </a:p>
        </p:txBody>
      </p:sp>
      <p:sp>
        <p:nvSpPr>
          <p:cNvPr id="3" name="Marcador de contenido 2">
            <a:extLst>
              <a:ext uri="{FF2B5EF4-FFF2-40B4-BE49-F238E27FC236}">
                <a16:creationId xmlns:a16="http://schemas.microsoft.com/office/drawing/2014/main" id="{C16C7BD5-F968-45E8-A5F8-2EA41F40574A}"/>
              </a:ext>
            </a:extLst>
          </p:cNvPr>
          <p:cNvSpPr>
            <a:spLocks noGrp="1"/>
          </p:cNvSpPr>
          <p:nvPr>
            <p:ph idx="1"/>
          </p:nvPr>
        </p:nvSpPr>
        <p:spPr/>
        <p:txBody>
          <a:bodyPr>
            <a:normAutofit fontScale="92500" lnSpcReduction="20000"/>
          </a:bodyPr>
          <a:lstStyle/>
          <a:p>
            <a:pPr marL="0" indent="0" algn="just">
              <a:buNone/>
            </a:pPr>
            <a:r>
              <a:rPr lang="es-CO" b="1" dirty="0" err="1"/>
              <a:t>The</a:t>
            </a:r>
            <a:r>
              <a:rPr lang="es-CO" b="1" dirty="0"/>
              <a:t> </a:t>
            </a:r>
            <a:r>
              <a:rPr lang="es-CO" b="1" dirty="0" err="1"/>
              <a:t>cross-entropy</a:t>
            </a:r>
            <a:r>
              <a:rPr lang="es-CO" b="1" dirty="0"/>
              <a:t> </a:t>
            </a:r>
            <a:r>
              <a:rPr lang="es-CO" b="1" dirty="0" err="1"/>
              <a:t>loss</a:t>
            </a:r>
            <a:r>
              <a:rPr lang="es-CO" b="1" dirty="0"/>
              <a:t> </a:t>
            </a:r>
            <a:r>
              <a:rPr lang="en-US" dirty="0"/>
              <a:t>measures the difference between the predicted token distribution and the true token distribution for each step in a sequence.</a:t>
            </a:r>
          </a:p>
          <a:p>
            <a:pPr marL="0" indent="0" algn="just">
              <a:buNone/>
            </a:pPr>
            <a:endParaRPr lang="en-US" dirty="0"/>
          </a:p>
          <a:p>
            <a:pPr marL="0" indent="0" algn="just">
              <a:buNone/>
            </a:pPr>
            <a:r>
              <a:rPr lang="en-US" b="1" dirty="0"/>
              <a:t>The Rouge Metric</a:t>
            </a:r>
            <a:r>
              <a:rPr lang="en-US" dirty="0"/>
              <a:t> (Recall-Oriented Understudy for </a:t>
            </a:r>
            <a:r>
              <a:rPr lang="en-US" dirty="0" err="1"/>
              <a:t>Gisting</a:t>
            </a:r>
            <a:r>
              <a:rPr lang="en-US" dirty="0"/>
              <a:t> Evaluation), Better for Summarization. R1 measures the overlap of words (1-gram) in the predicted text against the reference text (ground truth). How well the model is generating text that matches the expected output. Recall driven.</a:t>
            </a:r>
          </a:p>
          <a:p>
            <a:pPr marL="0" indent="0" algn="just">
              <a:buNone/>
            </a:pPr>
            <a:endParaRPr lang="en-US" dirty="0"/>
          </a:p>
          <a:p>
            <a:pPr marL="0" indent="0" algn="just">
              <a:buNone/>
            </a:pPr>
            <a:r>
              <a:rPr lang="en-US" b="1" dirty="0"/>
              <a:t>Bleu </a:t>
            </a:r>
            <a:r>
              <a:rPr lang="es-MX" b="1" dirty="0"/>
              <a:t>(</a:t>
            </a:r>
            <a:r>
              <a:rPr lang="es-MX" b="1" dirty="0" err="1"/>
              <a:t>Bilingual</a:t>
            </a:r>
            <a:r>
              <a:rPr lang="es-MX" b="1" dirty="0"/>
              <a:t> </a:t>
            </a:r>
            <a:r>
              <a:rPr lang="es-MX" b="1" dirty="0" err="1"/>
              <a:t>Evaluation</a:t>
            </a:r>
            <a:r>
              <a:rPr lang="es-MX" b="1" dirty="0"/>
              <a:t> </a:t>
            </a:r>
            <a:r>
              <a:rPr lang="es-MX" b="1" dirty="0" err="1"/>
              <a:t>Understudy</a:t>
            </a:r>
            <a:r>
              <a:rPr lang="es-MX" b="1" dirty="0"/>
              <a:t>)</a:t>
            </a:r>
            <a:r>
              <a:rPr lang="en-US" b="1" dirty="0"/>
              <a:t>: </a:t>
            </a:r>
            <a:r>
              <a:rPr lang="en-US" dirty="0"/>
              <a:t>Better for translation, n-grams. Precision driven.</a:t>
            </a:r>
          </a:p>
        </p:txBody>
      </p:sp>
      <p:pic>
        <p:nvPicPr>
          <p:cNvPr id="4" name="Imagen 3">
            <a:extLst>
              <a:ext uri="{FF2B5EF4-FFF2-40B4-BE49-F238E27FC236}">
                <a16:creationId xmlns:a16="http://schemas.microsoft.com/office/drawing/2014/main" id="{56BE164A-D622-0530-7F35-9AB11C6E8B8C}"/>
              </a:ext>
            </a:extLst>
          </p:cNvPr>
          <p:cNvPicPr>
            <a:picLocks noChangeAspect="1"/>
          </p:cNvPicPr>
          <p:nvPr/>
        </p:nvPicPr>
        <p:blipFill>
          <a:blip r:embed="rId2">
            <a:extLst>
              <a:ext uri="{28A0092B-C50C-407E-A947-70E740481C1C}">
                <a14:useLocalDpi xmlns:a14="http://schemas.microsoft.com/office/drawing/2010/main" val="0"/>
              </a:ext>
            </a:extLst>
          </a:blip>
          <a:srcRect l="10463" t="32080" r="10604" b="31227"/>
          <a:stretch/>
        </p:blipFill>
        <p:spPr>
          <a:xfrm>
            <a:off x="10305288" y="5918708"/>
            <a:ext cx="1691640" cy="786384"/>
          </a:xfrm>
          <a:prstGeom prst="rect">
            <a:avLst/>
          </a:prstGeom>
        </p:spPr>
      </p:pic>
    </p:spTree>
    <p:extLst>
      <p:ext uri="{BB962C8B-B14F-4D97-AF65-F5344CB8AC3E}">
        <p14:creationId xmlns:p14="http://schemas.microsoft.com/office/powerpoint/2010/main" val="963847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50C46A-DE17-C8AA-A581-32CB035DA594}"/>
              </a:ext>
            </a:extLst>
          </p:cNvPr>
          <p:cNvSpPr>
            <a:spLocks noGrp="1"/>
          </p:cNvSpPr>
          <p:nvPr>
            <p:ph type="title"/>
          </p:nvPr>
        </p:nvSpPr>
        <p:spPr/>
        <p:txBody>
          <a:bodyPr>
            <a:normAutofit/>
          </a:bodyPr>
          <a:lstStyle/>
          <a:p>
            <a:r>
              <a:rPr lang="en-US" b="1" dirty="0">
                <a:solidFill>
                  <a:srgbClr val="131314"/>
                </a:solidFill>
                <a:effectLst/>
                <a:latin typeface="Google Sans"/>
              </a:rPr>
              <a:t>Optimization techniques in LLMs?</a:t>
            </a:r>
            <a:endParaRPr lang="es-MX" b="1" dirty="0"/>
          </a:p>
        </p:txBody>
      </p:sp>
      <p:sp>
        <p:nvSpPr>
          <p:cNvPr id="3" name="Marcador de contenido 2">
            <a:extLst>
              <a:ext uri="{FF2B5EF4-FFF2-40B4-BE49-F238E27FC236}">
                <a16:creationId xmlns:a16="http://schemas.microsoft.com/office/drawing/2014/main" id="{2E0C6F44-289C-EEC5-61DD-AE815AFE82F2}"/>
              </a:ext>
            </a:extLst>
          </p:cNvPr>
          <p:cNvSpPr>
            <a:spLocks noGrp="1"/>
          </p:cNvSpPr>
          <p:nvPr>
            <p:ph idx="1"/>
          </p:nvPr>
        </p:nvSpPr>
        <p:spPr/>
        <p:txBody>
          <a:bodyPr>
            <a:normAutofit fontScale="92500"/>
          </a:bodyPr>
          <a:lstStyle/>
          <a:p>
            <a:pPr marL="0" indent="0" algn="just">
              <a:buNone/>
            </a:pPr>
            <a:r>
              <a:rPr lang="en-US" b="1" i="0" dirty="0">
                <a:solidFill>
                  <a:srgbClr val="131314"/>
                </a:solidFill>
                <a:effectLst/>
                <a:latin typeface="Google Sans Text"/>
              </a:rPr>
              <a:t>Mixture of Experts (</a:t>
            </a:r>
            <a:r>
              <a:rPr lang="en-US" b="1" i="0" dirty="0" err="1">
                <a:solidFill>
                  <a:srgbClr val="131314"/>
                </a:solidFill>
                <a:effectLst/>
                <a:latin typeface="Google Sans Text"/>
              </a:rPr>
              <a:t>MoE</a:t>
            </a:r>
            <a:r>
              <a:rPr lang="en-US" b="1" i="0" dirty="0">
                <a:solidFill>
                  <a:srgbClr val="131314"/>
                </a:solidFill>
                <a:effectLst/>
                <a:latin typeface="Google Sans Text"/>
              </a:rPr>
              <a:t>):</a:t>
            </a:r>
            <a:r>
              <a:rPr lang="en-US" b="0" i="0" dirty="0">
                <a:solidFill>
                  <a:srgbClr val="131314"/>
                </a:solidFill>
                <a:effectLst/>
                <a:latin typeface="Google Sans Text"/>
              </a:rPr>
              <a:t> Architecture (</a:t>
            </a:r>
            <a:r>
              <a:rPr lang="en-US" b="0" i="0" dirty="0" err="1">
                <a:solidFill>
                  <a:srgbClr val="131314"/>
                </a:solidFill>
                <a:effectLst/>
                <a:latin typeface="Google Sans Text"/>
              </a:rPr>
              <a:t>GLaM</a:t>
            </a:r>
            <a:r>
              <a:rPr lang="en-US" b="0" i="0" dirty="0">
                <a:solidFill>
                  <a:srgbClr val="131314"/>
                </a:solidFill>
                <a:effectLst/>
                <a:latin typeface="Google Sans Text"/>
              </a:rPr>
              <a:t> and </a:t>
            </a:r>
            <a:r>
              <a:rPr lang="en-US" b="0" i="0" dirty="0" err="1">
                <a:solidFill>
                  <a:srgbClr val="131314"/>
                </a:solidFill>
                <a:effectLst/>
                <a:latin typeface="Google Sans Text"/>
              </a:rPr>
              <a:t>Mixtral</a:t>
            </a:r>
            <a:r>
              <a:rPr lang="en-US" b="0" i="0" dirty="0">
                <a:solidFill>
                  <a:srgbClr val="131314"/>
                </a:solidFill>
                <a:effectLst/>
                <a:latin typeface="Google Sans Text"/>
              </a:rPr>
              <a:t>) allows LLMs to have a massive number of parameters but only activate a "subset of their parameters (i.e. experts) for each input token." Significantly more computationally efficient during training and inference and high performance. A "gating network" or "router" learns to direct the input to the most appropriate expert(s).</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Knowledge Distillation:</a:t>
            </a:r>
            <a:r>
              <a:rPr lang="en-US" b="0" i="0" dirty="0">
                <a:solidFill>
                  <a:srgbClr val="131314"/>
                </a:solidFill>
                <a:effectLst/>
                <a:latin typeface="Google Sans Text"/>
              </a:rPr>
              <a:t> transferring knowledge from a larger, more capable "teacher" model to a smaller, more efficient "student" model. The student model learns the reasoning patterns of the teacher without needing the same computational resources, improving its reasoning abilities.</a:t>
            </a:r>
          </a:p>
          <a:p>
            <a:pPr marL="0" indent="0" algn="just">
              <a:buNone/>
            </a:pPr>
            <a:endParaRPr lang="es-MX" dirty="0"/>
          </a:p>
        </p:txBody>
      </p:sp>
    </p:spTree>
    <p:extLst>
      <p:ext uri="{BB962C8B-B14F-4D97-AF65-F5344CB8AC3E}">
        <p14:creationId xmlns:p14="http://schemas.microsoft.com/office/powerpoint/2010/main" val="2946812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1AD971D-E8A4-9199-91A8-14CCE1299236}"/>
              </a:ext>
            </a:extLst>
          </p:cNvPr>
          <p:cNvSpPr>
            <a:spLocks noGrp="1"/>
          </p:cNvSpPr>
          <p:nvPr>
            <p:ph idx="1"/>
          </p:nvPr>
        </p:nvSpPr>
        <p:spPr>
          <a:xfrm>
            <a:off x="838200" y="533400"/>
            <a:ext cx="10515600" cy="5643563"/>
          </a:xfrm>
        </p:spPr>
        <p:txBody>
          <a:bodyPr>
            <a:normAutofit/>
          </a:bodyPr>
          <a:lstStyle/>
          <a:p>
            <a:pPr marL="0" indent="0" algn="just">
              <a:buNone/>
            </a:pPr>
            <a:r>
              <a:rPr lang="en-US" b="1" i="0" dirty="0">
                <a:solidFill>
                  <a:srgbClr val="131314"/>
                </a:solidFill>
                <a:effectLst/>
                <a:latin typeface="Google Sans Text"/>
              </a:rPr>
              <a:t>Quantization:</a:t>
            </a:r>
            <a:r>
              <a:rPr lang="en-US" b="0" i="0" dirty="0">
                <a:solidFill>
                  <a:srgbClr val="131314"/>
                </a:solidFill>
                <a:effectLst/>
                <a:latin typeface="Google Sans Text"/>
              </a:rPr>
              <a:t> An inference optimization method that "decreases the numerical precision in which weights and activations are stored, transferred and operated upon." By reducing the precision from 32-bit floating numbers to 8 or even 4-bit integers, significantly speeds up computations and reduces memory footprint, with minimal impact on quality for certain tasks.</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Speculative Decoding:</a:t>
            </a:r>
            <a:r>
              <a:rPr lang="en-US" b="0" i="0" dirty="0">
                <a:solidFill>
                  <a:srgbClr val="131314"/>
                </a:solidFill>
                <a:effectLst/>
                <a:latin typeface="Google Sans Text"/>
              </a:rPr>
              <a:t> Aims to speed up the "decode" phase of LLM inference, which is typically memory-bound and sequential. It uses a smaller, faster "drafter" model to predict multiple future tokens. The main LLM then verifies these predictions in parallel, significantly reducing latency without sacrificing output quality, as the main model will reject any incorrect speculative tokens.</a:t>
            </a:r>
          </a:p>
          <a:p>
            <a:pPr marL="0" indent="0" algn="just">
              <a:buNone/>
            </a:pPr>
            <a:endParaRPr lang="es-MX" dirty="0"/>
          </a:p>
        </p:txBody>
      </p:sp>
    </p:spTree>
    <p:extLst>
      <p:ext uri="{BB962C8B-B14F-4D97-AF65-F5344CB8AC3E}">
        <p14:creationId xmlns:p14="http://schemas.microsoft.com/office/powerpoint/2010/main" val="1455446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4FCF-B65C-FBF9-2C68-E6567BC25B82}"/>
              </a:ext>
            </a:extLst>
          </p:cNvPr>
          <p:cNvSpPr>
            <a:spLocks noGrp="1"/>
          </p:cNvSpPr>
          <p:nvPr>
            <p:ph type="title"/>
          </p:nvPr>
        </p:nvSpPr>
        <p:spPr/>
        <p:txBody>
          <a:bodyPr>
            <a:normAutofit/>
          </a:bodyPr>
          <a:lstStyle/>
          <a:p>
            <a:r>
              <a:rPr lang="en-US" b="1" dirty="0">
                <a:solidFill>
                  <a:srgbClr val="131314"/>
                </a:solidFill>
                <a:effectLst/>
                <a:latin typeface="Google Sans"/>
              </a:rPr>
              <a:t>How is prompt engineering used to guide LLM behavior</a:t>
            </a:r>
            <a:endParaRPr lang="es-MX" b="1" dirty="0"/>
          </a:p>
        </p:txBody>
      </p:sp>
      <p:sp>
        <p:nvSpPr>
          <p:cNvPr id="3" name="Marcador de contenido 2">
            <a:extLst>
              <a:ext uri="{FF2B5EF4-FFF2-40B4-BE49-F238E27FC236}">
                <a16:creationId xmlns:a16="http://schemas.microsoft.com/office/drawing/2014/main" id="{6E638BC3-2B30-512D-7D5B-970380254144}"/>
              </a:ext>
            </a:extLst>
          </p:cNvPr>
          <p:cNvSpPr>
            <a:spLocks noGrp="1"/>
          </p:cNvSpPr>
          <p:nvPr>
            <p:ph idx="1"/>
          </p:nvPr>
        </p:nvSpPr>
        <p:spPr>
          <a:xfrm>
            <a:off x="838200" y="2025650"/>
            <a:ext cx="10515600" cy="4351338"/>
          </a:xfrm>
        </p:spPr>
        <p:txBody>
          <a:bodyPr>
            <a:normAutofit fontScale="85000" lnSpcReduction="20000"/>
          </a:bodyPr>
          <a:lstStyle/>
          <a:p>
            <a:pPr marL="0" indent="0" algn="just">
              <a:buNone/>
            </a:pPr>
            <a:r>
              <a:rPr lang="en-US" b="1" i="0" dirty="0">
                <a:solidFill>
                  <a:srgbClr val="131314"/>
                </a:solidFill>
                <a:effectLst/>
                <a:latin typeface="Google Sans Text"/>
              </a:rPr>
              <a:t>Zero-shot prompting:</a:t>
            </a:r>
            <a:r>
              <a:rPr lang="en-US" b="0" i="0" dirty="0">
                <a:solidFill>
                  <a:srgbClr val="131314"/>
                </a:solidFill>
                <a:effectLst/>
                <a:latin typeface="Google Sans Text"/>
              </a:rPr>
              <a:t> The LLM is given a direct instruction or task description and relies solely on its pre-trained knowledge to generate a response. No examples are provided.</a:t>
            </a:r>
          </a:p>
          <a:p>
            <a:pPr marL="0" indent="0" algn="just">
              <a:buNone/>
            </a:pPr>
            <a:endParaRPr lang="en-US" dirty="0">
              <a:solidFill>
                <a:srgbClr val="131314"/>
              </a:solidFill>
              <a:latin typeface="Google Sans Text"/>
            </a:endParaRPr>
          </a:p>
          <a:p>
            <a:pPr marL="0" indent="0" algn="just">
              <a:buNone/>
            </a:pPr>
            <a:r>
              <a:rPr lang="en-US" b="1" i="0" dirty="0">
                <a:solidFill>
                  <a:srgbClr val="131314"/>
                </a:solidFill>
                <a:effectLst/>
                <a:latin typeface="Google Sans Text"/>
              </a:rPr>
              <a:t>Few-shot prompting:</a:t>
            </a:r>
            <a:r>
              <a:rPr lang="en-US" b="0" i="0" dirty="0">
                <a:solidFill>
                  <a:srgbClr val="131314"/>
                </a:solidFill>
                <a:effectLst/>
                <a:latin typeface="Google Sans Text"/>
              </a:rPr>
              <a:t> The prompt includes a task description along with a small number (e.g., three to five) of carefully chosen examples that guide the LLM's expected response format and content.</a:t>
            </a:r>
          </a:p>
          <a:p>
            <a:pPr marL="0" indent="0" algn="just">
              <a:buNone/>
            </a:pPr>
            <a:endParaRPr lang="en-US" b="0" i="0" dirty="0">
              <a:solidFill>
                <a:srgbClr val="131314"/>
              </a:solidFill>
              <a:effectLst/>
              <a:latin typeface="Google Sans Text"/>
            </a:endParaRPr>
          </a:p>
          <a:p>
            <a:pPr marL="0" indent="0" algn="just">
              <a:buNone/>
            </a:pPr>
            <a:r>
              <a:rPr lang="en-US" b="1" i="0" dirty="0">
                <a:solidFill>
                  <a:srgbClr val="131314"/>
                </a:solidFill>
                <a:effectLst/>
                <a:latin typeface="Google Sans Text"/>
              </a:rPr>
              <a:t>Chain-of-thought prompting:</a:t>
            </a:r>
            <a:r>
              <a:rPr lang="en-US" b="0" i="0" dirty="0">
                <a:solidFill>
                  <a:srgbClr val="131314"/>
                </a:solidFill>
                <a:effectLst/>
                <a:latin typeface="Google Sans Text"/>
              </a:rPr>
              <a:t> It is designed to improve performance on complex reasoning tasks. Instead of just a question, the prompt demonstrates a step-by-step reasoning process to solve similar problems. The LLM then generates its own detailed thought process before arriving at the final answer, breaking down the problem into smaller, manageable steps.</a:t>
            </a:r>
            <a:endParaRPr lang="es-MX" dirty="0"/>
          </a:p>
        </p:txBody>
      </p:sp>
    </p:spTree>
    <p:extLst>
      <p:ext uri="{BB962C8B-B14F-4D97-AF65-F5344CB8AC3E}">
        <p14:creationId xmlns:p14="http://schemas.microsoft.com/office/powerpoint/2010/main" val="1582379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BEE869-AA8A-B970-33B7-FAAF105B29E1}"/>
              </a:ext>
            </a:extLst>
          </p:cNvPr>
          <p:cNvSpPr>
            <a:spLocks noGrp="1"/>
          </p:cNvSpPr>
          <p:nvPr>
            <p:ph type="title"/>
          </p:nvPr>
        </p:nvSpPr>
        <p:spPr/>
        <p:txBody>
          <a:bodyPr>
            <a:normAutofit/>
          </a:bodyPr>
          <a:lstStyle/>
          <a:p>
            <a:r>
              <a:rPr lang="en-US" b="1" dirty="0">
                <a:solidFill>
                  <a:srgbClr val="131314"/>
                </a:solidFill>
                <a:effectLst/>
                <a:latin typeface="Google Sans"/>
              </a:rPr>
              <a:t>key emerging capabilities of LLMs</a:t>
            </a:r>
            <a:endParaRPr lang="es-MX" b="1" dirty="0"/>
          </a:p>
        </p:txBody>
      </p:sp>
      <p:sp>
        <p:nvSpPr>
          <p:cNvPr id="3" name="Marcador de contenido 2">
            <a:extLst>
              <a:ext uri="{FF2B5EF4-FFF2-40B4-BE49-F238E27FC236}">
                <a16:creationId xmlns:a16="http://schemas.microsoft.com/office/drawing/2014/main" id="{44886F6D-2DED-AF49-E84A-197693B32590}"/>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1" i="0" dirty="0">
                <a:solidFill>
                  <a:srgbClr val="131314"/>
                </a:solidFill>
                <a:effectLst/>
                <a:latin typeface="Google Sans Text"/>
              </a:rPr>
              <a:t>Question Answering and Reasoning:</a:t>
            </a:r>
            <a:r>
              <a:rPr lang="en-US" b="0" i="0" dirty="0">
                <a:solidFill>
                  <a:srgbClr val="131314"/>
                </a:solidFill>
                <a:effectLst/>
                <a:latin typeface="Google Sans Text"/>
              </a:rPr>
              <a:t> LLMs can answer complex questions, provide detailed explanations, and perform various forms of reasoning, from common sense to mathematics, coding, and law.</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Multimodal Applications:</a:t>
            </a:r>
            <a:r>
              <a:rPr lang="en-US" b="0" i="0" dirty="0">
                <a:solidFill>
                  <a:srgbClr val="131314"/>
                </a:solidFill>
                <a:effectLst/>
                <a:latin typeface="Google Sans Text"/>
              </a:rPr>
              <a:t> Modern LLMs are multimodal, meaning they can process and understand image, audio, and video inputs, and produce text outputs.</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Virtual Assistants and Customer Support:</a:t>
            </a:r>
            <a:r>
              <a:rPr lang="en-US" b="0" i="0" dirty="0">
                <a:solidFill>
                  <a:srgbClr val="131314"/>
                </a:solidFill>
                <a:effectLst/>
                <a:latin typeface="Google Sans Text"/>
              </a:rPr>
              <a:t> LLMs power intelligent virtual assistants that provide personalized information and enhance customer support by considering user history and specific contexts.</a:t>
            </a:r>
          </a:p>
          <a:p>
            <a:pPr marL="0" indent="0" algn="just">
              <a:buNone/>
            </a:pPr>
            <a:endParaRPr lang="es-MX" dirty="0"/>
          </a:p>
        </p:txBody>
      </p:sp>
    </p:spTree>
    <p:extLst>
      <p:ext uri="{BB962C8B-B14F-4D97-AF65-F5344CB8AC3E}">
        <p14:creationId xmlns:p14="http://schemas.microsoft.com/office/powerpoint/2010/main" val="64111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EA701C-19C1-5FD4-28C3-C8923C7FE9F3}"/>
              </a:ext>
            </a:extLst>
          </p:cNvPr>
          <p:cNvSpPr>
            <a:spLocks noGrp="1"/>
          </p:cNvSpPr>
          <p:nvPr>
            <p:ph idx="1"/>
          </p:nvPr>
        </p:nvSpPr>
        <p:spPr/>
        <p:txBody>
          <a:bodyPr/>
          <a:lstStyle/>
          <a:p>
            <a:pPr algn="just">
              <a:buFont typeface="Arial" panose="020B0604020202020204" pitchFamily="34" charset="0"/>
              <a:buChar char="•"/>
            </a:pPr>
            <a:r>
              <a:rPr lang="en-US" b="1" i="0" dirty="0">
                <a:solidFill>
                  <a:srgbClr val="131314"/>
                </a:solidFill>
                <a:effectLst/>
                <a:latin typeface="Google Sans Text"/>
              </a:rPr>
              <a:t>Academic and Specialized Platforms:</a:t>
            </a:r>
            <a:r>
              <a:rPr lang="en-US" b="0" i="0" dirty="0">
                <a:solidFill>
                  <a:srgbClr val="131314"/>
                </a:solidFill>
                <a:effectLst/>
                <a:latin typeface="Google Sans Text"/>
              </a:rPr>
              <a:t> Used in academic settings to answer complex queries, adapting to the user's level of understanding.</a:t>
            </a:r>
          </a:p>
          <a:p>
            <a:pPr marL="0" indent="0" algn="just">
              <a:buNone/>
            </a:pPr>
            <a:endParaRPr lang="en-US" b="0" i="0" dirty="0">
              <a:solidFill>
                <a:srgbClr val="131314"/>
              </a:solidFill>
              <a:effectLst/>
              <a:latin typeface="Google Sans Text"/>
            </a:endParaRPr>
          </a:p>
          <a:p>
            <a:pPr algn="just">
              <a:buFont typeface="Arial" panose="020B0604020202020204" pitchFamily="34" charset="0"/>
              <a:buChar char="•"/>
            </a:pPr>
            <a:r>
              <a:rPr lang="en-US" b="1" i="0" dirty="0">
                <a:solidFill>
                  <a:srgbClr val="131314"/>
                </a:solidFill>
                <a:effectLst/>
                <a:latin typeface="Google Sans Text"/>
              </a:rPr>
              <a:t>Model Evaluation (LLM-Powered </a:t>
            </a:r>
            <a:r>
              <a:rPr lang="en-US" b="1" i="0" dirty="0" err="1">
                <a:solidFill>
                  <a:srgbClr val="131314"/>
                </a:solidFill>
                <a:effectLst/>
                <a:latin typeface="Google Sans Text"/>
              </a:rPr>
              <a:t>Autoraters</a:t>
            </a:r>
            <a:r>
              <a:rPr lang="en-US" b="1" i="0" dirty="0">
                <a:solidFill>
                  <a:srgbClr val="131314"/>
                </a:solidFill>
                <a:effectLst/>
                <a:latin typeface="Google Sans Text"/>
              </a:rPr>
              <a:t>):</a:t>
            </a:r>
            <a:r>
              <a:rPr lang="en-US" b="0" i="0" dirty="0">
                <a:solidFill>
                  <a:srgbClr val="131314"/>
                </a:solidFill>
                <a:effectLst/>
                <a:latin typeface="Google Sans Text"/>
              </a:rPr>
              <a:t> To evaluate the outputs of other models, mimicking human judgment and providing rationales for their decisions, which is crucial for scalable and efficient assessment of AI systems.</a:t>
            </a:r>
          </a:p>
        </p:txBody>
      </p:sp>
    </p:spTree>
    <p:extLst>
      <p:ext uri="{BB962C8B-B14F-4D97-AF65-F5344CB8AC3E}">
        <p14:creationId xmlns:p14="http://schemas.microsoft.com/office/powerpoint/2010/main" val="2976311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8F6654-73A3-9D07-9F4E-E0E8BC15A436}"/>
              </a:ext>
            </a:extLst>
          </p:cNvPr>
          <p:cNvSpPr>
            <a:spLocks noGrp="1"/>
          </p:cNvSpPr>
          <p:nvPr>
            <p:ph type="title"/>
          </p:nvPr>
        </p:nvSpPr>
        <p:spPr/>
        <p:txBody>
          <a:bodyPr/>
          <a:lstStyle/>
          <a:p>
            <a:r>
              <a:rPr lang="es-CO" b="1" dirty="0" err="1"/>
              <a:t>Metrics</a:t>
            </a:r>
            <a:r>
              <a:rPr lang="es-CO" b="1" dirty="0"/>
              <a:t> in </a:t>
            </a:r>
            <a:r>
              <a:rPr lang="es-CO" b="1" dirty="0" err="1"/>
              <a:t>LLMs</a:t>
            </a:r>
            <a:endParaRPr lang="es-MX" b="1" dirty="0"/>
          </a:p>
        </p:txBody>
      </p:sp>
      <p:sp>
        <p:nvSpPr>
          <p:cNvPr id="4" name="Rectangle 1">
            <a:extLst>
              <a:ext uri="{FF2B5EF4-FFF2-40B4-BE49-F238E27FC236}">
                <a16:creationId xmlns:a16="http://schemas.microsoft.com/office/drawing/2014/main" id="{52871302-465F-8F62-823F-ECDFAFED17F7}"/>
              </a:ext>
            </a:extLst>
          </p:cNvPr>
          <p:cNvSpPr>
            <a:spLocks noGrp="1" noChangeArrowheads="1"/>
          </p:cNvSpPr>
          <p:nvPr>
            <p:ph idx="1"/>
          </p:nvPr>
        </p:nvSpPr>
        <p:spPr bwMode="auto">
          <a:xfrm>
            <a:off x="742950" y="4356001"/>
            <a:ext cx="10210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Token-</a:t>
            </a:r>
            <a:r>
              <a:rPr kumimoji="0" lang="es-MX" altLang="es-MX" sz="2400" b="1" i="0" u="none" strike="noStrike" cap="none" normalizeH="0" baseline="0" dirty="0" err="1">
                <a:ln>
                  <a:noFill/>
                </a:ln>
                <a:solidFill>
                  <a:schemeClr val="tx1"/>
                </a:solidFill>
                <a:effectLst/>
                <a:latin typeface="Arial" panose="020B0604020202020204" pitchFamily="34" charset="0"/>
              </a:rPr>
              <a:t>level</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probabilistic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Overlap-based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generation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Embedding-based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semantic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Task-specific</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Human and LLM-as-a-</a:t>
            </a:r>
            <a:r>
              <a:rPr kumimoji="0" lang="es-MX" altLang="es-MX" sz="2400" b="1" i="0" u="none" strike="noStrike" cap="none" normalizeH="0" baseline="0" dirty="0" err="1">
                <a:ln>
                  <a:noFill/>
                </a:ln>
                <a:solidFill>
                  <a:schemeClr val="tx1"/>
                </a:solidFill>
                <a:effectLst/>
                <a:latin typeface="Arial" panose="020B0604020202020204" pitchFamily="34" charset="0"/>
              </a:rPr>
              <a:t>judge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evaluation</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Emerging</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preference-based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metrics</a:t>
            </a: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14D0B527-CA15-5A6D-D3CA-299B4450EFF4}"/>
              </a:ext>
            </a:extLst>
          </p:cNvPr>
          <p:cNvSpPr txBox="1"/>
          <p:nvPr/>
        </p:nvSpPr>
        <p:spPr>
          <a:xfrm>
            <a:off x="742950" y="1479888"/>
            <a:ext cx="10306050" cy="2677656"/>
          </a:xfrm>
          <a:prstGeom prst="rect">
            <a:avLst/>
          </a:prstGeom>
          <a:noFill/>
        </p:spPr>
        <p:txBody>
          <a:bodyPr wrap="square">
            <a:spAutoFit/>
          </a:bodyPr>
          <a:lstStyle/>
          <a:p>
            <a:pPr>
              <a:buNone/>
            </a:pPr>
            <a:r>
              <a:rPr lang="en-US" sz="2400" b="1" dirty="0"/>
              <a:t>There is no single "best" metric. </a:t>
            </a:r>
            <a:r>
              <a:rPr lang="en-US" sz="2400" dirty="0"/>
              <a:t>Evaluation depends on:</a:t>
            </a:r>
          </a:p>
          <a:p>
            <a:pPr>
              <a:buNone/>
            </a:pPr>
            <a:endParaRPr lang="en-US" sz="2400" dirty="0"/>
          </a:p>
          <a:p>
            <a:pPr>
              <a:buFont typeface="Arial" panose="020B0604020202020204" pitchFamily="34" charset="0"/>
              <a:buChar char="•"/>
            </a:pPr>
            <a:r>
              <a:rPr lang="en-US" sz="2400" dirty="0"/>
              <a:t> The training objective</a:t>
            </a:r>
          </a:p>
          <a:p>
            <a:pPr>
              <a:buFont typeface="Arial" panose="020B0604020202020204" pitchFamily="34" charset="0"/>
              <a:buChar char="•"/>
            </a:pPr>
            <a:r>
              <a:rPr lang="en-US" sz="2400" dirty="0"/>
              <a:t> The deployment setting</a:t>
            </a:r>
          </a:p>
          <a:p>
            <a:pPr>
              <a:buFont typeface="Arial" panose="020B0604020202020204" pitchFamily="34" charset="0"/>
              <a:buChar char="•"/>
            </a:pPr>
            <a:r>
              <a:rPr lang="en-US" sz="2400" dirty="0"/>
              <a:t> The task type</a:t>
            </a:r>
          </a:p>
          <a:p>
            <a:pPr>
              <a:buFont typeface="Arial" panose="020B0604020202020204" pitchFamily="34" charset="0"/>
              <a:buChar char="•"/>
            </a:pPr>
            <a:r>
              <a:rPr lang="en-US" sz="2400" dirty="0"/>
              <a:t> Whether references exist</a:t>
            </a:r>
          </a:p>
          <a:p>
            <a:pPr>
              <a:buFont typeface="Arial" panose="020B0604020202020204" pitchFamily="34" charset="0"/>
              <a:buChar char="•"/>
            </a:pPr>
            <a:r>
              <a:rPr lang="en-US" sz="2400" dirty="0"/>
              <a:t> Whether semantic equivalence is acceptable</a:t>
            </a:r>
          </a:p>
        </p:txBody>
      </p:sp>
    </p:spTree>
    <p:extLst>
      <p:ext uri="{BB962C8B-B14F-4D97-AF65-F5344CB8AC3E}">
        <p14:creationId xmlns:p14="http://schemas.microsoft.com/office/powerpoint/2010/main" val="784175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D05572-15AA-B33A-731D-05DC4A832717}"/>
              </a:ext>
            </a:extLst>
          </p:cNvPr>
          <p:cNvSpPr>
            <a:spLocks noGrp="1"/>
          </p:cNvSpPr>
          <p:nvPr>
            <p:ph type="title"/>
          </p:nvPr>
        </p:nvSpPr>
        <p:spPr>
          <a:xfrm>
            <a:off x="838199" y="107587"/>
            <a:ext cx="10515600" cy="1325563"/>
          </a:xfrm>
        </p:spPr>
        <p:txBody>
          <a:bodyPr/>
          <a:lstStyle/>
          <a:p>
            <a:r>
              <a:rPr lang="es-MX" dirty="0"/>
              <a:t>1.1 Cross-</a:t>
            </a:r>
            <a:r>
              <a:rPr lang="es-MX" dirty="0" err="1"/>
              <a:t>Entropy</a:t>
            </a:r>
            <a:r>
              <a:rPr lang="es-MX" dirty="0"/>
              <a:t> </a:t>
            </a:r>
            <a:r>
              <a:rPr lang="es-MX" dirty="0" err="1"/>
              <a:t>Loss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522B180-01DA-B9D1-EC70-E907F6D55D81}"/>
                  </a:ext>
                </a:extLst>
              </p:cNvPr>
              <p:cNvSpPr>
                <a:spLocks noGrp="1"/>
              </p:cNvSpPr>
              <p:nvPr>
                <p:ph idx="1"/>
              </p:nvPr>
            </p:nvSpPr>
            <p:spPr>
              <a:xfrm>
                <a:off x="838200" y="1530350"/>
                <a:ext cx="10515600" cy="4351338"/>
              </a:xfrm>
            </p:spPr>
            <p:txBody>
              <a:bodyPr>
                <a:normAutofit/>
              </a:bodyPr>
              <a:lstStyle/>
              <a:p>
                <a:pPr marL="0" indent="0">
                  <a:buNone/>
                </a:pPr>
                <a:r>
                  <a:rPr lang="es-MX" sz="2400" dirty="0" err="1"/>
                  <a:t>Given</a:t>
                </a:r>
                <a:r>
                  <a:rPr lang="es-MX" sz="2400" dirty="0"/>
                  <a:t> a </a:t>
                </a:r>
                <a:r>
                  <a:rPr lang="es-MX" sz="2400" dirty="0" err="1"/>
                  <a:t>sequence</a:t>
                </a:r>
                <a:r>
                  <a:rPr lang="es-MX" sz="2400" dirty="0"/>
                  <a:t> </a:t>
                </a:r>
                <a:r>
                  <a:rPr lang="es-MX" sz="2400" dirty="0" err="1"/>
                  <a:t>of</a:t>
                </a:r>
                <a:r>
                  <a:rPr lang="es-MX" sz="2400" dirty="0"/>
                  <a:t> tokens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𝑇</m:t>
                        </m:r>
                      </m:sub>
                    </m:sSub>
                  </m:oMath>
                </a14:m>
                <a:r>
                  <a:rPr lang="ar-AE" sz="2400" dirty="0"/>
                  <a:t>, </a:t>
                </a:r>
                <a:r>
                  <a:rPr lang="es-MX" sz="2400" dirty="0" err="1"/>
                  <a:t>an</a:t>
                </a:r>
                <a:r>
                  <a:rPr lang="es-MX" sz="2400" dirty="0"/>
                  <a:t> </a:t>
                </a:r>
                <a:r>
                  <a:rPr lang="es-MX" sz="2400" dirty="0" err="1"/>
                  <a:t>autoregressive</a:t>
                </a:r>
                <a:r>
                  <a:rPr lang="es-MX" sz="2400" dirty="0"/>
                  <a:t> LLM </a:t>
                </a:r>
                <a:r>
                  <a:rPr lang="es-MX" sz="2400" dirty="0" err="1"/>
                  <a:t>models</a:t>
                </a:r>
                <a:r>
                  <a:rPr lang="es-MX" sz="2400" dirty="0"/>
                  <a:t>:</a:t>
                </a:r>
              </a:p>
              <a:p>
                <a:pPr marL="0" indent="0">
                  <a:buNone/>
                </a:pPr>
                <a14:m>
                  <m:oMathPara xmlns:m="http://schemas.openxmlformats.org/officeDocument/2006/math">
                    <m:oMathParaPr>
                      <m:jc m:val="centerGroup"/>
                    </m:oMathParaPr>
                    <m:oMath xmlns:m="http://schemas.openxmlformats.org/officeDocument/2006/math">
                      <m:r>
                        <a:rPr lang="es-MX"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𝑡</m:t>
                          </m:r>
                          <m:r>
                            <a:rPr lang="ar-AE" sz="2400">
                              <a:latin typeface="Cambria Math" panose="02040503050406030204" pitchFamily="18" charset="0"/>
                            </a:rPr>
                            <m:t>=</m:t>
                          </m:r>
                          <m:r>
                            <a:rPr lang="ar-AE" sz="2400">
                              <a:latin typeface="Cambria Math" panose="02040503050406030204" pitchFamily="18" charset="0"/>
                            </a:rPr>
                            <m:t>1</m:t>
                          </m:r>
                        </m:sub>
                        <m:sup>
                          <m:r>
                            <a:rPr lang="ar-AE" sz="2400" i="1">
                              <a:latin typeface="Cambria Math" panose="02040503050406030204" pitchFamily="18" charset="0"/>
                            </a:rPr>
                            <m:t>𝑇</m:t>
                          </m:r>
                        </m:sup>
                        <m:e>
                          <m:r>
                            <a:rPr lang="ar-AE" sz="2400" i="1">
                              <a:latin typeface="Cambria Math" panose="02040503050406030204" pitchFamily="18" charset="0"/>
                            </a:rPr>
                            <m:t>𝑃</m:t>
                          </m:r>
                        </m:e>
                      </m:nary>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&lt;</m:t>
                              </m:r>
                              <m:r>
                                <a:rPr lang="ar-AE" sz="2400" i="1">
                                  <a:latin typeface="Cambria Math" panose="02040503050406030204" pitchFamily="18" charset="0"/>
                                </a:rPr>
                                <m:t>𝑡</m:t>
                              </m:r>
                            </m:sub>
                          </m:sSub>
                        </m:e>
                      </m:d>
                    </m:oMath>
                  </m:oMathPara>
                </a14:m>
                <a:endParaRPr lang="ar-AE" sz="2400" dirty="0"/>
              </a:p>
              <a:p>
                <a:pPr marL="0" indent="0">
                  <a:buNone/>
                </a:pPr>
                <a:r>
                  <a:rPr lang="es-MX" sz="2400" dirty="0"/>
                  <a:t>Cross-</a:t>
                </a:r>
                <a:r>
                  <a:rPr lang="es-MX" sz="2400" dirty="0" err="1"/>
                  <a:t>entropy</a:t>
                </a:r>
                <a:r>
                  <a:rPr lang="es-MX" sz="2400" dirty="0"/>
                  <a:t> </a:t>
                </a:r>
                <a:r>
                  <a:rPr lang="es-MX" sz="2400" dirty="0" err="1"/>
                  <a:t>loss</a:t>
                </a:r>
                <a:r>
                  <a:rPr lang="es-MX" sz="2400" dirty="0"/>
                  <a:t> </a:t>
                </a:r>
                <a:r>
                  <a:rPr lang="es-MX" sz="2400" dirty="0" err="1"/>
                  <a:t>is</a:t>
                </a:r>
                <a:r>
                  <a:rPr lang="es-MX" sz="2400" dirty="0"/>
                  <a:t>:</a:t>
                </a:r>
              </a:p>
              <a:p>
                <a:pPr marL="0" indent="0">
                  <a:buNone/>
                </a:pPr>
                <a14:m>
                  <m:oMathPara xmlns:m="http://schemas.openxmlformats.org/officeDocument/2006/math">
                    <m:oMathParaPr>
                      <m:jc m:val="centerGroup"/>
                    </m:oMathParaPr>
                    <m:oMath xmlns:m="http://schemas.openxmlformats.org/officeDocument/2006/math">
                      <m:r>
                        <a:rPr lang="es-MX" sz="2400">
                          <a:latin typeface="Cambria Math" panose="02040503050406030204" pitchFamily="18" charset="0"/>
                        </a:rPr>
                        <m:t>ℒ</m:t>
                      </m:r>
                      <m:r>
                        <a:rPr lang="es-MX"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i="1">
                              <a:latin typeface="Cambria Math" panose="02040503050406030204" pitchFamily="18" charset="0"/>
                            </a:rPr>
                            <m:t>𝑇</m:t>
                          </m:r>
                        </m:den>
                      </m:f>
                      <m:func>
                        <m:funcPr>
                          <m:ctrlPr>
                            <a:rPr lang="ar-AE" sz="2400" i="1">
                              <a:latin typeface="Cambria Math" panose="02040503050406030204" pitchFamily="18" charset="0"/>
                            </a:rPr>
                          </m:ctrlPr>
                        </m:funcPr>
                        <m:fName>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𝑡</m:t>
                              </m:r>
                              <m:r>
                                <a:rPr lang="ar-AE" sz="2400">
                                  <a:latin typeface="Cambria Math" panose="02040503050406030204" pitchFamily="18" charset="0"/>
                                </a:rPr>
                                <m:t>=</m:t>
                              </m:r>
                              <m:r>
                                <a:rPr lang="ar-AE" sz="2400">
                                  <a:latin typeface="Cambria Math" panose="02040503050406030204" pitchFamily="18" charset="0"/>
                                </a:rPr>
                                <m:t>1</m:t>
                              </m:r>
                            </m:sub>
                            <m:sup>
                              <m:r>
                                <a:rPr lang="ar-AE" sz="2400" i="1">
                                  <a:latin typeface="Cambria Math" panose="02040503050406030204" pitchFamily="18" charset="0"/>
                                </a:rPr>
                                <m:t>𝑇</m:t>
                              </m:r>
                            </m:sup>
                            <m:e>
                              <m:r>
                                <m:rPr>
                                  <m:sty m:val="p"/>
                                </m:rPr>
                                <a:rPr lang="es-MX" sz="2400">
                                  <a:latin typeface="Cambria Math" panose="02040503050406030204" pitchFamily="18" charset="0"/>
                                </a:rPr>
                                <m:t>log</m:t>
                              </m:r>
                            </m:e>
                          </m:nary>
                        </m:fName>
                        <m:e>
                          <m:r>
                            <a:rPr lang="ar-AE" sz="2400" i="1">
                              <a:latin typeface="Cambria Math" panose="02040503050406030204" pitchFamily="18" charset="0"/>
                            </a:rPr>
                            <m:t>𝑃</m:t>
                          </m:r>
                        </m:e>
                      </m:func>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&lt;</m:t>
                              </m:r>
                              <m:r>
                                <a:rPr lang="ar-AE" sz="2400" i="1">
                                  <a:latin typeface="Cambria Math" panose="02040503050406030204" pitchFamily="18" charset="0"/>
                                </a:rPr>
                                <m:t>𝑡</m:t>
                              </m:r>
                            </m:sub>
                          </m:sSub>
                        </m:e>
                      </m:d>
                    </m:oMath>
                  </m:oMathPara>
                </a14:m>
                <a:endParaRPr lang="ar-AE" sz="2400" dirty="0"/>
              </a:p>
              <a:p>
                <a:pPr marL="0" indent="0">
                  <a:buNone/>
                </a:pPr>
                <a:endParaRPr lang="es-MX" sz="2400" dirty="0"/>
              </a:p>
            </p:txBody>
          </p:sp>
        </mc:Choice>
        <mc:Fallback xmlns="">
          <p:sp>
            <p:nvSpPr>
              <p:cNvPr id="3" name="Marcador de contenido 2">
                <a:extLst>
                  <a:ext uri="{FF2B5EF4-FFF2-40B4-BE49-F238E27FC236}">
                    <a16:creationId xmlns:a16="http://schemas.microsoft.com/office/drawing/2014/main" id="{7522B180-01DA-B9D1-EC70-E907F6D55D81}"/>
                  </a:ext>
                </a:extLst>
              </p:cNvPr>
              <p:cNvSpPr>
                <a:spLocks noGrp="1" noRot="1" noChangeAspect="1" noMove="1" noResize="1" noEditPoints="1" noAdjustHandles="1" noChangeArrowheads="1" noChangeShapeType="1" noTextEdit="1"/>
              </p:cNvSpPr>
              <p:nvPr>
                <p:ph idx="1"/>
              </p:nvPr>
            </p:nvSpPr>
            <p:spPr>
              <a:xfrm>
                <a:off x="838200" y="1530350"/>
                <a:ext cx="10515600" cy="4351338"/>
              </a:xfrm>
              <a:blipFill>
                <a:blip r:embed="rId2"/>
                <a:stretch>
                  <a:fillRect l="-928" t="-2101"/>
                </a:stretch>
              </a:blipFill>
            </p:spPr>
            <p:txBody>
              <a:bodyPr/>
              <a:lstStyle/>
              <a:p>
                <a:r>
                  <a:rPr lang="es-MX">
                    <a:noFill/>
                  </a:rPr>
                  <a:t> </a:t>
                </a:r>
              </a:p>
            </p:txBody>
          </p:sp>
        </mc:Fallback>
      </mc:AlternateContent>
      <p:sp>
        <p:nvSpPr>
          <p:cNvPr id="5" name="Rectangle 2">
            <a:extLst>
              <a:ext uri="{FF2B5EF4-FFF2-40B4-BE49-F238E27FC236}">
                <a16:creationId xmlns:a16="http://schemas.microsoft.com/office/drawing/2014/main" id="{F42D1425-AD27-F32B-90D1-213113B9A700}"/>
              </a:ext>
            </a:extLst>
          </p:cNvPr>
          <p:cNvSpPr>
            <a:spLocks noChangeArrowheads="1"/>
          </p:cNvSpPr>
          <p:nvPr/>
        </p:nvSpPr>
        <p:spPr bwMode="auto">
          <a:xfrm>
            <a:off x="545409" y="4625458"/>
            <a:ext cx="111011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how</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well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predicted</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distribution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matches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true token, </a:t>
            </a:r>
            <a:r>
              <a:rPr kumimoji="0" lang="es-MX" altLang="es-MX" sz="1800" b="0" i="0" u="none" strike="noStrike" cap="none" normalizeH="0" baseline="0" dirty="0" err="1">
                <a:ln>
                  <a:noFill/>
                </a:ln>
                <a:solidFill>
                  <a:schemeClr val="tx1"/>
                </a:solidFill>
                <a:effectLst/>
                <a:latin typeface="Arial" panose="020B0604020202020204" pitchFamily="34" charset="0"/>
              </a:rPr>
              <a:t>Lower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is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better</a:t>
            </a:r>
            <a:r>
              <a:rPr kumimoji="0" lang="es-MX" altLang="es-MX" sz="1800" b="0" i="0" u="none" strike="noStrike" cap="none" normalizeH="0" baseline="0" dirty="0">
                <a:ln>
                  <a:noFill/>
                </a:ln>
                <a:solidFill>
                  <a:schemeClr val="tx1"/>
                </a:solidFill>
                <a:effectLst/>
                <a:latin typeface="Arial" panose="020B0604020202020204" pitchFamily="34" charset="0"/>
              </a:rPr>
              <a:t>, Used </a:t>
            </a:r>
            <a:r>
              <a:rPr kumimoji="0" lang="es-MX" altLang="es-MX" sz="1800" b="0" i="0" u="none" strike="noStrike" cap="none" normalizeH="0" baseline="0" dirty="0" err="1">
                <a:ln>
                  <a:noFill/>
                </a:ln>
                <a:solidFill>
                  <a:schemeClr val="tx1"/>
                </a:solidFill>
                <a:effectLst/>
                <a:latin typeface="Arial" panose="020B0604020202020204" pitchFamily="34" charset="0"/>
              </a:rPr>
              <a:t>during</a:t>
            </a:r>
            <a:r>
              <a:rPr kumimoji="0" lang="es-MX" altLang="es-MX" sz="1800" b="0" i="0" u="none" strike="noStrike" cap="none" normalizeH="0" baseline="0" dirty="0">
                <a:ln>
                  <a:noFill/>
                </a:ln>
                <a:solidFill>
                  <a:schemeClr val="tx1"/>
                </a:solidFill>
                <a:effectLst/>
                <a:latin typeface="Arial" panose="020B0604020202020204" pitchFamily="34" charset="0"/>
              </a:rPr>
              <a:t> training.</a:t>
            </a:r>
          </a:p>
        </p:txBody>
      </p:sp>
      <p:sp>
        <p:nvSpPr>
          <p:cNvPr id="6" name="Rectangle 3">
            <a:extLst>
              <a:ext uri="{FF2B5EF4-FFF2-40B4-BE49-F238E27FC236}">
                <a16:creationId xmlns:a16="http://schemas.microsoft.com/office/drawing/2014/main" id="{B6C22702-0CD2-D653-B3F6-5AE1ABFBD9D8}"/>
              </a:ext>
            </a:extLst>
          </p:cNvPr>
          <p:cNvSpPr>
            <a:spLocks noChangeArrowheads="1"/>
          </p:cNvSpPr>
          <p:nvPr/>
        </p:nvSpPr>
        <p:spPr bwMode="auto">
          <a:xfrm>
            <a:off x="545409" y="5320783"/>
            <a:ext cx="98487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Proper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scoring</a:t>
            </a:r>
            <a:r>
              <a:rPr kumimoji="0" lang="es-MX" altLang="es-MX" sz="1800" b="0" i="0" u="none" strike="noStrike" cap="none" normalizeH="0" baseline="0" dirty="0">
                <a:ln>
                  <a:noFill/>
                </a:ln>
                <a:solidFill>
                  <a:schemeClr val="tx1"/>
                </a:solidFill>
                <a:effectLst/>
                <a:latin typeface="Arial" panose="020B0604020202020204" pitchFamily="34" charset="0"/>
              </a:rPr>
              <a:t> rule, </a:t>
            </a:r>
            <a:r>
              <a:rPr kumimoji="0" lang="es-MX" altLang="es-MX" sz="1800" b="0" i="0" u="none" strike="noStrike" cap="none" normalizeH="0" baseline="0" dirty="0" err="1">
                <a:ln>
                  <a:noFill/>
                </a:ln>
                <a:solidFill>
                  <a:schemeClr val="tx1"/>
                </a:solidFill>
                <a:effectLst/>
                <a:latin typeface="Arial" panose="020B0604020202020204" pitchFamily="34" charset="0"/>
              </a:rPr>
              <a:t>Theoretically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grounded</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information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theory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Directly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optimizes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likelihood</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
        <p:nvSpPr>
          <p:cNvPr id="7" name="Rectangle 4">
            <a:extLst>
              <a:ext uri="{FF2B5EF4-FFF2-40B4-BE49-F238E27FC236}">
                <a16:creationId xmlns:a16="http://schemas.microsoft.com/office/drawing/2014/main" id="{925BB060-3C0F-6292-8C1E-45D627FC0C62}"/>
              </a:ext>
            </a:extLst>
          </p:cNvPr>
          <p:cNvSpPr>
            <a:spLocks noChangeArrowheads="1"/>
          </p:cNvSpPr>
          <p:nvPr/>
        </p:nvSpPr>
        <p:spPr bwMode="auto">
          <a:xfrm>
            <a:off x="571500" y="5884515"/>
            <a:ext cx="111011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Does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not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correctness</a:t>
            </a:r>
            <a:r>
              <a:rPr kumimoji="0" lang="es-MX" altLang="es-MX" sz="1800" b="0" i="0" u="none" strike="noStrike" cap="none" normalizeH="0" baseline="0" dirty="0">
                <a:ln>
                  <a:noFill/>
                </a:ln>
                <a:solidFill>
                  <a:schemeClr val="tx1"/>
                </a:solidFill>
                <a:effectLst/>
                <a:latin typeface="Arial" panose="020B0604020202020204" pitchFamily="34" charset="0"/>
              </a:rPr>
              <a:t>, Small </a:t>
            </a:r>
            <a:r>
              <a:rPr kumimoji="0" lang="es-MX" altLang="es-MX" sz="1800" b="0" i="0" u="none" strike="noStrike" cap="none" normalizeH="0" baseline="0" dirty="0" err="1">
                <a:ln>
                  <a:noFill/>
                </a:ln>
                <a:solidFill>
                  <a:schemeClr val="tx1"/>
                </a:solidFill>
                <a:effectLst/>
                <a:latin typeface="Arial" panose="020B0604020202020204" pitchFamily="34" charset="0"/>
              </a:rPr>
              <a:t>changes</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wording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may</a:t>
            </a:r>
            <a:r>
              <a:rPr kumimoji="0" lang="es-MX" altLang="es-MX" sz="1800" b="0" i="0" u="none" strike="noStrike" cap="none" normalizeH="0" baseline="0" dirty="0">
                <a:ln>
                  <a:noFill/>
                </a:ln>
                <a:solidFill>
                  <a:schemeClr val="tx1"/>
                </a:solidFill>
                <a:effectLst/>
                <a:latin typeface="Arial" panose="020B0604020202020204" pitchFamily="34" charset="0"/>
              </a:rPr>
              <a:t> cause </a:t>
            </a:r>
            <a:r>
              <a:rPr kumimoji="0" lang="es-MX" altLang="es-MX" sz="1800" b="0" i="0" u="none" strike="noStrike" cap="none" normalizeH="0" baseline="0" dirty="0" err="1">
                <a:ln>
                  <a:noFill/>
                </a:ln>
                <a:solidFill>
                  <a:schemeClr val="tx1"/>
                </a:solidFill>
                <a:effectLst/>
                <a:latin typeface="Arial" panose="020B0604020202020204" pitchFamily="34" charset="0"/>
              </a:rPr>
              <a:t>large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loss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differences</a:t>
            </a:r>
            <a:r>
              <a:rPr kumimoji="0" lang="es-MX" altLang="es-MX"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MX" altLang="es-MX" sz="1800" b="0" i="0" u="none" strike="noStrike" cap="none" normalizeH="0" baseline="0" dirty="0">
                <a:ln>
                  <a:noFill/>
                </a:ln>
                <a:solidFill>
                  <a:schemeClr val="tx1"/>
                </a:solidFill>
                <a:effectLst/>
                <a:latin typeface="Arial" panose="020B0604020202020204" pitchFamily="34" charset="0"/>
              </a:rPr>
              <a:t>Poor </a:t>
            </a:r>
            <a:r>
              <a:rPr kumimoji="0" lang="es-MX" altLang="es-MX" sz="1800" b="0" i="0" u="none" strike="noStrike" cap="none" normalizeH="0" baseline="0" dirty="0" err="1">
                <a:ln>
                  <a:noFill/>
                </a:ln>
                <a:solidFill>
                  <a:schemeClr val="tx1"/>
                </a:solidFill>
                <a:effectLst/>
                <a:latin typeface="Arial" panose="020B0604020202020204" pitchFamily="34" charset="0"/>
              </a:rPr>
              <a:t>alignment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with</a:t>
            </a:r>
            <a:r>
              <a:rPr kumimoji="0" lang="es-MX" altLang="es-MX" sz="1800" b="0" i="0" u="none" strike="noStrike" cap="none" normalizeH="0" baseline="0" dirty="0">
                <a:ln>
                  <a:noFill/>
                </a:ln>
                <a:solidFill>
                  <a:schemeClr val="tx1"/>
                </a:solidFill>
                <a:effectLst/>
                <a:latin typeface="Arial" panose="020B0604020202020204" pitchFamily="34" charset="0"/>
              </a:rPr>
              <a:t> human </a:t>
            </a:r>
            <a:r>
              <a:rPr kumimoji="0" lang="es-MX" altLang="es-MX" sz="1800" b="0" i="0" u="none" strike="noStrike" cap="none" normalizeH="0" baseline="0" dirty="0" err="1">
                <a:ln>
                  <a:noFill/>
                </a:ln>
                <a:solidFill>
                  <a:schemeClr val="tx1"/>
                </a:solidFill>
                <a:effectLst/>
                <a:latin typeface="Arial" panose="020B0604020202020204" pitchFamily="34" charset="0"/>
              </a:rPr>
              <a:t>judgment</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generation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tasks</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6694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5CE2B-33A4-5E30-BB31-744DF25C5917}"/>
              </a:ext>
            </a:extLst>
          </p:cNvPr>
          <p:cNvSpPr>
            <a:spLocks noGrp="1"/>
          </p:cNvSpPr>
          <p:nvPr>
            <p:ph type="title"/>
          </p:nvPr>
        </p:nvSpPr>
        <p:spPr/>
        <p:txBody>
          <a:bodyPr/>
          <a:lstStyle/>
          <a:p>
            <a:r>
              <a:rPr lang="es-MX" dirty="0"/>
              <a:t>1.2 </a:t>
            </a:r>
            <a:r>
              <a:rPr lang="es-MX" dirty="0" err="1"/>
              <a:t>Perplexity</a:t>
            </a:r>
            <a:r>
              <a:rPr lang="es-MX" dirty="0"/>
              <a:t> (PPL)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949A2CF-7D7D-E34B-D08A-116D59310774}"/>
                  </a:ext>
                </a:extLst>
              </p:cNvPr>
              <p:cNvSpPr>
                <a:spLocks noGrp="1"/>
              </p:cNvSpPr>
              <p:nvPr>
                <p:ph idx="1"/>
              </p:nvPr>
            </p:nvSpPr>
            <p:spPr/>
            <p:txBody>
              <a:bodyPr/>
              <a:lstStyle/>
              <a:p>
                <a:pPr marL="0" indent="0">
                  <a:buNone/>
                </a:pPr>
                <a:r>
                  <a:rPr lang="es-MX" dirty="0" err="1"/>
                  <a:t>It’s</a:t>
                </a:r>
                <a:r>
                  <a:rPr lang="es-MX" dirty="0"/>
                  <a:t> </a:t>
                </a:r>
                <a:r>
                  <a:rPr lang="es-MX" dirty="0" err="1"/>
                  <a:t>the</a:t>
                </a:r>
                <a:r>
                  <a:rPr lang="es-MX" dirty="0"/>
                  <a:t> </a:t>
                </a:r>
                <a:r>
                  <a:rPr lang="es-MX" dirty="0" err="1"/>
                  <a:t>exponentiation</a:t>
                </a:r>
                <a:r>
                  <a:rPr lang="es-MX" dirty="0"/>
                  <a:t> </a:t>
                </a:r>
                <a:r>
                  <a:rPr lang="es-MX" dirty="0" err="1"/>
                  <a:t>of</a:t>
                </a:r>
                <a:r>
                  <a:rPr lang="es-MX" dirty="0"/>
                  <a:t> </a:t>
                </a:r>
                <a:r>
                  <a:rPr lang="es-MX" dirty="0" err="1"/>
                  <a:t>cross-entropy</a:t>
                </a:r>
                <a:r>
                  <a:rPr lang="es-MX" dirty="0"/>
                  <a:t>:</a:t>
                </a:r>
              </a:p>
              <a:p>
                <a:pPr marL="0" indent="0">
                  <a:buNone/>
                </a:pPr>
                <a:endParaRPr lang="es-CO" b="0" dirty="0"/>
              </a:p>
              <a:p>
                <a:pPr marL="0" indent="0">
                  <a:buNone/>
                </a:pPr>
                <a14:m>
                  <m:oMathPara xmlns:m="http://schemas.openxmlformats.org/officeDocument/2006/math">
                    <m:oMathParaPr>
                      <m:jc m:val="centerGroup"/>
                    </m:oMathParaPr>
                    <m:oMath xmlns:m="http://schemas.openxmlformats.org/officeDocument/2006/math">
                      <m:r>
                        <m:rPr>
                          <m:nor/>
                        </m:rPr>
                        <a:rPr lang="es-MX" b="0"/>
                        <m:t>PPL</m:t>
                      </m:r>
                      <m:r>
                        <a:rPr lang="es-MX">
                          <a:latin typeface="Cambria Math" panose="02040503050406030204" pitchFamily="18" charset="0"/>
                        </a:rPr>
                        <m:t>=</m:t>
                      </m:r>
                      <m:r>
                        <m:rPr>
                          <m:sty m:val="p"/>
                        </m:rPr>
                        <a:rPr lang="es-MX">
                          <a:latin typeface="Cambria Math" panose="02040503050406030204" pitchFamily="18" charset="0"/>
                        </a:rPr>
                        <m:t>exp</m:t>
                      </m:r>
                      <m:r>
                        <a:rPr lang="es-MX">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ℒ</m:t>
                          </m:r>
                        </m:e>
                      </m:d>
                    </m:oMath>
                  </m:oMathPara>
                </a14:m>
                <a:endParaRPr lang="ar-AE" b="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E949A2CF-7D7D-E34B-D08A-116D59310774}"/>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6E2500CE-C462-9F43-DF24-7A8B3B7C94F1}"/>
              </a:ext>
            </a:extLst>
          </p:cNvPr>
          <p:cNvSpPr>
            <a:spLocks noChangeArrowheads="1"/>
          </p:cNvSpPr>
          <p:nvPr/>
        </p:nvSpPr>
        <p:spPr bwMode="auto">
          <a:xfrm>
            <a:off x="682274" y="3671413"/>
            <a:ext cx="1082745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Lower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perplexity</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better</a:t>
            </a:r>
            <a:r>
              <a:rPr kumimoji="0" lang="es-MX" altLang="es-MX" sz="1800" b="0" i="0" u="none" strike="noStrike" cap="none" normalizeH="0" baseline="0" dirty="0">
                <a:ln>
                  <a:noFill/>
                </a:ln>
                <a:solidFill>
                  <a:schemeClr val="tx1"/>
                </a:solidFill>
                <a:effectLst/>
                <a:latin typeface="Arial" panose="020B0604020202020204" pitchFamily="34" charset="0"/>
              </a:rPr>
              <a:t> predictive </a:t>
            </a:r>
            <a:r>
              <a:rPr kumimoji="0" lang="es-MX" altLang="es-MX" sz="1800" b="0" i="0" u="none" strike="noStrike" cap="none" normalizeH="0" baseline="0" dirty="0" err="1">
                <a:ln>
                  <a:noFill/>
                </a:ln>
                <a:solidFill>
                  <a:schemeClr val="tx1"/>
                </a:solidFill>
                <a:effectLst/>
                <a:latin typeface="Arial" panose="020B0604020202020204" pitchFamily="34" charset="0"/>
              </a:rPr>
              <a:t>modeling</a:t>
            </a:r>
            <a:r>
              <a:rPr lang="es-MX" altLang="es-MX" dirty="0"/>
              <a:t>,</a:t>
            </a:r>
            <a:r>
              <a:rPr lang="en-US" dirty="0"/>
              <a:t> ex. PPL = 10 → model is as uncertain as choosing among 10</a:t>
            </a:r>
          </a:p>
          <a:p>
            <a:pPr lvl="0" eaLnBrk="0" fontAlgn="base" hangingPunct="0">
              <a:spcBef>
                <a:spcPct val="0"/>
              </a:spcBef>
              <a:spcAft>
                <a:spcPct val="0"/>
              </a:spcAft>
            </a:pPr>
            <a:r>
              <a:rPr lang="en-US" dirty="0"/>
              <a:t>equally likely tokens. Comparable across models on the same dataset.</a:t>
            </a:r>
          </a:p>
          <a:p>
            <a:pPr lvl="0" eaLnBrk="0" fontAlgn="base" hangingPunct="0">
              <a:spcBef>
                <a:spcPct val="0"/>
              </a:spcBef>
              <a:spcAft>
                <a:spcPct val="0"/>
              </a:spcAft>
            </a:pPr>
            <a:endParaRPr lang="en-US" dirty="0"/>
          </a:p>
          <a:p>
            <a:pPr marL="285750" lvl="0" indent="-285750" eaLnBrk="0" fontAlgn="base" hangingPunct="0">
              <a:spcBef>
                <a:spcPct val="0"/>
              </a:spcBef>
              <a:spcAft>
                <a:spcPct val="0"/>
              </a:spcAft>
              <a:buFontTx/>
              <a:buChar char="-"/>
            </a:pPr>
            <a:r>
              <a:rPr lang="en-US" dirty="0"/>
              <a:t>Not reliable for downstream task quality.</a:t>
            </a:r>
          </a:p>
          <a:p>
            <a:pPr marL="285750" lvl="0" indent="-285750" eaLnBrk="0" fontAlgn="base" hangingPunct="0">
              <a:spcBef>
                <a:spcPct val="0"/>
              </a:spcBef>
              <a:spcAft>
                <a:spcPct val="0"/>
              </a:spcAft>
              <a:buFontTx/>
              <a:buChar char="-"/>
            </a:pPr>
            <a:r>
              <a:rPr lang="es-MX" dirty="0"/>
              <a:t>Sensitive </a:t>
            </a:r>
            <a:r>
              <a:rPr lang="es-MX" dirty="0" err="1"/>
              <a:t>to</a:t>
            </a:r>
            <a:r>
              <a:rPr lang="es-MX" dirty="0"/>
              <a:t> </a:t>
            </a:r>
            <a:r>
              <a:rPr lang="es-MX" dirty="0" err="1"/>
              <a:t>tokenizer</a:t>
            </a:r>
            <a:r>
              <a:rPr lang="es-MX" dirty="0"/>
              <a:t>.</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4639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371A7B-0778-3443-7CE9-E7A4A4EB8196}"/>
              </a:ext>
            </a:extLst>
          </p:cNvPr>
          <p:cNvSpPr>
            <a:spLocks noGrp="1"/>
          </p:cNvSpPr>
          <p:nvPr>
            <p:ph type="title"/>
          </p:nvPr>
        </p:nvSpPr>
        <p:spPr/>
        <p:txBody>
          <a:bodyPr/>
          <a:lstStyle/>
          <a:p>
            <a:r>
              <a:rPr lang="es-MX" dirty="0"/>
              <a:t>2.1 BLEU (</a:t>
            </a:r>
            <a:r>
              <a:rPr lang="es-MX" dirty="0" err="1"/>
              <a:t>Bilingual</a:t>
            </a:r>
            <a:r>
              <a:rPr lang="es-MX" dirty="0"/>
              <a:t> </a:t>
            </a:r>
            <a:r>
              <a:rPr lang="es-MX" dirty="0" err="1"/>
              <a:t>Evaluation</a:t>
            </a:r>
            <a:r>
              <a:rPr lang="es-MX" dirty="0"/>
              <a:t> </a:t>
            </a:r>
            <a:r>
              <a:rPr lang="es-MX" dirty="0" err="1"/>
              <a:t>Understudy</a:t>
            </a:r>
            <a:r>
              <a:rPr lang="es-MX"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18F7F15-35DA-5FA3-D3FD-04737A72E93C}"/>
                  </a:ext>
                </a:extLst>
              </p:cNvPr>
              <p:cNvSpPr>
                <a:spLocks noGrp="1"/>
              </p:cNvSpPr>
              <p:nvPr>
                <p:ph idx="1"/>
              </p:nvPr>
            </p:nvSpPr>
            <p:spPr>
              <a:xfrm>
                <a:off x="838200" y="1825625"/>
                <a:ext cx="10839450" cy="4351338"/>
              </a:xfrm>
            </p:spPr>
            <p:txBody>
              <a:bodyPr/>
              <a:lstStyle/>
              <a:p>
                <a:pPr marL="0" indent="0">
                  <a:buNone/>
                </a:pPr>
                <a:r>
                  <a:rPr lang="es-MX" dirty="0"/>
                  <a:t>BLEU </a:t>
                </a:r>
                <a:r>
                  <a:rPr lang="es-MX" dirty="0" err="1"/>
                  <a:t>measures</a:t>
                </a:r>
                <a:r>
                  <a:rPr lang="es-MX" dirty="0"/>
                  <a:t> n-</a:t>
                </a:r>
                <a:r>
                  <a:rPr lang="es-MX" dirty="0" err="1"/>
                  <a:t>gram</a:t>
                </a:r>
                <a:r>
                  <a:rPr lang="es-MX" dirty="0"/>
                  <a:t> </a:t>
                </a:r>
                <a:r>
                  <a:rPr lang="es-MX" dirty="0" err="1"/>
                  <a:t>precision</a:t>
                </a:r>
                <a:r>
                  <a:rPr lang="es-MX" dirty="0"/>
                  <a:t> </a:t>
                </a:r>
                <a:r>
                  <a:rPr lang="es-MX" dirty="0" err="1"/>
                  <a:t>between</a:t>
                </a:r>
                <a:r>
                  <a:rPr lang="es-MX" dirty="0"/>
                  <a:t> candidate and </a:t>
                </a:r>
                <a:r>
                  <a:rPr lang="es-MX" dirty="0" err="1"/>
                  <a:t>reference</a:t>
                </a:r>
                <a:r>
                  <a:rPr lang="es-MX" dirty="0"/>
                  <a:t>:</a:t>
                </a:r>
              </a:p>
              <a:p>
                <a:pPr marL="0" indent="0">
                  <a:buNone/>
                </a:pPr>
                <a14:m>
                  <m:oMathPara xmlns:m="http://schemas.openxmlformats.org/officeDocument/2006/math">
                    <m:oMathParaPr>
                      <m:jc m:val="centerGroup"/>
                    </m:oMathParaPr>
                    <m:oMath xmlns:m="http://schemas.openxmlformats.org/officeDocument/2006/math">
                      <m:r>
                        <m:rPr>
                          <m:nor/>
                        </m:rPr>
                        <a:rPr lang="es-MX" b="0"/>
                        <m:t>BLEU</m:t>
                      </m:r>
                      <m:r>
                        <a:rPr lang="es-MX">
                          <a:latin typeface="Cambria Math" panose="02040503050406030204" pitchFamily="18" charset="0"/>
                        </a:rPr>
                        <m:t>=</m:t>
                      </m:r>
                      <m:r>
                        <a:rPr lang="es-MX" i="1">
                          <a:latin typeface="Cambria Math" panose="02040503050406030204" pitchFamily="18" charset="0"/>
                        </a:rPr>
                        <m:t>𝐵𝑃</m:t>
                      </m:r>
                      <m:r>
                        <a:rPr lang="es-MX">
                          <a:latin typeface="Cambria Math" panose="02040503050406030204" pitchFamily="18" charset="0"/>
                        </a:rPr>
                        <m:t>⋅</m:t>
                      </m:r>
                      <m:func>
                        <m:funcPr>
                          <m:ctrlPr>
                            <a:rPr lang="ar-AE" i="1">
                              <a:latin typeface="Cambria Math" panose="02040503050406030204" pitchFamily="18" charset="0"/>
                            </a:rPr>
                          </m:ctrlPr>
                        </m:funcPr>
                        <m:fName>
                          <m:r>
                            <m:rPr>
                              <m:sty m:val="p"/>
                            </m:rPr>
                            <a:rPr lang="es-MX">
                              <a:latin typeface="Cambria Math" panose="02040503050406030204" pitchFamily="18" charset="0"/>
                            </a:rPr>
                            <m:t>exp</m:t>
                          </m:r>
                        </m:fName>
                        <m:e>
                          <m:d>
                            <m:dPr>
                              <m:ctrlPr>
                                <a:rPr lang="ar-AE" i="1">
                                  <a:latin typeface="Cambria Math" panose="02040503050406030204" pitchFamily="18" charset="0"/>
                                </a:rPr>
                              </m:ctrlPr>
                            </m:dPr>
                            <m:e>
                              <m:nary>
                                <m:naryPr>
                                  <m:chr m:val="∑"/>
                                  <m:grow m:val="on"/>
                                  <m:ctrlPr>
                                    <a:rPr lang="ar-AE" i="1">
                                      <a:latin typeface="Cambria Math" panose="02040503050406030204" pitchFamily="18" charset="0"/>
                                    </a:rPr>
                                  </m:ctrlPr>
                                </m:naryPr>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𝑁</m:t>
                                  </m:r>
                                </m:sup>
                                <m:e>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𝑛</m:t>
                                      </m:r>
                                    </m:sub>
                                  </m:sSub>
                                </m:e>
                              </m:nary>
                              <m:func>
                                <m:funcPr>
                                  <m:ctrlPr>
                                    <a:rPr lang="ar-AE" i="1">
                                      <a:latin typeface="Cambria Math" panose="02040503050406030204" pitchFamily="18" charset="0"/>
                                    </a:rPr>
                                  </m:ctrlPr>
                                </m:funcPr>
                                <m:fName>
                                  <m:r>
                                    <m:rPr>
                                      <m:sty m:val="p"/>
                                    </m:rPr>
                                    <a:rPr lang="es-MX">
                                      <a:latin typeface="Cambria Math" panose="02040503050406030204" pitchFamily="18" charset="0"/>
                                    </a:rPr>
                                    <m:t>log</m:t>
                                  </m:r>
                                </m:fName>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𝑛</m:t>
                                      </m:r>
                                    </m:sub>
                                  </m:sSub>
                                </m:e>
                              </m:func>
                            </m:e>
                          </m:d>
                        </m:e>
                      </m:func>
                    </m:oMath>
                  </m:oMathPara>
                </a14:m>
                <a:endParaRPr lang="ar-AE" b="0" dirty="0"/>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𝑛</m:t>
                        </m:r>
                      </m:sub>
                    </m:sSub>
                  </m:oMath>
                </a14:m>
                <a:r>
                  <a:rPr lang="ar-AE" dirty="0"/>
                  <a:t>= </a:t>
                </a:r>
                <a:r>
                  <a:rPr lang="es-MX" dirty="0" err="1"/>
                  <a:t>modified</a:t>
                </a:r>
                <a:r>
                  <a:rPr lang="es-MX" dirty="0"/>
                  <a:t> n-</a:t>
                </a:r>
                <a:r>
                  <a:rPr lang="es-MX" dirty="0" err="1"/>
                  <a:t>gram</a:t>
                </a:r>
                <a:r>
                  <a:rPr lang="es-MX" dirty="0"/>
                  <a:t> </a:t>
                </a:r>
                <a:r>
                  <a:rPr lang="es-MX" dirty="0" err="1"/>
                  <a:t>precision</a:t>
                </a:r>
                <a:r>
                  <a:rPr lang="es-MX" dirty="0"/>
                  <a:t>, </a:t>
                </a:r>
                <a14:m>
                  <m:oMath xmlns:m="http://schemas.openxmlformats.org/officeDocument/2006/math">
                    <m:r>
                      <a:rPr lang="es-MX" i="1">
                        <a:latin typeface="Cambria Math" panose="02040503050406030204" pitchFamily="18" charset="0"/>
                      </a:rPr>
                      <m:t>𝐵𝑃</m:t>
                    </m:r>
                  </m:oMath>
                </a14:m>
                <a:r>
                  <a:rPr lang="es-MX" dirty="0"/>
                  <a:t>= </a:t>
                </a:r>
                <a:r>
                  <a:rPr lang="es-MX" dirty="0" err="1"/>
                  <a:t>brevity</a:t>
                </a:r>
                <a:r>
                  <a:rPr lang="es-MX" dirty="0"/>
                  <a:t> </a:t>
                </a:r>
                <a:r>
                  <a:rPr lang="es-MX" dirty="0" err="1"/>
                  <a:t>penalty</a:t>
                </a:r>
                <a:endParaRPr lang="es-MX" dirty="0"/>
              </a:p>
              <a:p>
                <a:pPr marL="0" indent="0">
                  <a:buNone/>
                </a:pPr>
                <a:endParaRPr lang="es-MX"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B18F7F15-35DA-5FA3-D3FD-04737A72E93C}"/>
                  </a:ext>
                </a:extLst>
              </p:cNvPr>
              <p:cNvSpPr>
                <a:spLocks noGrp="1" noRot="1" noChangeAspect="1" noMove="1" noResize="1" noEditPoints="1" noAdjustHandles="1" noChangeArrowheads="1" noChangeShapeType="1" noTextEdit="1"/>
              </p:cNvSpPr>
              <p:nvPr>
                <p:ph idx="1"/>
              </p:nvPr>
            </p:nvSpPr>
            <p:spPr>
              <a:xfrm>
                <a:off x="838200" y="1825625"/>
                <a:ext cx="10839450" cy="4351338"/>
              </a:xfrm>
              <a:blipFill>
                <a:blip r:embed="rId2"/>
                <a:stretch>
                  <a:fillRect l="-1181" t="-238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0B633F16-6732-916C-002F-534CE0A9D012}"/>
              </a:ext>
            </a:extLst>
          </p:cNvPr>
          <p:cNvSpPr>
            <a:spLocks noChangeArrowheads="1"/>
          </p:cNvSpPr>
          <p:nvPr/>
        </p:nvSpPr>
        <p:spPr bwMode="auto">
          <a:xfrm>
            <a:off x="255227" y="4473059"/>
            <a:ext cx="52534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Simple and </a:t>
            </a:r>
            <a:r>
              <a:rPr kumimoji="0" lang="es-MX" altLang="es-MX" sz="1800" b="0" i="0" u="none" strike="noStrike" cap="none" normalizeH="0" baseline="0" dirty="0" err="1">
                <a:ln>
                  <a:noFill/>
                </a:ln>
                <a:solidFill>
                  <a:schemeClr val="tx1"/>
                </a:solidFill>
                <a:effectLst/>
                <a:latin typeface="Arial" panose="020B0604020202020204" pitchFamily="34" charset="0"/>
              </a:rPr>
              <a:t>widely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used</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Machinne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Translation</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A37FA55-5446-A9B6-07DF-334EBC4B4FBF}"/>
              </a:ext>
            </a:extLst>
          </p:cNvPr>
          <p:cNvSpPr>
            <a:spLocks noChangeArrowheads="1"/>
          </p:cNvSpPr>
          <p:nvPr/>
        </p:nvSpPr>
        <p:spPr bwMode="auto">
          <a:xfrm>
            <a:off x="245702" y="4980891"/>
            <a:ext cx="100880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Precision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only</a:t>
            </a:r>
            <a:r>
              <a:rPr kumimoji="0" lang="es-MX" altLang="es-MX" sz="1800" b="0" i="0" u="none" strike="noStrike" cap="none" normalizeH="0" baseline="0" dirty="0">
                <a:ln>
                  <a:noFill/>
                </a:ln>
                <a:solidFill>
                  <a:schemeClr val="tx1"/>
                </a:solidFill>
                <a:effectLst/>
                <a:latin typeface="Arial" panose="020B0604020202020204" pitchFamily="34" charset="0"/>
              </a:rPr>
              <a:t> (ignores </a:t>
            </a:r>
            <a:r>
              <a:rPr kumimoji="0" lang="es-MX" altLang="es-MX" sz="1800" b="0" i="0" u="none" strike="noStrike" cap="none" normalizeH="0" baseline="0" dirty="0" err="1">
                <a:ln>
                  <a:noFill/>
                </a:ln>
                <a:solidFill>
                  <a:schemeClr val="tx1"/>
                </a:solidFill>
                <a:effectLst/>
                <a:latin typeface="Arial" panose="020B0604020202020204" pitchFamily="34" charset="0"/>
              </a:rPr>
              <a:t>recall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penalizes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paraphrasing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poor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correlation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with</a:t>
            </a:r>
            <a:r>
              <a:rPr kumimoji="0" lang="es-MX" altLang="es-MX" sz="1800" b="0" i="0" u="none" strike="noStrike" cap="none" normalizeH="0" baseline="0" dirty="0">
                <a:ln>
                  <a:noFill/>
                </a:ln>
                <a:solidFill>
                  <a:schemeClr val="tx1"/>
                </a:solidFill>
                <a:effectLst/>
                <a:latin typeface="Arial" panose="020B0604020202020204" pitchFamily="34" charset="0"/>
              </a:rPr>
              <a:t> human </a:t>
            </a:r>
            <a:r>
              <a:rPr kumimoji="0" lang="es-MX" altLang="es-MX" sz="1800" b="0" i="0" u="none" strike="noStrike" cap="none" normalizeH="0" baseline="0" dirty="0" err="1">
                <a:ln>
                  <a:noFill/>
                </a:ln>
                <a:solidFill>
                  <a:schemeClr val="tx1"/>
                </a:solidFill>
                <a:effectLst/>
                <a:latin typeface="Arial" panose="020B0604020202020204" pitchFamily="34" charset="0"/>
              </a:rPr>
              <a:t>judgment</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50425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F96698-0ECD-5DB8-A745-9E511FA735E3}"/>
              </a:ext>
            </a:extLst>
          </p:cNvPr>
          <p:cNvSpPr>
            <a:spLocks noGrp="1"/>
          </p:cNvSpPr>
          <p:nvPr>
            <p:ph type="title"/>
          </p:nvPr>
        </p:nvSpPr>
        <p:spPr/>
        <p:txBody>
          <a:bodyPr/>
          <a:lstStyle/>
          <a:p>
            <a:r>
              <a:rPr lang="es-MX" dirty="0"/>
              <a:t>2.2 ROUGE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FFE6DFC-00AB-77FC-0B10-D07C7720D9BF}"/>
                  </a:ext>
                </a:extLst>
              </p:cNvPr>
              <p:cNvSpPr>
                <a:spLocks noGrp="1"/>
              </p:cNvSpPr>
              <p:nvPr>
                <p:ph idx="1"/>
              </p:nvPr>
            </p:nvSpPr>
            <p:spPr>
              <a:xfrm>
                <a:off x="762000" y="1481138"/>
                <a:ext cx="10515600" cy="4351338"/>
              </a:xfrm>
            </p:spPr>
            <p:txBody>
              <a:bodyPr/>
              <a:lstStyle/>
              <a:p>
                <a:pPr marL="0" indent="0">
                  <a:buNone/>
                </a:pPr>
                <a:r>
                  <a:rPr lang="es-MX" dirty="0" err="1"/>
                  <a:t>Primarily</a:t>
                </a:r>
                <a:r>
                  <a:rPr lang="es-MX" dirty="0"/>
                  <a:t> </a:t>
                </a:r>
                <a:r>
                  <a:rPr lang="es-MX" dirty="0" err="1"/>
                  <a:t>recall-oriented</a:t>
                </a:r>
                <a:r>
                  <a:rPr lang="es-MX" dirty="0"/>
                  <a:t>.</a:t>
                </a:r>
              </a:p>
              <a:p>
                <a:pPr marL="0" indent="0">
                  <a:buNone/>
                </a:pPr>
                <a:r>
                  <a:rPr lang="es-MX" b="1" dirty="0" err="1"/>
                  <a:t>Variants</a:t>
                </a:r>
                <a:r>
                  <a:rPr lang="es-MX" b="1" dirty="0"/>
                  <a:t>:</a:t>
                </a:r>
              </a:p>
              <a:p>
                <a:r>
                  <a:rPr lang="es-MX" dirty="0"/>
                  <a:t>ROUGE-N (n-</a:t>
                </a:r>
                <a:r>
                  <a:rPr lang="es-MX" dirty="0" err="1"/>
                  <a:t>gram</a:t>
                </a:r>
                <a:r>
                  <a:rPr lang="es-MX" dirty="0"/>
                  <a:t> </a:t>
                </a:r>
                <a:r>
                  <a:rPr lang="es-MX" dirty="0" err="1"/>
                  <a:t>recall</a:t>
                </a:r>
                <a:r>
                  <a:rPr lang="es-MX" dirty="0"/>
                  <a:t>)</a:t>
                </a:r>
              </a:p>
              <a:p>
                <a:r>
                  <a:rPr lang="es-MX" dirty="0"/>
                  <a:t>ROUGE-L (</a:t>
                </a:r>
                <a:r>
                  <a:rPr lang="es-MX" dirty="0" err="1"/>
                  <a:t>longest</a:t>
                </a:r>
                <a:r>
                  <a:rPr lang="es-MX" dirty="0"/>
                  <a:t> </a:t>
                </a:r>
                <a:r>
                  <a:rPr lang="es-MX" dirty="0" err="1"/>
                  <a:t>common</a:t>
                </a:r>
                <a:r>
                  <a:rPr lang="es-MX" dirty="0"/>
                  <a:t> </a:t>
                </a:r>
                <a:r>
                  <a:rPr lang="es-MX" dirty="0" err="1"/>
                  <a:t>subsequence</a:t>
                </a:r>
                <a:r>
                  <a:rPr lang="es-MX" dirty="0"/>
                  <a:t>)</a:t>
                </a:r>
              </a:p>
              <a:p>
                <a:endParaRPr lang="es-MX" dirty="0"/>
              </a:p>
              <a:p>
                <a:pPr marL="0" indent="0">
                  <a:buNone/>
                </a:pPr>
                <a14:m>
                  <m:oMathPara xmlns:m="http://schemas.openxmlformats.org/officeDocument/2006/math">
                    <m:oMathParaPr>
                      <m:jc m:val="centerGroup"/>
                    </m:oMathParaPr>
                    <m:oMath xmlns:m="http://schemas.openxmlformats.org/officeDocument/2006/math">
                      <m:r>
                        <m:rPr>
                          <m:nor/>
                        </m:rPr>
                        <a:rPr lang="es-MX" b="0"/>
                        <m:t>ROUGE</m:t>
                      </m:r>
                      <m:r>
                        <m:rPr>
                          <m:nor/>
                        </m:rPr>
                        <a:rPr lang="es-MX" b="0"/>
                        <m:t>−</m:t>
                      </m:r>
                      <m:r>
                        <m:rPr>
                          <m:nor/>
                        </m:rPr>
                        <a:rPr lang="es-MX" b="0"/>
                        <m:t>N</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overlapping</m:t>
                          </m:r>
                          <m:r>
                            <m:rPr>
                              <m:nor/>
                            </m:rPr>
                            <a:rPr lang="es-MX" i="1"/>
                            <m:t> </m:t>
                          </m:r>
                          <m:r>
                            <m:rPr>
                              <m:nor/>
                            </m:rPr>
                            <a:rPr lang="es-MX" i="1"/>
                            <m:t>n</m:t>
                          </m:r>
                          <m:r>
                            <m:rPr>
                              <m:nor/>
                            </m:rPr>
                            <a:rPr lang="es-MX" i="1"/>
                            <m:t>−</m:t>
                          </m:r>
                          <m:r>
                            <m:rPr>
                              <m:nor/>
                            </m:rPr>
                            <a:rPr lang="es-MX" i="1"/>
                            <m:t>grams</m:t>
                          </m:r>
                        </m:num>
                        <m:den>
                          <m:r>
                            <m:rPr>
                              <m:nor/>
                            </m:rPr>
                            <a:rPr lang="es-MX" i="1"/>
                            <m:t>reference</m:t>
                          </m:r>
                          <m:r>
                            <m:rPr>
                              <m:nor/>
                            </m:rPr>
                            <a:rPr lang="es-MX" i="1"/>
                            <m:t> </m:t>
                          </m:r>
                          <m:r>
                            <m:rPr>
                              <m:nor/>
                            </m:rPr>
                            <a:rPr lang="es-MX" i="1"/>
                            <m:t>n</m:t>
                          </m:r>
                          <m:r>
                            <m:rPr>
                              <m:nor/>
                            </m:rPr>
                            <a:rPr lang="es-MX" i="1"/>
                            <m:t>−</m:t>
                          </m:r>
                          <m:r>
                            <m:rPr>
                              <m:nor/>
                            </m:rPr>
                            <a:rPr lang="es-MX" i="1"/>
                            <m:t>grams</m:t>
                          </m:r>
                        </m:den>
                      </m:f>
                    </m:oMath>
                  </m:oMathPara>
                </a14:m>
                <a:endParaRPr lang="ar-AE" b="0" dirty="0"/>
              </a:p>
              <a:p>
                <a:pPr marL="0" indent="0">
                  <a:buNone/>
                </a:pPr>
                <a:endParaRPr lang="es-MX" dirty="0"/>
              </a:p>
            </p:txBody>
          </p:sp>
        </mc:Choice>
        <mc:Fallback xmlns="">
          <p:sp>
            <p:nvSpPr>
              <p:cNvPr id="3" name="Marcador de contenido 2">
                <a:extLst>
                  <a:ext uri="{FF2B5EF4-FFF2-40B4-BE49-F238E27FC236}">
                    <a16:creationId xmlns:a16="http://schemas.microsoft.com/office/drawing/2014/main" id="{6FFE6DFC-00AB-77FC-0B10-D07C7720D9BF}"/>
                  </a:ext>
                </a:extLst>
              </p:cNvPr>
              <p:cNvSpPr>
                <a:spLocks noGrp="1" noRot="1" noChangeAspect="1" noMove="1" noResize="1" noEditPoints="1" noAdjustHandles="1" noChangeArrowheads="1" noChangeShapeType="1" noTextEdit="1"/>
              </p:cNvSpPr>
              <p:nvPr>
                <p:ph idx="1"/>
              </p:nvPr>
            </p:nvSpPr>
            <p:spPr>
              <a:xfrm>
                <a:off x="762000" y="1481138"/>
                <a:ext cx="10515600" cy="4351338"/>
              </a:xfrm>
              <a:blipFill>
                <a:blip r:embed="rId2"/>
                <a:stretch>
                  <a:fillRect l="-1159" t="-2521"/>
                </a:stretch>
              </a:blipFill>
            </p:spPr>
            <p:txBody>
              <a:bodyPr/>
              <a:lstStyle/>
              <a:p>
                <a:r>
                  <a:rPr lang="es-MX">
                    <a:noFill/>
                  </a:rPr>
                  <a:t> </a:t>
                </a:r>
              </a:p>
            </p:txBody>
          </p:sp>
        </mc:Fallback>
      </mc:AlternateContent>
      <p:sp>
        <p:nvSpPr>
          <p:cNvPr id="4" name="Rectangle 1">
            <a:extLst>
              <a:ext uri="{FF2B5EF4-FFF2-40B4-BE49-F238E27FC236}">
                <a16:creationId xmlns:a16="http://schemas.microsoft.com/office/drawing/2014/main" id="{FF352878-02BF-A973-2C50-6B82D954E004}"/>
              </a:ext>
            </a:extLst>
          </p:cNvPr>
          <p:cNvSpPr>
            <a:spLocks noChangeArrowheads="1"/>
          </p:cNvSpPr>
          <p:nvPr/>
        </p:nvSpPr>
        <p:spPr bwMode="auto">
          <a:xfrm>
            <a:off x="914400" y="5367337"/>
            <a:ext cx="6441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Works </a:t>
            </a:r>
            <a:r>
              <a:rPr kumimoji="0" lang="es-MX" altLang="es-MX" sz="1800" b="0" i="0" u="none" strike="noStrike" cap="none" normalizeH="0" baseline="0" dirty="0" err="1">
                <a:ln>
                  <a:noFill/>
                </a:ln>
                <a:solidFill>
                  <a:schemeClr val="tx1"/>
                </a:solidFill>
                <a:effectLst/>
                <a:latin typeface="Arial" panose="020B0604020202020204" pitchFamily="34" charset="0"/>
              </a:rPr>
              <a:t>well</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for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summarization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Measures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content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coverage</a:t>
            </a:r>
            <a:r>
              <a:rPr kumimoji="0" lang="es-MX" altLang="es-MX" sz="1800" b="0" i="0" u="none" strike="noStrike" cap="none" normalizeH="0" baseline="0" dirty="0">
                <a:ln>
                  <a:noFill/>
                </a:ln>
                <a:solidFill>
                  <a:schemeClr val="tx1"/>
                </a:solidFill>
                <a:effectLst/>
                <a:latin typeface="Arial" panose="020B0604020202020204" pitchFamily="34" charset="0"/>
              </a:rPr>
              <a:t>, </a:t>
            </a:r>
          </a:p>
        </p:txBody>
      </p:sp>
      <p:sp>
        <p:nvSpPr>
          <p:cNvPr id="5" name="Rectangle 2">
            <a:extLst>
              <a:ext uri="{FF2B5EF4-FFF2-40B4-BE49-F238E27FC236}">
                <a16:creationId xmlns:a16="http://schemas.microsoft.com/office/drawing/2014/main" id="{26ED78BE-1EB8-E663-0C80-AC3EA5644A36}"/>
              </a:ext>
            </a:extLst>
          </p:cNvPr>
          <p:cNvSpPr>
            <a:spLocks noChangeArrowheads="1"/>
          </p:cNvSpPr>
          <p:nvPr/>
        </p:nvSpPr>
        <p:spPr bwMode="auto">
          <a:xfrm>
            <a:off x="914400" y="5786437"/>
            <a:ext cx="40479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Cannot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detect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equivalence</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94033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7F5A6-AE24-87F4-7350-62077F836E4A}"/>
              </a:ext>
            </a:extLst>
          </p:cNvPr>
          <p:cNvSpPr>
            <a:spLocks noGrp="1"/>
          </p:cNvSpPr>
          <p:nvPr>
            <p:ph type="title"/>
          </p:nvPr>
        </p:nvSpPr>
        <p:spPr/>
        <p:txBody>
          <a:bodyPr/>
          <a:lstStyle/>
          <a:p>
            <a:r>
              <a:rPr lang="es-CO" dirty="0"/>
              <a:t>2.3 METEOR</a:t>
            </a:r>
            <a:endParaRPr lang="es-MX" dirty="0"/>
          </a:p>
        </p:txBody>
      </p:sp>
      <p:sp>
        <p:nvSpPr>
          <p:cNvPr id="3" name="Marcador de contenido 2">
            <a:extLst>
              <a:ext uri="{FF2B5EF4-FFF2-40B4-BE49-F238E27FC236}">
                <a16:creationId xmlns:a16="http://schemas.microsoft.com/office/drawing/2014/main" id="{17004A2B-C884-7276-05AC-C8BC6473ABFB}"/>
              </a:ext>
            </a:extLst>
          </p:cNvPr>
          <p:cNvSpPr>
            <a:spLocks noGrp="1"/>
          </p:cNvSpPr>
          <p:nvPr>
            <p:ph idx="1"/>
          </p:nvPr>
        </p:nvSpPr>
        <p:spPr/>
        <p:txBody>
          <a:bodyPr>
            <a:normAutofit fontScale="92500" lnSpcReduction="10000"/>
          </a:bodyPr>
          <a:lstStyle/>
          <a:p>
            <a:pPr marL="0" indent="0" algn="just">
              <a:buNone/>
            </a:pPr>
            <a:r>
              <a:rPr lang="en-US" b="1" dirty="0"/>
              <a:t>M</a:t>
            </a:r>
            <a:r>
              <a:rPr lang="en-US" dirty="0"/>
              <a:t>etric for </a:t>
            </a:r>
            <a:r>
              <a:rPr lang="en-US" b="1" dirty="0"/>
              <a:t>E</a:t>
            </a:r>
            <a:r>
              <a:rPr lang="en-US" dirty="0"/>
              <a:t>valuation of </a:t>
            </a:r>
            <a:r>
              <a:rPr lang="en-US" b="1" dirty="0"/>
              <a:t>T</a:t>
            </a:r>
            <a:r>
              <a:rPr lang="en-US" dirty="0"/>
              <a:t>ranslation with </a:t>
            </a:r>
            <a:r>
              <a:rPr lang="en-US" b="1" dirty="0"/>
              <a:t>E</a:t>
            </a:r>
            <a:r>
              <a:rPr lang="en-US" dirty="0"/>
              <a:t>xplicit </a:t>
            </a:r>
            <a:r>
              <a:rPr lang="en-US" b="1" dirty="0" err="1"/>
              <a:t>OR</a:t>
            </a:r>
            <a:r>
              <a:rPr lang="en-US" dirty="0" err="1"/>
              <a:t>dering</a:t>
            </a:r>
            <a:r>
              <a:rPr lang="en-US" dirty="0"/>
              <a:t>. Improve the shortcomings of the BLEU metric by correlating better with human judgments of quality.</a:t>
            </a:r>
          </a:p>
          <a:p>
            <a:pPr marL="0" indent="0" algn="just">
              <a:buNone/>
            </a:pPr>
            <a:endParaRPr lang="en-US" dirty="0"/>
          </a:p>
          <a:p>
            <a:pPr marL="0" indent="0" algn="just">
              <a:buNone/>
            </a:pPr>
            <a:r>
              <a:rPr lang="en-US" dirty="0"/>
              <a:t>A score based on the </a:t>
            </a:r>
            <a:r>
              <a:rPr lang="en-US" b="1" dirty="0"/>
              <a:t>alignment</a:t>
            </a:r>
            <a:r>
              <a:rPr lang="en-US" dirty="0"/>
              <a:t> between a machine-generated sentence (the "candidate") and one or more human-created reference sentences, Combines Precision, Recall, Stemming and Synonym matching.</a:t>
            </a:r>
          </a:p>
          <a:p>
            <a:pPr marL="0" indent="0" algn="just">
              <a:buNone/>
            </a:pPr>
            <a:endParaRPr lang="en-US" dirty="0"/>
          </a:p>
          <a:p>
            <a:pPr marL="0" indent="0" algn="just">
              <a:buNone/>
            </a:pPr>
            <a:r>
              <a:rPr lang="en-US" dirty="0"/>
              <a:t>It penalizes translations where the matched words are not in a similar order in the candidate and reference sentences. </a:t>
            </a:r>
            <a:endParaRPr lang="es-MX" dirty="0"/>
          </a:p>
        </p:txBody>
      </p:sp>
    </p:spTree>
    <p:extLst>
      <p:ext uri="{BB962C8B-B14F-4D97-AF65-F5344CB8AC3E}">
        <p14:creationId xmlns:p14="http://schemas.microsoft.com/office/powerpoint/2010/main" val="3482457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863131F-7B7C-6605-9942-A67E8614A37A}"/>
              </a:ext>
            </a:extLst>
          </p:cNvPr>
          <p:cNvSpPr>
            <a:spLocks noGrp="1"/>
          </p:cNvSpPr>
          <p:nvPr>
            <p:ph idx="1"/>
          </p:nvPr>
        </p:nvSpPr>
        <p:spPr>
          <a:xfrm>
            <a:off x="913677" y="5057774"/>
            <a:ext cx="10534650" cy="1114425"/>
          </a:xfrm>
        </p:spPr>
        <p:txBody>
          <a:bodyPr>
            <a:normAutofit fontScale="92500" lnSpcReduction="10000"/>
          </a:bodyPr>
          <a:lstStyle/>
          <a:p>
            <a:pPr marL="0" indent="0" algn="just">
              <a:buNone/>
            </a:pPr>
            <a:r>
              <a:rPr lang="en-US" dirty="0"/>
              <a:t>METEOR is a more sophisticated and semantically-aware metric than BLEU, making it a powerful tool for evaluating the nuanced text generated by modern LLMs.</a:t>
            </a:r>
            <a:endParaRPr lang="es-MX" dirty="0"/>
          </a:p>
        </p:txBody>
      </p:sp>
      <p:pic>
        <p:nvPicPr>
          <p:cNvPr id="5" name="Imagen 4">
            <a:extLst>
              <a:ext uri="{FF2B5EF4-FFF2-40B4-BE49-F238E27FC236}">
                <a16:creationId xmlns:a16="http://schemas.microsoft.com/office/drawing/2014/main" id="{6A67DD2F-3D33-43C4-CFF6-CEEA0CE962F0}"/>
              </a:ext>
            </a:extLst>
          </p:cNvPr>
          <p:cNvPicPr>
            <a:picLocks noChangeAspect="1"/>
          </p:cNvPicPr>
          <p:nvPr/>
        </p:nvPicPr>
        <p:blipFill>
          <a:blip r:embed="rId2"/>
          <a:stretch>
            <a:fillRect/>
          </a:stretch>
        </p:blipFill>
        <p:spPr>
          <a:xfrm>
            <a:off x="913677" y="509290"/>
            <a:ext cx="10364646" cy="4258269"/>
          </a:xfrm>
          <a:prstGeom prst="rect">
            <a:avLst/>
          </a:prstGeom>
        </p:spPr>
      </p:pic>
    </p:spTree>
    <p:extLst>
      <p:ext uri="{BB962C8B-B14F-4D97-AF65-F5344CB8AC3E}">
        <p14:creationId xmlns:p14="http://schemas.microsoft.com/office/powerpoint/2010/main" val="3539877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CCB68-DE8A-D73C-D39D-B4E882574FA4}"/>
              </a:ext>
            </a:extLst>
          </p:cNvPr>
          <p:cNvSpPr>
            <a:spLocks noGrp="1"/>
          </p:cNvSpPr>
          <p:nvPr>
            <p:ph type="title"/>
          </p:nvPr>
        </p:nvSpPr>
        <p:spPr/>
        <p:txBody>
          <a:bodyPr/>
          <a:lstStyle/>
          <a:p>
            <a:r>
              <a:rPr lang="es-MX" dirty="0"/>
              <a:t>3.1 </a:t>
            </a:r>
            <a:r>
              <a:rPr lang="es-MX" dirty="0" err="1"/>
              <a:t>BERTScore</a:t>
            </a:r>
            <a:endParaRPr lang="es-MX" dirty="0"/>
          </a:p>
        </p:txBody>
      </p:sp>
      <p:sp>
        <p:nvSpPr>
          <p:cNvPr id="3" name="Marcador de contenido 2">
            <a:extLst>
              <a:ext uri="{FF2B5EF4-FFF2-40B4-BE49-F238E27FC236}">
                <a16:creationId xmlns:a16="http://schemas.microsoft.com/office/drawing/2014/main" id="{563660C6-D702-E5C9-E521-B4D7418BAB74}"/>
              </a:ext>
            </a:extLst>
          </p:cNvPr>
          <p:cNvSpPr>
            <a:spLocks noGrp="1"/>
          </p:cNvSpPr>
          <p:nvPr>
            <p:ph idx="1"/>
          </p:nvPr>
        </p:nvSpPr>
        <p:spPr/>
        <p:txBody>
          <a:bodyPr/>
          <a:lstStyle/>
          <a:p>
            <a:pPr marL="0" indent="0">
              <a:buNone/>
            </a:pPr>
            <a:r>
              <a:rPr lang="en-US" dirty="0"/>
              <a:t>Computes contextual embeddings (e.g., BERT) for candidate and reference tokens and measure cosine similarity.</a:t>
            </a:r>
          </a:p>
          <a:p>
            <a:pPr marL="0" indent="0">
              <a:buNone/>
            </a:pPr>
            <a:endParaRPr lang="en-US" dirty="0"/>
          </a:p>
          <a:p>
            <a:pPr marL="0" indent="0">
              <a:buNone/>
            </a:pPr>
            <a:r>
              <a:rPr lang="en-US" dirty="0"/>
              <a:t>For each token find the most similar token in the reference. Aggregate precision and recall.</a:t>
            </a:r>
          </a:p>
          <a:p>
            <a:pPr marL="0" indent="0">
              <a:buNone/>
            </a:pPr>
            <a:endParaRPr lang="es-MX" dirty="0"/>
          </a:p>
        </p:txBody>
      </p:sp>
      <p:sp>
        <p:nvSpPr>
          <p:cNvPr id="4" name="Rectangle 1">
            <a:extLst>
              <a:ext uri="{FF2B5EF4-FFF2-40B4-BE49-F238E27FC236}">
                <a16:creationId xmlns:a16="http://schemas.microsoft.com/office/drawing/2014/main" id="{92676580-2872-38E6-1DC4-73D0FE9AB97B}"/>
              </a:ext>
            </a:extLst>
          </p:cNvPr>
          <p:cNvSpPr>
            <a:spLocks noChangeArrowheads="1"/>
          </p:cNvSpPr>
          <p:nvPr/>
        </p:nvSpPr>
        <p:spPr bwMode="auto">
          <a:xfrm>
            <a:off x="838200" y="4410760"/>
            <a:ext cx="32143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Captures </a:t>
            </a:r>
            <a:r>
              <a:rPr kumimoji="0" lang="es-MX" altLang="es-MX" sz="1800" b="0" i="0" u="none" strike="noStrike" cap="none" normalizeH="0" baseline="0" dirty="0" err="1">
                <a:ln>
                  <a:noFill/>
                </a:ln>
                <a:solidFill>
                  <a:schemeClr val="tx1"/>
                </a:solidFill>
                <a:effectLst/>
                <a:latin typeface="Arial" panose="020B0604020202020204" pitchFamily="34" charset="0"/>
              </a:rPr>
              <a:t>semantic</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similarity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Robust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to</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paraphrasing</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ADD5870-737B-49C4-3D35-F773A3418EDD}"/>
              </a:ext>
            </a:extLst>
          </p:cNvPr>
          <p:cNvSpPr>
            <a:spLocks noChangeArrowheads="1"/>
          </p:cNvSpPr>
          <p:nvPr/>
        </p:nvSpPr>
        <p:spPr bwMode="auto">
          <a:xfrm>
            <a:off x="847725" y="4971366"/>
            <a:ext cx="347082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Computationally</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expensive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Depends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on</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embedding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model</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7937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42389-66EE-6CBA-96F0-276310A6FA29}"/>
              </a:ext>
            </a:extLst>
          </p:cNvPr>
          <p:cNvSpPr>
            <a:spLocks noGrp="1"/>
          </p:cNvSpPr>
          <p:nvPr>
            <p:ph type="title"/>
          </p:nvPr>
        </p:nvSpPr>
        <p:spPr/>
        <p:txBody>
          <a:bodyPr/>
          <a:lstStyle/>
          <a:p>
            <a:r>
              <a:rPr lang="es-MX" dirty="0"/>
              <a:t>4. </a:t>
            </a:r>
            <a:r>
              <a:rPr lang="es-MX" dirty="0" err="1"/>
              <a:t>Task-Specific</a:t>
            </a:r>
            <a:r>
              <a:rPr lang="es-MX" dirty="0"/>
              <a:t> </a:t>
            </a:r>
            <a:r>
              <a:rPr lang="es-MX" dirty="0" err="1"/>
              <a:t>Metrics</a:t>
            </a:r>
            <a:endParaRPr lang="es-MX"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3C4877B-85B8-944A-5069-0005AE9F8E23}"/>
                  </a:ext>
                </a:extLst>
              </p:cNvPr>
              <p:cNvSpPr>
                <a:spLocks noGrp="1"/>
              </p:cNvSpPr>
              <p:nvPr>
                <p:ph idx="1"/>
              </p:nvPr>
            </p:nvSpPr>
            <p:spPr/>
            <p:txBody>
              <a:bodyPr/>
              <a:lstStyle/>
              <a:p>
                <a:r>
                  <a:rPr lang="es-MX" b="1" dirty="0" err="1"/>
                  <a:t>Exact</a:t>
                </a:r>
                <a:r>
                  <a:rPr lang="es-MX" b="1" dirty="0"/>
                  <a:t> Match (EM): </a:t>
                </a:r>
                <a:r>
                  <a:rPr lang="es-MX" dirty="0"/>
                  <a:t>Used in extractive QA, </a:t>
                </a:r>
                <a:r>
                  <a:rPr lang="es-MX" dirty="0" err="1"/>
                  <a:t>Strict</a:t>
                </a:r>
                <a:r>
                  <a:rPr lang="es-MX" dirty="0"/>
                  <a:t> and interpretable, </a:t>
                </a:r>
                <a:r>
                  <a:rPr lang="es-MX" dirty="0" err="1"/>
                  <a:t>Penalizes</a:t>
                </a:r>
                <a:r>
                  <a:rPr lang="es-MX" dirty="0"/>
                  <a:t> </a:t>
                </a:r>
                <a:r>
                  <a:rPr lang="es-MX" dirty="0" err="1"/>
                  <a:t>equivalent</a:t>
                </a:r>
                <a:r>
                  <a:rPr lang="es-MX" dirty="0"/>
                  <a:t> </a:t>
                </a:r>
                <a:r>
                  <a:rPr lang="es-MX" dirty="0" err="1"/>
                  <a:t>reformulations</a:t>
                </a:r>
                <a:r>
                  <a:rPr lang="es-MX" dirty="0"/>
                  <a:t>.</a:t>
                </a:r>
              </a:p>
              <a:p>
                <a:pPr marL="0" indent="0">
                  <a:buNone/>
                </a:pPr>
                <a:endParaRPr lang="es-MX" b="1"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𝐸𝑀</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exact</m:t>
                          </m:r>
                          <m:r>
                            <m:rPr>
                              <m:nor/>
                            </m:rPr>
                            <a:rPr lang="es-MX" i="1"/>
                            <m:t> </m:t>
                          </m:r>
                          <m:r>
                            <m:rPr>
                              <m:nor/>
                            </m:rPr>
                            <a:rPr lang="es-MX" i="1"/>
                            <m:t>matches</m:t>
                          </m:r>
                        </m:num>
                        <m:den>
                          <m:r>
                            <m:rPr>
                              <m:nor/>
                            </m:rPr>
                            <a:rPr lang="es-MX" i="1"/>
                            <m:t>total</m:t>
                          </m:r>
                          <m:r>
                            <m:rPr>
                              <m:nor/>
                            </m:rPr>
                            <a:rPr lang="es-MX" i="1"/>
                            <m:t> </m:t>
                          </m:r>
                          <m:r>
                            <m:rPr>
                              <m:nor/>
                            </m:rPr>
                            <a:rPr lang="es-MX" i="1"/>
                            <m:t>samples</m:t>
                          </m:r>
                        </m:den>
                      </m:f>
                    </m:oMath>
                  </m:oMathPara>
                </a14:m>
                <a:endParaRPr lang="ar-AE" b="0" dirty="0"/>
              </a:p>
              <a:p>
                <a:r>
                  <a:rPr lang="es-MX" dirty="0"/>
                  <a:t>F1 Score (Token-</a:t>
                </a:r>
                <a:r>
                  <a:rPr lang="es-MX" dirty="0" err="1"/>
                  <a:t>Level</a:t>
                </a:r>
                <a:r>
                  <a:rPr lang="es-MX" dirty="0"/>
                  <a:t>)</a:t>
                </a:r>
              </a:p>
              <a:p>
                <a:r>
                  <a:rPr lang="es-MX" dirty="0" err="1"/>
                  <a:t>Accuracy</a:t>
                </a:r>
                <a:endParaRPr lang="es-MX" dirty="0"/>
              </a:p>
            </p:txBody>
          </p:sp>
        </mc:Choice>
        <mc:Fallback xmlns="">
          <p:sp>
            <p:nvSpPr>
              <p:cNvPr id="3" name="Marcador de contenido 2">
                <a:extLst>
                  <a:ext uri="{FF2B5EF4-FFF2-40B4-BE49-F238E27FC236}">
                    <a16:creationId xmlns:a16="http://schemas.microsoft.com/office/drawing/2014/main" id="{43C4877B-85B8-944A-5069-0005AE9F8E23}"/>
                  </a:ext>
                </a:extLst>
              </p:cNvPr>
              <p:cNvSpPr>
                <a:spLocks noGrp="1" noRot="1" noChangeAspect="1" noMove="1" noResize="1" noEditPoints="1" noAdjustHandles="1" noChangeArrowheads="1" noChangeShapeType="1" noTextEdit="1"/>
              </p:cNvSpPr>
              <p:nvPr>
                <p:ph idx="1"/>
              </p:nvPr>
            </p:nvSpPr>
            <p:spPr>
              <a:blipFill>
                <a:blip r:embed="rId2"/>
                <a:stretch>
                  <a:fillRect l="-1043" t="-2381" r="-812"/>
                </a:stretch>
              </a:blipFill>
            </p:spPr>
            <p:txBody>
              <a:bodyPr/>
              <a:lstStyle/>
              <a:p>
                <a:r>
                  <a:rPr lang="es-MX">
                    <a:noFill/>
                  </a:rPr>
                  <a:t> </a:t>
                </a:r>
              </a:p>
            </p:txBody>
          </p:sp>
        </mc:Fallback>
      </mc:AlternateContent>
    </p:spTree>
    <p:extLst>
      <p:ext uri="{BB962C8B-B14F-4D97-AF65-F5344CB8AC3E}">
        <p14:creationId xmlns:p14="http://schemas.microsoft.com/office/powerpoint/2010/main" val="3676093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CF1DF-6699-27FC-9A1D-972DACE5ABA9}"/>
              </a:ext>
            </a:extLst>
          </p:cNvPr>
          <p:cNvSpPr>
            <a:spLocks noGrp="1"/>
          </p:cNvSpPr>
          <p:nvPr>
            <p:ph type="title"/>
          </p:nvPr>
        </p:nvSpPr>
        <p:spPr/>
        <p:txBody>
          <a:bodyPr/>
          <a:lstStyle/>
          <a:p>
            <a:r>
              <a:rPr lang="es-MX" dirty="0"/>
              <a:t>5. Human </a:t>
            </a:r>
            <a:r>
              <a:rPr lang="es-MX" dirty="0" err="1"/>
              <a:t>Evaluation</a:t>
            </a:r>
            <a:endParaRPr lang="es-MX" dirty="0"/>
          </a:p>
        </p:txBody>
      </p:sp>
      <p:sp>
        <p:nvSpPr>
          <p:cNvPr id="4" name="Rectangle 1">
            <a:extLst>
              <a:ext uri="{FF2B5EF4-FFF2-40B4-BE49-F238E27FC236}">
                <a16:creationId xmlns:a16="http://schemas.microsoft.com/office/drawing/2014/main" id="{D4B59E4E-84F7-96B3-63D9-D0DD2EBDE437}"/>
              </a:ext>
            </a:extLst>
          </p:cNvPr>
          <p:cNvSpPr>
            <a:spLocks noGrp="1" noChangeArrowheads="1"/>
          </p:cNvSpPr>
          <p:nvPr>
            <p:ph idx="1"/>
          </p:nvPr>
        </p:nvSpPr>
        <p:spPr bwMode="auto">
          <a:xfrm>
            <a:off x="838200" y="1739140"/>
            <a:ext cx="97155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Fluency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Coherence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Relevance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Factuality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Helpfulness</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Harmlessness</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1800" b="0" i="0" u="none" strike="noStrike" cap="none" normalizeH="0" baseline="0" dirty="0" err="1">
                <a:ln>
                  <a:noFill/>
                </a:ln>
                <a:solidFill>
                  <a:schemeClr val="tx1"/>
                </a:solidFill>
                <a:effectLst/>
                <a:latin typeface="Arial" panose="020B0604020202020204" pitchFamily="34" charset="0"/>
              </a:rPr>
              <a:t>Scales</a:t>
            </a:r>
            <a:r>
              <a:rPr kumimoji="0" lang="es-MX" altLang="es-MX" sz="1800" b="0" i="0" u="none" strike="noStrike" cap="none" normalizeH="0" baseline="0" dirty="0">
                <a:ln>
                  <a:noFill/>
                </a:ln>
                <a:solidFill>
                  <a:schemeClr val="tx1"/>
                </a:solidFill>
                <a:effectLst/>
                <a:latin typeface="Arial" panose="020B0604020202020204" pitchFamily="34" charset="0"/>
              </a:rPr>
              <a:t>: </a:t>
            </a:r>
            <a:r>
              <a:rPr lang="es-MX" sz="1800" dirty="0" err="1"/>
              <a:t>Pairwise</a:t>
            </a:r>
            <a:r>
              <a:rPr lang="es-MX" sz="1800" dirty="0"/>
              <a:t> ranking, </a:t>
            </a:r>
            <a:r>
              <a:rPr lang="es-MX" sz="1800" dirty="0" err="1"/>
              <a:t>Best</a:t>
            </a:r>
            <a:r>
              <a:rPr lang="es-MX" sz="1800" dirty="0"/>
              <a:t>-</a:t>
            </a:r>
            <a:r>
              <a:rPr lang="es-MX" sz="1800" dirty="0" err="1"/>
              <a:t>of</a:t>
            </a:r>
            <a:r>
              <a:rPr lang="es-MX" sz="1800" dirty="0"/>
              <a:t>-N </a:t>
            </a:r>
            <a:r>
              <a:rPr lang="es-MX" sz="1800" dirty="0" err="1"/>
              <a:t>comparison</a:t>
            </a:r>
            <a:endParaRPr lang="es-MX" sz="1800" dirty="0"/>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lang="es-MX" altLang="es-MX" sz="1800" dirty="0">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26A817F-122F-79C3-A218-D69DD05042D1}"/>
              </a:ext>
            </a:extLst>
          </p:cNvPr>
          <p:cNvSpPr>
            <a:spLocks noChangeArrowheads="1"/>
          </p:cNvSpPr>
          <p:nvPr/>
        </p:nvSpPr>
        <p:spPr bwMode="auto">
          <a:xfrm>
            <a:off x="838200" y="472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Expensive</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Noisy</a:t>
            </a: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err="1">
                <a:ln>
                  <a:noFill/>
                </a:ln>
                <a:solidFill>
                  <a:schemeClr val="tx1"/>
                </a:solidFill>
                <a:effectLst/>
                <a:latin typeface="Arial" panose="020B0604020202020204" pitchFamily="34" charset="0"/>
              </a:rPr>
              <a:t>Inter-annotator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variance</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83868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476F2E-8849-EE48-F212-D5457DD36089}"/>
              </a:ext>
            </a:extLst>
          </p:cNvPr>
          <p:cNvSpPr>
            <a:spLocks noGrp="1"/>
          </p:cNvSpPr>
          <p:nvPr>
            <p:ph type="title"/>
          </p:nvPr>
        </p:nvSpPr>
        <p:spPr/>
        <p:txBody>
          <a:bodyPr/>
          <a:lstStyle/>
          <a:p>
            <a:r>
              <a:rPr lang="es-MX" dirty="0"/>
              <a:t>LLM-as-a-</a:t>
            </a:r>
            <a:r>
              <a:rPr lang="es-MX" dirty="0" err="1"/>
              <a:t>Judge</a:t>
            </a:r>
            <a:endParaRPr lang="es-MX" dirty="0"/>
          </a:p>
        </p:txBody>
      </p:sp>
      <p:sp>
        <p:nvSpPr>
          <p:cNvPr id="3" name="Marcador de contenido 2">
            <a:extLst>
              <a:ext uri="{FF2B5EF4-FFF2-40B4-BE49-F238E27FC236}">
                <a16:creationId xmlns:a16="http://schemas.microsoft.com/office/drawing/2014/main" id="{300749AA-E841-FB21-34A6-F88D730688F5}"/>
              </a:ext>
            </a:extLst>
          </p:cNvPr>
          <p:cNvSpPr>
            <a:spLocks noGrp="1"/>
          </p:cNvSpPr>
          <p:nvPr>
            <p:ph idx="1"/>
          </p:nvPr>
        </p:nvSpPr>
        <p:spPr>
          <a:xfrm>
            <a:off x="761999" y="1485900"/>
            <a:ext cx="10925176" cy="5143500"/>
          </a:xfrm>
        </p:spPr>
        <p:txBody>
          <a:bodyPr>
            <a:normAutofit fontScale="92500" lnSpcReduction="10000"/>
          </a:bodyPr>
          <a:lstStyle/>
          <a:p>
            <a:pPr marL="0" indent="0">
              <a:buNone/>
            </a:pPr>
            <a:r>
              <a:rPr lang="es-MX" sz="2000" dirty="0" err="1"/>
              <a:t>Using</a:t>
            </a:r>
            <a:r>
              <a:rPr lang="es-MX" sz="2000" dirty="0"/>
              <a:t> a </a:t>
            </a:r>
            <a:r>
              <a:rPr lang="es-MX" sz="2000" dirty="0" err="1"/>
              <a:t>stronger</a:t>
            </a:r>
            <a:r>
              <a:rPr lang="es-MX" sz="2000" dirty="0"/>
              <a:t> </a:t>
            </a:r>
            <a:r>
              <a:rPr lang="es-MX" sz="2000" dirty="0" err="1"/>
              <a:t>model</a:t>
            </a:r>
            <a:r>
              <a:rPr lang="es-MX" sz="2000" dirty="0"/>
              <a:t> </a:t>
            </a:r>
            <a:r>
              <a:rPr lang="es-MX" sz="2000" dirty="0" err="1"/>
              <a:t>to</a:t>
            </a:r>
            <a:r>
              <a:rPr lang="es-MX" sz="2000" dirty="0"/>
              <a:t> </a:t>
            </a:r>
            <a:r>
              <a:rPr lang="es-MX" sz="2000" dirty="0" err="1"/>
              <a:t>evaluate</a:t>
            </a:r>
            <a:r>
              <a:rPr lang="es-MX" sz="2000" dirty="0"/>
              <a:t> outputs.</a:t>
            </a:r>
          </a:p>
          <a:p>
            <a:pPr marL="0" indent="0">
              <a:buNone/>
            </a:pPr>
            <a:r>
              <a:rPr lang="es-MX" sz="2000" b="1" dirty="0" err="1"/>
              <a:t>Methods</a:t>
            </a:r>
            <a:r>
              <a:rPr lang="es-MX" sz="2000" b="1" dirty="0"/>
              <a:t>:</a:t>
            </a:r>
          </a:p>
          <a:p>
            <a:r>
              <a:rPr lang="es-MX" sz="2000" dirty="0" err="1"/>
              <a:t>Pairwise</a:t>
            </a:r>
            <a:r>
              <a:rPr lang="es-MX" sz="2000" dirty="0"/>
              <a:t> </a:t>
            </a:r>
            <a:r>
              <a:rPr lang="es-MX" sz="2000" dirty="0" err="1"/>
              <a:t>preference</a:t>
            </a:r>
            <a:endParaRPr lang="es-MX" sz="2000" dirty="0"/>
          </a:p>
          <a:p>
            <a:r>
              <a:rPr lang="es-MX" sz="2000" dirty="0" err="1"/>
              <a:t>Rubric-based</a:t>
            </a:r>
            <a:r>
              <a:rPr lang="es-MX" sz="2000" dirty="0"/>
              <a:t> </a:t>
            </a:r>
            <a:r>
              <a:rPr lang="es-MX" sz="2000" dirty="0" err="1"/>
              <a:t>scoring</a:t>
            </a:r>
            <a:endParaRPr lang="es-MX" sz="2000" dirty="0"/>
          </a:p>
          <a:p>
            <a:r>
              <a:rPr lang="es-MX" sz="2000" dirty="0" err="1"/>
              <a:t>Self-consistency</a:t>
            </a:r>
            <a:r>
              <a:rPr lang="es-MX" sz="2000" dirty="0"/>
              <a:t> </a:t>
            </a:r>
            <a:r>
              <a:rPr lang="es-MX" sz="2000" dirty="0" err="1"/>
              <a:t>voting</a:t>
            </a:r>
            <a:endParaRPr lang="es-MX" sz="2000" dirty="0"/>
          </a:p>
          <a:p>
            <a:pPr marL="0" indent="0">
              <a:buNone/>
            </a:pPr>
            <a:endParaRPr lang="es-MX" sz="2000" b="1" dirty="0"/>
          </a:p>
          <a:p>
            <a:pPr marL="0" indent="0">
              <a:buNone/>
            </a:pPr>
            <a:r>
              <a:rPr lang="es-MX" sz="2000" b="1" dirty="0" err="1"/>
              <a:t>Strengths</a:t>
            </a:r>
            <a:endParaRPr lang="es-MX" sz="2000" b="1" dirty="0"/>
          </a:p>
          <a:p>
            <a:r>
              <a:rPr lang="es-MX" sz="2000" dirty="0" err="1"/>
              <a:t>Scalable</a:t>
            </a:r>
            <a:endParaRPr lang="es-MX" sz="2000" dirty="0"/>
          </a:p>
          <a:p>
            <a:r>
              <a:rPr lang="es-MX" sz="2000" dirty="0" err="1"/>
              <a:t>Often</a:t>
            </a:r>
            <a:r>
              <a:rPr lang="es-MX" sz="2000" dirty="0"/>
              <a:t> </a:t>
            </a:r>
            <a:r>
              <a:rPr lang="es-MX" sz="2000" dirty="0" err="1"/>
              <a:t>correlates</a:t>
            </a:r>
            <a:r>
              <a:rPr lang="es-MX" sz="2000" dirty="0"/>
              <a:t> </a:t>
            </a:r>
            <a:r>
              <a:rPr lang="es-MX" sz="2000" dirty="0" err="1"/>
              <a:t>with</a:t>
            </a:r>
            <a:r>
              <a:rPr lang="es-MX" sz="2000" dirty="0"/>
              <a:t> human </a:t>
            </a:r>
            <a:r>
              <a:rPr lang="es-MX" sz="2000" dirty="0" err="1"/>
              <a:t>judgments</a:t>
            </a:r>
            <a:endParaRPr lang="es-MX" sz="2000" dirty="0"/>
          </a:p>
          <a:p>
            <a:pPr marL="0" indent="0">
              <a:buNone/>
            </a:pPr>
            <a:endParaRPr lang="es-MX" sz="2000" b="1" dirty="0"/>
          </a:p>
          <a:p>
            <a:pPr marL="0" indent="0">
              <a:buNone/>
            </a:pPr>
            <a:r>
              <a:rPr lang="es-MX" sz="2000" b="1" dirty="0" err="1"/>
              <a:t>Weaknesses</a:t>
            </a:r>
            <a:endParaRPr lang="es-MX" sz="2000" b="1" dirty="0"/>
          </a:p>
          <a:p>
            <a:r>
              <a:rPr lang="es-MX" sz="2000" dirty="0" err="1"/>
              <a:t>Bias</a:t>
            </a:r>
            <a:r>
              <a:rPr lang="es-MX" sz="2000" dirty="0"/>
              <a:t> </a:t>
            </a:r>
            <a:r>
              <a:rPr lang="es-MX" sz="2000" dirty="0" err="1"/>
              <a:t>toward</a:t>
            </a:r>
            <a:r>
              <a:rPr lang="es-MX" sz="2000" dirty="0"/>
              <a:t> similar </a:t>
            </a:r>
            <a:r>
              <a:rPr lang="es-MX" sz="2000" dirty="0" err="1"/>
              <a:t>models</a:t>
            </a:r>
            <a:endParaRPr lang="es-MX" sz="2000" dirty="0"/>
          </a:p>
          <a:p>
            <a:r>
              <a:rPr lang="es-MX" sz="2000" dirty="0" err="1"/>
              <a:t>Prompt</a:t>
            </a:r>
            <a:r>
              <a:rPr lang="es-MX" sz="2000" dirty="0"/>
              <a:t> </a:t>
            </a:r>
            <a:r>
              <a:rPr lang="es-MX" sz="2000" dirty="0" err="1"/>
              <a:t>sensitivity</a:t>
            </a:r>
            <a:endParaRPr lang="es-MX" sz="2000" dirty="0"/>
          </a:p>
          <a:p>
            <a:r>
              <a:rPr lang="es-MX" sz="2000" dirty="0" err="1"/>
              <a:t>Circularity</a:t>
            </a:r>
            <a:r>
              <a:rPr lang="es-MX" sz="2000" dirty="0"/>
              <a:t> </a:t>
            </a:r>
            <a:r>
              <a:rPr lang="es-MX" sz="2000" dirty="0" err="1"/>
              <a:t>risk</a:t>
            </a:r>
            <a:endParaRPr lang="es-MX" sz="2000" dirty="0"/>
          </a:p>
          <a:p>
            <a:endParaRPr lang="es-MX" sz="2000" dirty="0"/>
          </a:p>
        </p:txBody>
      </p:sp>
    </p:spTree>
    <p:extLst>
      <p:ext uri="{BB962C8B-B14F-4D97-AF65-F5344CB8AC3E}">
        <p14:creationId xmlns:p14="http://schemas.microsoft.com/office/powerpoint/2010/main" val="1452566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F53D9C-EC69-66CC-5467-9EE4905D4914}"/>
              </a:ext>
            </a:extLst>
          </p:cNvPr>
          <p:cNvSpPr>
            <a:spLocks noGrp="1"/>
          </p:cNvSpPr>
          <p:nvPr>
            <p:ph type="title"/>
          </p:nvPr>
        </p:nvSpPr>
        <p:spPr/>
        <p:txBody>
          <a:bodyPr/>
          <a:lstStyle/>
          <a:p>
            <a:r>
              <a:rPr lang="es-MX" dirty="0" err="1"/>
              <a:t>Preference-Based</a:t>
            </a:r>
            <a:r>
              <a:rPr lang="es-MX" dirty="0"/>
              <a:t> </a:t>
            </a:r>
            <a:r>
              <a:rPr lang="es-MX" dirty="0" err="1"/>
              <a:t>Evaluation</a:t>
            </a:r>
            <a:r>
              <a:rPr lang="es-MX" dirty="0"/>
              <a:t> (</a:t>
            </a:r>
            <a:r>
              <a:rPr lang="es-MX" dirty="0" err="1"/>
              <a:t>Alignment</a:t>
            </a:r>
            <a:r>
              <a:rPr lang="es-MX" dirty="0"/>
              <a:t> </a:t>
            </a:r>
            <a:r>
              <a:rPr lang="es-MX" dirty="0" err="1"/>
              <a:t>Metrics</a:t>
            </a:r>
            <a:r>
              <a:rPr lang="es-MX"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A6A45A3-845C-D61B-6C4D-5B154C07594F}"/>
                  </a:ext>
                </a:extLst>
              </p:cNvPr>
              <p:cNvSpPr>
                <a:spLocks noGrp="1"/>
              </p:cNvSpPr>
              <p:nvPr>
                <p:ph idx="1"/>
              </p:nvPr>
            </p:nvSpPr>
            <p:spPr/>
            <p:txBody>
              <a:bodyPr/>
              <a:lstStyle/>
              <a:p>
                <a:pPr marL="0" indent="0">
                  <a:buNone/>
                </a:pPr>
                <a:r>
                  <a:rPr lang="en-US" dirty="0"/>
                  <a:t>Used in RLHF and DPO training.</a:t>
                </a:r>
              </a:p>
              <a:p>
                <a:pPr marL="0" indent="0">
                  <a:buNone/>
                </a:pPr>
                <a:endParaRPr lang="en-US" dirty="0"/>
              </a:p>
              <a:p>
                <a:pPr marL="0" indent="0">
                  <a:buNone/>
                </a:pPr>
                <a:r>
                  <a:rPr lang="es-MX" b="1" dirty="0" err="1"/>
                  <a:t>Win</a:t>
                </a:r>
                <a:r>
                  <a:rPr lang="es-MX" b="1" dirty="0"/>
                  <a:t> </a:t>
                </a:r>
                <a:r>
                  <a:rPr lang="es-MX" b="1" dirty="0" err="1"/>
                  <a:t>Rate</a:t>
                </a:r>
                <a:endParaRPr lang="es-MX" b="1" dirty="0"/>
              </a:p>
              <a:p>
                <a:pPr marL="0" indent="0">
                  <a:buNone/>
                </a:pPr>
                <a14:m>
                  <m:oMathPara xmlns:m="http://schemas.openxmlformats.org/officeDocument/2006/math">
                    <m:oMathParaPr>
                      <m:jc m:val="centerGroup"/>
                    </m:oMathParaPr>
                    <m:oMath xmlns:m="http://schemas.openxmlformats.org/officeDocument/2006/math">
                      <m:r>
                        <m:rPr>
                          <m:nor/>
                        </m:rPr>
                        <a:rPr lang="es-MX" b="0"/>
                        <m:t>Win</m:t>
                      </m:r>
                      <m:r>
                        <m:rPr>
                          <m:nor/>
                        </m:rPr>
                        <a:rPr lang="es-MX" b="0" i="1"/>
                        <m:t> </m:t>
                      </m:r>
                      <m:r>
                        <m:rPr>
                          <m:nor/>
                        </m:rPr>
                        <a:rPr lang="es-MX" b="0" i="1"/>
                        <m:t>Rate</m:t>
                      </m:r>
                      <m:r>
                        <a:rPr lang="es-MX">
                          <a:latin typeface="Cambria Math" panose="02040503050406030204" pitchFamily="18" charset="0"/>
                        </a:rPr>
                        <m:t>=</m:t>
                      </m:r>
                      <m:f>
                        <m:fPr>
                          <m:ctrlPr>
                            <a:rPr lang="ar-AE" i="1">
                              <a:latin typeface="Cambria Math" panose="02040503050406030204" pitchFamily="18" charset="0"/>
                            </a:rPr>
                          </m:ctrlPr>
                        </m:fPr>
                        <m:num>
                          <m:r>
                            <m:rPr>
                              <m:nor/>
                            </m:rPr>
                            <a:rPr lang="es-MX" i="1"/>
                            <m:t>wins</m:t>
                          </m:r>
                        </m:num>
                        <m:den>
                          <m:r>
                            <m:rPr>
                              <m:nor/>
                            </m:rPr>
                            <a:rPr lang="es-MX" i="1"/>
                            <m:t>wins</m:t>
                          </m:r>
                          <m:r>
                            <m:rPr>
                              <m:nor/>
                            </m:rPr>
                            <a:rPr lang="es-MX" i="1"/>
                            <m:t> + </m:t>
                          </m:r>
                          <m:r>
                            <m:rPr>
                              <m:nor/>
                            </m:rPr>
                            <a:rPr lang="es-MX" i="1"/>
                            <m:t>losses</m:t>
                          </m:r>
                        </m:den>
                      </m:f>
                    </m:oMath>
                  </m:oMathPara>
                </a14:m>
                <a:endParaRPr lang="ar-AE" b="0" dirty="0"/>
              </a:p>
              <a:p>
                <a:pPr marL="0" indent="0">
                  <a:buNone/>
                </a:pPr>
                <a:endParaRPr lang="es-MX" dirty="0"/>
              </a:p>
              <a:p>
                <a:pPr marL="0" indent="0">
                  <a:buNone/>
                </a:pPr>
                <a:r>
                  <a:rPr lang="es-MX" dirty="0"/>
                  <a:t>Used in </a:t>
                </a:r>
                <a:r>
                  <a:rPr lang="es-MX" dirty="0" err="1"/>
                  <a:t>pairwise</a:t>
                </a:r>
                <a:r>
                  <a:rPr lang="es-MX" dirty="0"/>
                  <a:t> </a:t>
                </a:r>
                <a:r>
                  <a:rPr lang="es-MX" dirty="0" err="1"/>
                  <a:t>comparison</a:t>
                </a:r>
                <a:r>
                  <a:rPr lang="es-MX" dirty="0"/>
                  <a:t> </a:t>
                </a:r>
                <a:r>
                  <a:rPr lang="es-MX" dirty="0" err="1"/>
                  <a:t>settings</a:t>
                </a:r>
                <a:r>
                  <a:rPr lang="es-MX" dirty="0"/>
                  <a:t>.</a:t>
                </a:r>
              </a:p>
              <a:p>
                <a:pPr marL="0" indent="0">
                  <a:buNone/>
                </a:pPr>
                <a:endParaRPr lang="es-MX" dirty="0"/>
              </a:p>
            </p:txBody>
          </p:sp>
        </mc:Choice>
        <mc:Fallback xmlns="">
          <p:sp>
            <p:nvSpPr>
              <p:cNvPr id="3" name="Marcador de contenido 2">
                <a:extLst>
                  <a:ext uri="{FF2B5EF4-FFF2-40B4-BE49-F238E27FC236}">
                    <a16:creationId xmlns:a16="http://schemas.microsoft.com/office/drawing/2014/main" id="{0A6A45A3-845C-D61B-6C4D-5B154C07594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s-MX">
                    <a:noFill/>
                  </a:rPr>
                  <a:t> </a:t>
                </a:r>
              </a:p>
            </p:txBody>
          </p:sp>
        </mc:Fallback>
      </mc:AlternateContent>
    </p:spTree>
    <p:extLst>
      <p:ext uri="{BB962C8B-B14F-4D97-AF65-F5344CB8AC3E}">
        <p14:creationId xmlns:p14="http://schemas.microsoft.com/office/powerpoint/2010/main" val="3606072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6724</TotalTime>
  <Words>3205</Words>
  <Application>Microsoft Office PowerPoint</Application>
  <PresentationFormat>Panorámica</PresentationFormat>
  <Paragraphs>387</Paragraphs>
  <Slides>54</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54</vt:i4>
      </vt:variant>
    </vt:vector>
  </HeadingPairs>
  <TitlesOfParts>
    <vt:vector size="65" baseType="lpstr">
      <vt:lpstr>Aptos</vt:lpstr>
      <vt:lpstr>Aptos Display</vt:lpstr>
      <vt:lpstr>Arial</vt:lpstr>
      <vt:lpstr>Cambria Math</vt:lpstr>
      <vt:lpstr>Charter</vt:lpstr>
      <vt:lpstr>Google Sans</vt:lpstr>
      <vt:lpstr>Google Sans Text</vt:lpstr>
      <vt:lpstr>Helvetica</vt:lpstr>
      <vt:lpstr>sohne</vt:lpstr>
      <vt:lpstr>source-serif-pro</vt:lpstr>
      <vt:lpstr>Tema de Office</vt:lpstr>
      <vt:lpstr>From Embeddings to LLMs</vt:lpstr>
      <vt:lpstr>Word2Vec</vt:lpstr>
      <vt:lpstr>Vector Arithmetic</vt:lpstr>
      <vt:lpstr>Embeddings</vt:lpstr>
      <vt:lpstr>Presentación de PowerPoint</vt:lpstr>
      <vt:lpstr>Presentación de PowerPoint</vt:lpstr>
      <vt:lpstr>Embedding example</vt:lpstr>
      <vt:lpstr>Similarity based on the cosine distance [-1,1]</vt:lpstr>
      <vt:lpstr>Similarity based on the cosine distance [-1,1]</vt:lpstr>
      <vt:lpstr>Vector Databases</vt:lpstr>
      <vt:lpstr>Vector Databases Comparison Parameters</vt:lpstr>
      <vt:lpstr>LLM</vt:lpstr>
      <vt:lpstr>A token</vt:lpstr>
      <vt:lpstr>Presentación de PowerPoint</vt:lpstr>
      <vt:lpstr>Why Tokenization Matters in LLMs</vt:lpstr>
      <vt:lpstr>What Is an n-Gram?</vt:lpstr>
      <vt:lpstr>Example</vt:lpstr>
      <vt:lpstr>Subword Tokenization in Modern LLMs</vt:lpstr>
      <vt:lpstr>Why BPE Works </vt:lpstr>
      <vt:lpstr>Transformer architecture and its evolution</vt:lpstr>
      <vt:lpstr>Presentación de PowerPoint</vt:lpstr>
      <vt:lpstr>Presentación de PowerPoint</vt:lpstr>
      <vt:lpstr>How do Transformer models process language?</vt:lpstr>
      <vt:lpstr>Presentación de PowerPoint</vt:lpstr>
      <vt:lpstr>Presentación de PowerPoint</vt:lpstr>
      <vt:lpstr>Presentación de PowerPoint</vt:lpstr>
      <vt:lpstr>Sub word and Multi words tokens</vt:lpstr>
      <vt:lpstr>Tokenization (Byte Pair Encoding (BPE))</vt:lpstr>
      <vt:lpstr>Unigram Language Model</vt:lpstr>
      <vt:lpstr>WordPiece</vt:lpstr>
      <vt:lpstr>Comparative Insights</vt:lpstr>
      <vt:lpstr>Types of Pre-training of LLMs</vt:lpstr>
      <vt:lpstr>BERT: Bidirectional Encoder Representations from Transformers</vt:lpstr>
      <vt:lpstr>Fine-tuning of LLMs</vt:lpstr>
      <vt:lpstr>Fine tuneable LLMs</vt:lpstr>
      <vt:lpstr>Presentación de PowerPoint</vt:lpstr>
      <vt:lpstr>Loss Functions and Metrics</vt:lpstr>
      <vt:lpstr>Optimization techniques in LLMs?</vt:lpstr>
      <vt:lpstr>Presentación de PowerPoint</vt:lpstr>
      <vt:lpstr>How is prompt engineering used to guide LLM behavior</vt:lpstr>
      <vt:lpstr>key emerging capabilities of LLMs</vt:lpstr>
      <vt:lpstr>Presentación de PowerPoint</vt:lpstr>
      <vt:lpstr>Metrics in LLMs</vt:lpstr>
      <vt:lpstr>1.1 Cross-Entropy Loss</vt:lpstr>
      <vt:lpstr>1.2 Perplexity (PPL)</vt:lpstr>
      <vt:lpstr>2.1 BLEU (Bilingual Evaluation Understudy)</vt:lpstr>
      <vt:lpstr>2.2 ROUGE</vt:lpstr>
      <vt:lpstr>2.3 METEOR</vt:lpstr>
      <vt:lpstr>Presentación de PowerPoint</vt:lpstr>
      <vt:lpstr>3.1 BERTScore</vt:lpstr>
      <vt:lpstr>4. Task-Specific Metrics</vt:lpstr>
      <vt:lpstr>5. Human Evaluation</vt:lpstr>
      <vt:lpstr>LLM-as-a-Judge</vt:lpstr>
      <vt:lpstr>Preference-Based Evaluation (Alignment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Bryan Steven Yama</cp:lastModifiedBy>
  <cp:revision>127</cp:revision>
  <dcterms:created xsi:type="dcterms:W3CDTF">2025-06-04T11:46:00Z</dcterms:created>
  <dcterms:modified xsi:type="dcterms:W3CDTF">2026-03-25T00:57:23Z</dcterms:modified>
</cp:coreProperties>
</file>