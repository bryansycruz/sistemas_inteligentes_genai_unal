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8" r:id="rId3"/>
    <p:sldId id="275" r:id="rId4"/>
    <p:sldId id="276" r:id="rId5"/>
    <p:sldId id="257" r:id="rId6"/>
    <p:sldId id="258" r:id="rId7"/>
    <p:sldId id="259" r:id="rId8"/>
    <p:sldId id="260" r:id="rId9"/>
    <p:sldId id="261" r:id="rId10"/>
    <p:sldId id="262" r:id="rId11"/>
    <p:sldId id="271" r:id="rId12"/>
    <p:sldId id="272" r:id="rId13"/>
    <p:sldId id="273" r:id="rId14"/>
    <p:sldId id="263" r:id="rId15"/>
    <p:sldId id="264" r:id="rId16"/>
    <p:sldId id="265" r:id="rId17"/>
    <p:sldId id="266" r:id="rId18"/>
    <p:sldId id="270" r:id="rId19"/>
    <p:sldId id="277" r:id="rId20"/>
    <p:sldId id="267" r:id="rId21"/>
    <p:sldId id="274" r:id="rId22"/>
    <p:sldId id="269" r:id="rId23"/>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2" d="100"/>
          <a:sy n="102" d="100"/>
        </p:scale>
        <p:origin x="954"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46A7FB9-C2E9-5734-5AA4-4EB66C73C14D}"/>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CC96884B-EFAF-970D-55CE-DB58C4726DC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440868C2-16EF-F952-1FBC-4C120B8457CA}"/>
              </a:ext>
            </a:extLst>
          </p:cNvPr>
          <p:cNvSpPr>
            <a:spLocks noGrp="1"/>
          </p:cNvSpPr>
          <p:nvPr>
            <p:ph type="dt" sz="half" idx="10"/>
          </p:nvPr>
        </p:nvSpPr>
        <p:spPr/>
        <p:txBody>
          <a:bodyPr/>
          <a:lstStyle/>
          <a:p>
            <a:fld id="{EFFEEE62-B023-4FC4-A09C-2140D16965F4}" type="datetimeFigureOut">
              <a:rPr lang="es-MX" smtClean="0"/>
              <a:t>24/03/2026</a:t>
            </a:fld>
            <a:endParaRPr lang="es-MX"/>
          </a:p>
        </p:txBody>
      </p:sp>
      <p:sp>
        <p:nvSpPr>
          <p:cNvPr id="5" name="Marcador de pie de página 4">
            <a:extLst>
              <a:ext uri="{FF2B5EF4-FFF2-40B4-BE49-F238E27FC236}">
                <a16:creationId xmlns:a16="http://schemas.microsoft.com/office/drawing/2014/main" id="{C5D135FA-823A-131D-C169-02B41CECE153}"/>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DF1F39AB-83D9-661D-5106-95E80761AD88}"/>
              </a:ext>
            </a:extLst>
          </p:cNvPr>
          <p:cNvSpPr>
            <a:spLocks noGrp="1"/>
          </p:cNvSpPr>
          <p:nvPr>
            <p:ph type="sldNum" sz="quarter" idx="12"/>
          </p:nvPr>
        </p:nvSpPr>
        <p:spPr/>
        <p:txBody>
          <a:bodyPr/>
          <a:lstStyle/>
          <a:p>
            <a:fld id="{AC31B6D4-03FE-4F89-B2F9-FC25647D2BF1}" type="slidenum">
              <a:rPr lang="es-MX" smtClean="0"/>
              <a:t>‹Nº›</a:t>
            </a:fld>
            <a:endParaRPr lang="es-MX"/>
          </a:p>
        </p:txBody>
      </p:sp>
    </p:spTree>
    <p:extLst>
      <p:ext uri="{BB962C8B-B14F-4D97-AF65-F5344CB8AC3E}">
        <p14:creationId xmlns:p14="http://schemas.microsoft.com/office/powerpoint/2010/main" val="9374014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B92E9FC-86BB-832C-592D-9963592ADF3C}"/>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810913D8-4879-3DB2-2CD8-2CCA2ADD4919}"/>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8D9A9DE9-FF45-3217-9B54-7E9D90244B99}"/>
              </a:ext>
            </a:extLst>
          </p:cNvPr>
          <p:cNvSpPr>
            <a:spLocks noGrp="1"/>
          </p:cNvSpPr>
          <p:nvPr>
            <p:ph type="dt" sz="half" idx="10"/>
          </p:nvPr>
        </p:nvSpPr>
        <p:spPr/>
        <p:txBody>
          <a:bodyPr/>
          <a:lstStyle/>
          <a:p>
            <a:fld id="{EFFEEE62-B023-4FC4-A09C-2140D16965F4}" type="datetimeFigureOut">
              <a:rPr lang="es-MX" smtClean="0"/>
              <a:t>24/03/2026</a:t>
            </a:fld>
            <a:endParaRPr lang="es-MX"/>
          </a:p>
        </p:txBody>
      </p:sp>
      <p:sp>
        <p:nvSpPr>
          <p:cNvPr id="5" name="Marcador de pie de página 4">
            <a:extLst>
              <a:ext uri="{FF2B5EF4-FFF2-40B4-BE49-F238E27FC236}">
                <a16:creationId xmlns:a16="http://schemas.microsoft.com/office/drawing/2014/main" id="{5C2097CD-970A-2611-6A63-B9FBD17B7D0C}"/>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439309B8-436E-7C3F-2FF8-B9FD3C125F82}"/>
              </a:ext>
            </a:extLst>
          </p:cNvPr>
          <p:cNvSpPr>
            <a:spLocks noGrp="1"/>
          </p:cNvSpPr>
          <p:nvPr>
            <p:ph type="sldNum" sz="quarter" idx="12"/>
          </p:nvPr>
        </p:nvSpPr>
        <p:spPr/>
        <p:txBody>
          <a:bodyPr/>
          <a:lstStyle/>
          <a:p>
            <a:fld id="{AC31B6D4-03FE-4F89-B2F9-FC25647D2BF1}" type="slidenum">
              <a:rPr lang="es-MX" smtClean="0"/>
              <a:t>‹Nº›</a:t>
            </a:fld>
            <a:endParaRPr lang="es-MX"/>
          </a:p>
        </p:txBody>
      </p:sp>
    </p:spTree>
    <p:extLst>
      <p:ext uri="{BB962C8B-B14F-4D97-AF65-F5344CB8AC3E}">
        <p14:creationId xmlns:p14="http://schemas.microsoft.com/office/powerpoint/2010/main" val="33291578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3F306E2-3984-7A75-F8ED-E51EF311E78A}"/>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0486F419-59F7-240D-2CBC-C647594803A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D97179A8-9780-97BC-2426-E81019F61140}"/>
              </a:ext>
            </a:extLst>
          </p:cNvPr>
          <p:cNvSpPr>
            <a:spLocks noGrp="1"/>
          </p:cNvSpPr>
          <p:nvPr>
            <p:ph type="dt" sz="half" idx="10"/>
          </p:nvPr>
        </p:nvSpPr>
        <p:spPr/>
        <p:txBody>
          <a:bodyPr/>
          <a:lstStyle/>
          <a:p>
            <a:fld id="{EFFEEE62-B023-4FC4-A09C-2140D16965F4}" type="datetimeFigureOut">
              <a:rPr lang="es-MX" smtClean="0"/>
              <a:t>24/03/2026</a:t>
            </a:fld>
            <a:endParaRPr lang="es-MX"/>
          </a:p>
        </p:txBody>
      </p:sp>
      <p:sp>
        <p:nvSpPr>
          <p:cNvPr id="5" name="Marcador de pie de página 4">
            <a:extLst>
              <a:ext uri="{FF2B5EF4-FFF2-40B4-BE49-F238E27FC236}">
                <a16:creationId xmlns:a16="http://schemas.microsoft.com/office/drawing/2014/main" id="{B544C01B-CF33-C82B-8E9C-634663F26EDA}"/>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A5808106-A375-75A5-5C4E-B8BEED3A9548}"/>
              </a:ext>
            </a:extLst>
          </p:cNvPr>
          <p:cNvSpPr>
            <a:spLocks noGrp="1"/>
          </p:cNvSpPr>
          <p:nvPr>
            <p:ph type="sldNum" sz="quarter" idx="12"/>
          </p:nvPr>
        </p:nvSpPr>
        <p:spPr/>
        <p:txBody>
          <a:bodyPr/>
          <a:lstStyle/>
          <a:p>
            <a:fld id="{AC31B6D4-03FE-4F89-B2F9-FC25647D2BF1}" type="slidenum">
              <a:rPr lang="es-MX" smtClean="0"/>
              <a:t>‹Nº›</a:t>
            </a:fld>
            <a:endParaRPr lang="es-MX"/>
          </a:p>
        </p:txBody>
      </p:sp>
    </p:spTree>
    <p:extLst>
      <p:ext uri="{BB962C8B-B14F-4D97-AF65-F5344CB8AC3E}">
        <p14:creationId xmlns:p14="http://schemas.microsoft.com/office/powerpoint/2010/main" val="12267659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32EA62C-F941-57DA-07B1-E7C35133E607}"/>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6CC3326A-B4A1-3451-31C2-A87B7B4FFBAA}"/>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EBBC3362-5A60-9765-3A91-FBBE521849AA}"/>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8E4437F8-0043-E2F6-3AC5-1A04382DEB5F}"/>
              </a:ext>
            </a:extLst>
          </p:cNvPr>
          <p:cNvSpPr>
            <a:spLocks noGrp="1"/>
          </p:cNvSpPr>
          <p:nvPr>
            <p:ph type="dt" sz="half" idx="10"/>
          </p:nvPr>
        </p:nvSpPr>
        <p:spPr/>
        <p:txBody>
          <a:bodyPr/>
          <a:lstStyle/>
          <a:p>
            <a:fld id="{EFFEEE62-B023-4FC4-A09C-2140D16965F4}" type="datetimeFigureOut">
              <a:rPr lang="es-MX" smtClean="0"/>
              <a:t>24/03/2026</a:t>
            </a:fld>
            <a:endParaRPr lang="es-MX"/>
          </a:p>
        </p:txBody>
      </p:sp>
      <p:sp>
        <p:nvSpPr>
          <p:cNvPr id="6" name="Marcador de pie de página 5">
            <a:extLst>
              <a:ext uri="{FF2B5EF4-FFF2-40B4-BE49-F238E27FC236}">
                <a16:creationId xmlns:a16="http://schemas.microsoft.com/office/drawing/2014/main" id="{DBB85122-DBC8-16F0-D1C8-FC214EE3B4E1}"/>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8291F726-8B2C-678A-F177-3DCE42A39F6A}"/>
              </a:ext>
            </a:extLst>
          </p:cNvPr>
          <p:cNvSpPr>
            <a:spLocks noGrp="1"/>
          </p:cNvSpPr>
          <p:nvPr>
            <p:ph type="sldNum" sz="quarter" idx="12"/>
          </p:nvPr>
        </p:nvSpPr>
        <p:spPr/>
        <p:txBody>
          <a:bodyPr/>
          <a:lstStyle/>
          <a:p>
            <a:fld id="{AC31B6D4-03FE-4F89-B2F9-FC25647D2BF1}" type="slidenum">
              <a:rPr lang="es-MX" smtClean="0"/>
              <a:t>‹Nº›</a:t>
            </a:fld>
            <a:endParaRPr lang="es-MX"/>
          </a:p>
        </p:txBody>
      </p:sp>
    </p:spTree>
    <p:extLst>
      <p:ext uri="{BB962C8B-B14F-4D97-AF65-F5344CB8AC3E}">
        <p14:creationId xmlns:p14="http://schemas.microsoft.com/office/powerpoint/2010/main" val="15902429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A2B7DE9-C594-BBD5-733B-750CFD10B0D1}"/>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C55A7610-38C8-5AF7-0BA5-95DAF35C476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D9658B62-57CE-8C18-A143-78B1F410F8FB}"/>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5FC5698E-4B60-CDFC-C637-7AB50BAD2DF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1A1BC6A1-5D53-F53E-A34D-3A75F7939C90}"/>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050BEEB3-58E5-697D-7465-30550E3529F3}"/>
              </a:ext>
            </a:extLst>
          </p:cNvPr>
          <p:cNvSpPr>
            <a:spLocks noGrp="1"/>
          </p:cNvSpPr>
          <p:nvPr>
            <p:ph type="dt" sz="half" idx="10"/>
          </p:nvPr>
        </p:nvSpPr>
        <p:spPr/>
        <p:txBody>
          <a:bodyPr/>
          <a:lstStyle/>
          <a:p>
            <a:fld id="{EFFEEE62-B023-4FC4-A09C-2140D16965F4}" type="datetimeFigureOut">
              <a:rPr lang="es-MX" smtClean="0"/>
              <a:t>24/03/2026</a:t>
            </a:fld>
            <a:endParaRPr lang="es-MX"/>
          </a:p>
        </p:txBody>
      </p:sp>
      <p:sp>
        <p:nvSpPr>
          <p:cNvPr id="8" name="Marcador de pie de página 7">
            <a:extLst>
              <a:ext uri="{FF2B5EF4-FFF2-40B4-BE49-F238E27FC236}">
                <a16:creationId xmlns:a16="http://schemas.microsoft.com/office/drawing/2014/main" id="{777A8570-EAFE-1CD4-128E-47699C86068D}"/>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E05A9DE5-D451-EB39-4026-6392C1B0AF03}"/>
              </a:ext>
            </a:extLst>
          </p:cNvPr>
          <p:cNvSpPr>
            <a:spLocks noGrp="1"/>
          </p:cNvSpPr>
          <p:nvPr>
            <p:ph type="sldNum" sz="quarter" idx="12"/>
          </p:nvPr>
        </p:nvSpPr>
        <p:spPr/>
        <p:txBody>
          <a:bodyPr/>
          <a:lstStyle/>
          <a:p>
            <a:fld id="{AC31B6D4-03FE-4F89-B2F9-FC25647D2BF1}" type="slidenum">
              <a:rPr lang="es-MX" smtClean="0"/>
              <a:t>‹Nº›</a:t>
            </a:fld>
            <a:endParaRPr lang="es-MX"/>
          </a:p>
        </p:txBody>
      </p:sp>
    </p:spTree>
    <p:extLst>
      <p:ext uri="{BB962C8B-B14F-4D97-AF65-F5344CB8AC3E}">
        <p14:creationId xmlns:p14="http://schemas.microsoft.com/office/powerpoint/2010/main" val="15109092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E43D9F6-CEBF-2241-7643-286451D80012}"/>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521D7A1A-BF96-9E3B-7863-50DF5BB74C5A}"/>
              </a:ext>
            </a:extLst>
          </p:cNvPr>
          <p:cNvSpPr>
            <a:spLocks noGrp="1"/>
          </p:cNvSpPr>
          <p:nvPr>
            <p:ph type="dt" sz="half" idx="10"/>
          </p:nvPr>
        </p:nvSpPr>
        <p:spPr/>
        <p:txBody>
          <a:bodyPr/>
          <a:lstStyle/>
          <a:p>
            <a:fld id="{EFFEEE62-B023-4FC4-A09C-2140D16965F4}" type="datetimeFigureOut">
              <a:rPr lang="es-MX" smtClean="0"/>
              <a:t>24/03/2026</a:t>
            </a:fld>
            <a:endParaRPr lang="es-MX"/>
          </a:p>
        </p:txBody>
      </p:sp>
      <p:sp>
        <p:nvSpPr>
          <p:cNvPr id="4" name="Marcador de pie de página 3">
            <a:extLst>
              <a:ext uri="{FF2B5EF4-FFF2-40B4-BE49-F238E27FC236}">
                <a16:creationId xmlns:a16="http://schemas.microsoft.com/office/drawing/2014/main" id="{A98936B7-3471-EF11-2F28-C5483142BCC9}"/>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7D98914C-3818-201A-D26B-79AC93D0F05E}"/>
              </a:ext>
            </a:extLst>
          </p:cNvPr>
          <p:cNvSpPr>
            <a:spLocks noGrp="1"/>
          </p:cNvSpPr>
          <p:nvPr>
            <p:ph type="sldNum" sz="quarter" idx="12"/>
          </p:nvPr>
        </p:nvSpPr>
        <p:spPr/>
        <p:txBody>
          <a:bodyPr/>
          <a:lstStyle/>
          <a:p>
            <a:fld id="{AC31B6D4-03FE-4F89-B2F9-FC25647D2BF1}" type="slidenum">
              <a:rPr lang="es-MX" smtClean="0"/>
              <a:t>‹Nº›</a:t>
            </a:fld>
            <a:endParaRPr lang="es-MX"/>
          </a:p>
        </p:txBody>
      </p:sp>
    </p:spTree>
    <p:extLst>
      <p:ext uri="{BB962C8B-B14F-4D97-AF65-F5344CB8AC3E}">
        <p14:creationId xmlns:p14="http://schemas.microsoft.com/office/powerpoint/2010/main" val="33199750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CFE38106-D39E-EB52-7434-960072CEDDFC}"/>
              </a:ext>
            </a:extLst>
          </p:cNvPr>
          <p:cNvSpPr>
            <a:spLocks noGrp="1"/>
          </p:cNvSpPr>
          <p:nvPr>
            <p:ph type="dt" sz="half" idx="10"/>
          </p:nvPr>
        </p:nvSpPr>
        <p:spPr/>
        <p:txBody>
          <a:bodyPr/>
          <a:lstStyle/>
          <a:p>
            <a:fld id="{EFFEEE62-B023-4FC4-A09C-2140D16965F4}" type="datetimeFigureOut">
              <a:rPr lang="es-MX" smtClean="0"/>
              <a:t>24/03/2026</a:t>
            </a:fld>
            <a:endParaRPr lang="es-MX"/>
          </a:p>
        </p:txBody>
      </p:sp>
      <p:sp>
        <p:nvSpPr>
          <p:cNvPr id="3" name="Marcador de pie de página 2">
            <a:extLst>
              <a:ext uri="{FF2B5EF4-FFF2-40B4-BE49-F238E27FC236}">
                <a16:creationId xmlns:a16="http://schemas.microsoft.com/office/drawing/2014/main" id="{75178B36-2889-4512-12EF-979AF9AECF87}"/>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A42667A9-8422-D2D0-3D61-D300FCE65066}"/>
              </a:ext>
            </a:extLst>
          </p:cNvPr>
          <p:cNvSpPr>
            <a:spLocks noGrp="1"/>
          </p:cNvSpPr>
          <p:nvPr>
            <p:ph type="sldNum" sz="quarter" idx="12"/>
          </p:nvPr>
        </p:nvSpPr>
        <p:spPr/>
        <p:txBody>
          <a:bodyPr/>
          <a:lstStyle/>
          <a:p>
            <a:fld id="{AC31B6D4-03FE-4F89-B2F9-FC25647D2BF1}" type="slidenum">
              <a:rPr lang="es-MX" smtClean="0"/>
              <a:t>‹Nº›</a:t>
            </a:fld>
            <a:endParaRPr lang="es-MX"/>
          </a:p>
        </p:txBody>
      </p:sp>
    </p:spTree>
    <p:extLst>
      <p:ext uri="{BB962C8B-B14F-4D97-AF65-F5344CB8AC3E}">
        <p14:creationId xmlns:p14="http://schemas.microsoft.com/office/powerpoint/2010/main" val="30726016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46F90B1-68DB-F01C-CAEE-E89159F5E70C}"/>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67C880DE-4164-BA6F-F580-CA16E1E7009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8D74972D-FD71-E5A1-3BC6-0DDF20E5DA1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FB4ADFCB-9940-5B03-1A9F-B10A37F1F724}"/>
              </a:ext>
            </a:extLst>
          </p:cNvPr>
          <p:cNvSpPr>
            <a:spLocks noGrp="1"/>
          </p:cNvSpPr>
          <p:nvPr>
            <p:ph type="dt" sz="half" idx="10"/>
          </p:nvPr>
        </p:nvSpPr>
        <p:spPr/>
        <p:txBody>
          <a:bodyPr/>
          <a:lstStyle/>
          <a:p>
            <a:fld id="{EFFEEE62-B023-4FC4-A09C-2140D16965F4}" type="datetimeFigureOut">
              <a:rPr lang="es-MX" smtClean="0"/>
              <a:t>24/03/2026</a:t>
            </a:fld>
            <a:endParaRPr lang="es-MX"/>
          </a:p>
        </p:txBody>
      </p:sp>
      <p:sp>
        <p:nvSpPr>
          <p:cNvPr id="6" name="Marcador de pie de página 5">
            <a:extLst>
              <a:ext uri="{FF2B5EF4-FFF2-40B4-BE49-F238E27FC236}">
                <a16:creationId xmlns:a16="http://schemas.microsoft.com/office/drawing/2014/main" id="{1EACB5D4-CF1C-95AF-DB83-3E9CC816160F}"/>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948D0C99-64A3-0F6D-25CD-BA6CBB146690}"/>
              </a:ext>
            </a:extLst>
          </p:cNvPr>
          <p:cNvSpPr>
            <a:spLocks noGrp="1"/>
          </p:cNvSpPr>
          <p:nvPr>
            <p:ph type="sldNum" sz="quarter" idx="12"/>
          </p:nvPr>
        </p:nvSpPr>
        <p:spPr/>
        <p:txBody>
          <a:bodyPr/>
          <a:lstStyle/>
          <a:p>
            <a:fld id="{AC31B6D4-03FE-4F89-B2F9-FC25647D2BF1}" type="slidenum">
              <a:rPr lang="es-MX" smtClean="0"/>
              <a:t>‹Nº›</a:t>
            </a:fld>
            <a:endParaRPr lang="es-MX"/>
          </a:p>
        </p:txBody>
      </p:sp>
    </p:spTree>
    <p:extLst>
      <p:ext uri="{BB962C8B-B14F-4D97-AF65-F5344CB8AC3E}">
        <p14:creationId xmlns:p14="http://schemas.microsoft.com/office/powerpoint/2010/main" val="25130937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B52A6EC-7AB2-A87C-145B-987605D49C6C}"/>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84D3666B-B6D9-65A2-3D2A-64D59376C74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59CCC616-A6D1-F212-E874-E053E3205F7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D11A0736-C088-7709-8214-6143091A4742}"/>
              </a:ext>
            </a:extLst>
          </p:cNvPr>
          <p:cNvSpPr>
            <a:spLocks noGrp="1"/>
          </p:cNvSpPr>
          <p:nvPr>
            <p:ph type="dt" sz="half" idx="10"/>
          </p:nvPr>
        </p:nvSpPr>
        <p:spPr/>
        <p:txBody>
          <a:bodyPr/>
          <a:lstStyle/>
          <a:p>
            <a:fld id="{EFFEEE62-B023-4FC4-A09C-2140D16965F4}" type="datetimeFigureOut">
              <a:rPr lang="es-MX" smtClean="0"/>
              <a:t>24/03/2026</a:t>
            </a:fld>
            <a:endParaRPr lang="es-MX"/>
          </a:p>
        </p:txBody>
      </p:sp>
      <p:sp>
        <p:nvSpPr>
          <p:cNvPr id="6" name="Marcador de pie de página 5">
            <a:extLst>
              <a:ext uri="{FF2B5EF4-FFF2-40B4-BE49-F238E27FC236}">
                <a16:creationId xmlns:a16="http://schemas.microsoft.com/office/drawing/2014/main" id="{3C4D6F3B-BF0B-0A21-159A-EFFC65801A9D}"/>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73716BE1-B4AA-3B44-E2DD-71FACF29A501}"/>
              </a:ext>
            </a:extLst>
          </p:cNvPr>
          <p:cNvSpPr>
            <a:spLocks noGrp="1"/>
          </p:cNvSpPr>
          <p:nvPr>
            <p:ph type="sldNum" sz="quarter" idx="12"/>
          </p:nvPr>
        </p:nvSpPr>
        <p:spPr/>
        <p:txBody>
          <a:bodyPr/>
          <a:lstStyle/>
          <a:p>
            <a:fld id="{AC31B6D4-03FE-4F89-B2F9-FC25647D2BF1}" type="slidenum">
              <a:rPr lang="es-MX" smtClean="0"/>
              <a:t>‹Nº›</a:t>
            </a:fld>
            <a:endParaRPr lang="es-MX"/>
          </a:p>
        </p:txBody>
      </p:sp>
    </p:spTree>
    <p:extLst>
      <p:ext uri="{BB962C8B-B14F-4D97-AF65-F5344CB8AC3E}">
        <p14:creationId xmlns:p14="http://schemas.microsoft.com/office/powerpoint/2010/main" val="24759980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89A02B8-775F-0662-3E17-B2A213E4E504}"/>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F5A756AB-B825-E49F-5D50-10FE83EAA3DC}"/>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1A4D4E5F-701C-A456-CD02-F7208289F8B0}"/>
              </a:ext>
            </a:extLst>
          </p:cNvPr>
          <p:cNvSpPr>
            <a:spLocks noGrp="1"/>
          </p:cNvSpPr>
          <p:nvPr>
            <p:ph type="dt" sz="half" idx="10"/>
          </p:nvPr>
        </p:nvSpPr>
        <p:spPr/>
        <p:txBody>
          <a:bodyPr/>
          <a:lstStyle/>
          <a:p>
            <a:fld id="{EFFEEE62-B023-4FC4-A09C-2140D16965F4}" type="datetimeFigureOut">
              <a:rPr lang="es-MX" smtClean="0"/>
              <a:t>24/03/2026</a:t>
            </a:fld>
            <a:endParaRPr lang="es-MX"/>
          </a:p>
        </p:txBody>
      </p:sp>
      <p:sp>
        <p:nvSpPr>
          <p:cNvPr id="5" name="Marcador de pie de página 4">
            <a:extLst>
              <a:ext uri="{FF2B5EF4-FFF2-40B4-BE49-F238E27FC236}">
                <a16:creationId xmlns:a16="http://schemas.microsoft.com/office/drawing/2014/main" id="{548DB13A-01FE-24FA-4DC9-C938A2AD0161}"/>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F940E470-1F3C-9BA2-6D76-083104E9C2FF}"/>
              </a:ext>
            </a:extLst>
          </p:cNvPr>
          <p:cNvSpPr>
            <a:spLocks noGrp="1"/>
          </p:cNvSpPr>
          <p:nvPr>
            <p:ph type="sldNum" sz="quarter" idx="12"/>
          </p:nvPr>
        </p:nvSpPr>
        <p:spPr/>
        <p:txBody>
          <a:bodyPr/>
          <a:lstStyle/>
          <a:p>
            <a:fld id="{AC31B6D4-03FE-4F89-B2F9-FC25647D2BF1}" type="slidenum">
              <a:rPr lang="es-MX" smtClean="0"/>
              <a:t>‹Nº›</a:t>
            </a:fld>
            <a:endParaRPr lang="es-MX"/>
          </a:p>
        </p:txBody>
      </p:sp>
    </p:spTree>
    <p:extLst>
      <p:ext uri="{BB962C8B-B14F-4D97-AF65-F5344CB8AC3E}">
        <p14:creationId xmlns:p14="http://schemas.microsoft.com/office/powerpoint/2010/main" val="30175922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2BF26129-4D1D-28B3-DFFD-BE3FA1559BA9}"/>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A0A22D3A-0E1A-ADAB-F1D2-62D547779119}"/>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333753B6-8E70-4EA4-1B0B-886D150762B6}"/>
              </a:ext>
            </a:extLst>
          </p:cNvPr>
          <p:cNvSpPr>
            <a:spLocks noGrp="1"/>
          </p:cNvSpPr>
          <p:nvPr>
            <p:ph type="dt" sz="half" idx="10"/>
          </p:nvPr>
        </p:nvSpPr>
        <p:spPr/>
        <p:txBody>
          <a:bodyPr/>
          <a:lstStyle/>
          <a:p>
            <a:fld id="{EFFEEE62-B023-4FC4-A09C-2140D16965F4}" type="datetimeFigureOut">
              <a:rPr lang="es-MX" smtClean="0"/>
              <a:t>24/03/2026</a:t>
            </a:fld>
            <a:endParaRPr lang="es-MX"/>
          </a:p>
        </p:txBody>
      </p:sp>
      <p:sp>
        <p:nvSpPr>
          <p:cNvPr id="5" name="Marcador de pie de página 4">
            <a:extLst>
              <a:ext uri="{FF2B5EF4-FFF2-40B4-BE49-F238E27FC236}">
                <a16:creationId xmlns:a16="http://schemas.microsoft.com/office/drawing/2014/main" id="{A97EC2B0-7E80-0D09-DC03-0907445901EB}"/>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83D0A9A5-8704-D3EC-0B9B-19091B6BA8C7}"/>
              </a:ext>
            </a:extLst>
          </p:cNvPr>
          <p:cNvSpPr>
            <a:spLocks noGrp="1"/>
          </p:cNvSpPr>
          <p:nvPr>
            <p:ph type="sldNum" sz="quarter" idx="12"/>
          </p:nvPr>
        </p:nvSpPr>
        <p:spPr/>
        <p:txBody>
          <a:bodyPr/>
          <a:lstStyle/>
          <a:p>
            <a:fld id="{AC31B6D4-03FE-4F89-B2F9-FC25647D2BF1}" type="slidenum">
              <a:rPr lang="es-MX" smtClean="0"/>
              <a:t>‹Nº›</a:t>
            </a:fld>
            <a:endParaRPr lang="es-MX"/>
          </a:p>
        </p:txBody>
      </p:sp>
    </p:spTree>
    <p:extLst>
      <p:ext uri="{BB962C8B-B14F-4D97-AF65-F5344CB8AC3E}">
        <p14:creationId xmlns:p14="http://schemas.microsoft.com/office/powerpoint/2010/main" val="39647128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F37A1D2D-1C5B-924E-6536-B968DC27A15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694257C0-A4C1-072E-6C46-E74024904E0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7DAC5509-2580-BA09-AA3A-F154FF14C5E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FFEEE62-B023-4FC4-A09C-2140D16965F4}" type="datetimeFigureOut">
              <a:rPr lang="es-MX" smtClean="0"/>
              <a:t>24/03/2026</a:t>
            </a:fld>
            <a:endParaRPr lang="es-MX"/>
          </a:p>
        </p:txBody>
      </p:sp>
      <p:sp>
        <p:nvSpPr>
          <p:cNvPr id="5" name="Marcador de pie de página 4">
            <a:extLst>
              <a:ext uri="{FF2B5EF4-FFF2-40B4-BE49-F238E27FC236}">
                <a16:creationId xmlns:a16="http://schemas.microsoft.com/office/drawing/2014/main" id="{050D69EA-D9FB-B3EE-AFD3-A76971269A6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MX"/>
          </a:p>
        </p:txBody>
      </p:sp>
      <p:sp>
        <p:nvSpPr>
          <p:cNvPr id="6" name="Marcador de número de diapositiva 5">
            <a:extLst>
              <a:ext uri="{FF2B5EF4-FFF2-40B4-BE49-F238E27FC236}">
                <a16:creationId xmlns:a16="http://schemas.microsoft.com/office/drawing/2014/main" id="{040765CF-DB7F-5711-4A01-C104633354A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C31B6D4-03FE-4F89-B2F9-FC25647D2BF1}" type="slidenum">
              <a:rPr lang="es-MX" smtClean="0"/>
              <a:t>‹Nº›</a:t>
            </a:fld>
            <a:endParaRPr lang="es-MX"/>
          </a:p>
        </p:txBody>
      </p:sp>
    </p:spTree>
    <p:extLst>
      <p:ext uri="{BB962C8B-B14F-4D97-AF65-F5344CB8AC3E}">
        <p14:creationId xmlns:p14="http://schemas.microsoft.com/office/powerpoint/2010/main" val="19950069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arxiv.org/search/cs?searchtype=author&amp;query=Blattmann,+A" TargetMode="External"/><Relationship Id="rId2" Type="http://schemas.openxmlformats.org/officeDocument/2006/relationships/hyperlink" Target="https://arxiv.org/search/cs?searchtype=author&amp;query=Rombach,+R" TargetMode="External"/><Relationship Id="rId1" Type="http://schemas.openxmlformats.org/officeDocument/2006/relationships/slideLayout" Target="../slideLayouts/slideLayout2.xml"/><Relationship Id="rId6" Type="http://schemas.openxmlformats.org/officeDocument/2006/relationships/hyperlink" Target="https://arxiv.org/search/cs?searchtype=author&amp;query=Ommer,+B" TargetMode="External"/><Relationship Id="rId5" Type="http://schemas.openxmlformats.org/officeDocument/2006/relationships/hyperlink" Target="https://arxiv.org/search/cs?searchtype=author&amp;query=Esser,+P" TargetMode="External"/><Relationship Id="rId4" Type="http://schemas.openxmlformats.org/officeDocument/2006/relationships/hyperlink" Target="https://arxiv.org/search/cs?searchtype=author&amp;query=Lorenz,+D"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8006C00-A9CE-4EDE-0F72-38A21ACB6E3E}"/>
              </a:ext>
            </a:extLst>
          </p:cNvPr>
          <p:cNvSpPr>
            <a:spLocks noGrp="1"/>
          </p:cNvSpPr>
          <p:nvPr>
            <p:ph type="ctrTitle"/>
          </p:nvPr>
        </p:nvSpPr>
        <p:spPr/>
        <p:txBody>
          <a:bodyPr/>
          <a:lstStyle/>
          <a:p>
            <a:r>
              <a:rPr lang="es-CO" dirty="0" err="1"/>
              <a:t>Latent</a:t>
            </a:r>
            <a:r>
              <a:rPr lang="es-CO" dirty="0"/>
              <a:t> </a:t>
            </a:r>
            <a:r>
              <a:rPr lang="es-CO" dirty="0" err="1"/>
              <a:t>Space</a:t>
            </a:r>
            <a:r>
              <a:rPr lang="es-CO" dirty="0"/>
              <a:t>, </a:t>
            </a:r>
            <a:r>
              <a:rPr lang="es-CO" dirty="0" err="1"/>
              <a:t>Explicit</a:t>
            </a:r>
            <a:r>
              <a:rPr lang="es-CO" dirty="0"/>
              <a:t> and </a:t>
            </a:r>
            <a:r>
              <a:rPr lang="es-CO" dirty="0" err="1"/>
              <a:t>Implicit</a:t>
            </a:r>
            <a:r>
              <a:rPr lang="es-CO" dirty="0"/>
              <a:t> Generative </a:t>
            </a:r>
            <a:r>
              <a:rPr lang="es-CO" dirty="0" err="1"/>
              <a:t>Models</a:t>
            </a:r>
            <a:r>
              <a:rPr lang="es-CO" dirty="0"/>
              <a:t> </a:t>
            </a:r>
            <a:endParaRPr lang="es-MX" dirty="0"/>
          </a:p>
        </p:txBody>
      </p:sp>
      <p:sp>
        <p:nvSpPr>
          <p:cNvPr id="6" name="Subtítulo 2">
            <a:extLst>
              <a:ext uri="{FF2B5EF4-FFF2-40B4-BE49-F238E27FC236}">
                <a16:creationId xmlns:a16="http://schemas.microsoft.com/office/drawing/2014/main" id="{669B32CC-8C95-6D57-2160-D24DF857C569}"/>
              </a:ext>
            </a:extLst>
          </p:cNvPr>
          <p:cNvSpPr>
            <a:spLocks noGrp="1"/>
          </p:cNvSpPr>
          <p:nvPr>
            <p:ph type="subTitle" idx="1"/>
          </p:nvPr>
        </p:nvSpPr>
        <p:spPr>
          <a:xfrm>
            <a:off x="1524000" y="3678238"/>
            <a:ext cx="9144000" cy="1655762"/>
          </a:xfrm>
        </p:spPr>
        <p:txBody>
          <a:bodyPr>
            <a:normAutofit/>
          </a:bodyPr>
          <a:lstStyle/>
          <a:p>
            <a:endParaRPr lang="es-MX" sz="1100" dirty="0"/>
          </a:p>
        </p:txBody>
      </p:sp>
    </p:spTree>
    <p:extLst>
      <p:ext uri="{BB962C8B-B14F-4D97-AF65-F5344CB8AC3E}">
        <p14:creationId xmlns:p14="http://schemas.microsoft.com/office/powerpoint/2010/main" val="1461454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CD755F3-CBC9-34F8-C559-83F12F1EB009}"/>
              </a:ext>
            </a:extLst>
          </p:cNvPr>
          <p:cNvSpPr>
            <a:spLocks noGrp="1"/>
          </p:cNvSpPr>
          <p:nvPr>
            <p:ph type="title"/>
          </p:nvPr>
        </p:nvSpPr>
        <p:spPr/>
        <p:txBody>
          <a:bodyPr>
            <a:normAutofit/>
          </a:bodyPr>
          <a:lstStyle/>
          <a:p>
            <a:r>
              <a:rPr lang="en-US" dirty="0"/>
              <a:t>Why do we need generative models? </a:t>
            </a:r>
            <a:endParaRPr lang="es-MX" dirty="0"/>
          </a:p>
        </p:txBody>
      </p:sp>
      <p:sp>
        <p:nvSpPr>
          <p:cNvPr id="3" name="Marcador de contenido 2">
            <a:extLst>
              <a:ext uri="{FF2B5EF4-FFF2-40B4-BE49-F238E27FC236}">
                <a16:creationId xmlns:a16="http://schemas.microsoft.com/office/drawing/2014/main" id="{45B02269-52CD-15E2-8089-6BD5924B0960}"/>
              </a:ext>
            </a:extLst>
          </p:cNvPr>
          <p:cNvSpPr>
            <a:spLocks noGrp="1"/>
          </p:cNvSpPr>
          <p:nvPr>
            <p:ph idx="1"/>
          </p:nvPr>
        </p:nvSpPr>
        <p:spPr/>
        <p:txBody>
          <a:bodyPr/>
          <a:lstStyle/>
          <a:p>
            <a:r>
              <a:rPr lang="en-US" dirty="0"/>
              <a:t>Data augmentation</a:t>
            </a:r>
          </a:p>
          <a:p>
            <a:r>
              <a:rPr lang="en-US" dirty="0"/>
              <a:t>Simulation</a:t>
            </a:r>
          </a:p>
          <a:p>
            <a:r>
              <a:rPr lang="en-US" dirty="0"/>
              <a:t>drug discovery</a:t>
            </a:r>
          </a:p>
          <a:p>
            <a:r>
              <a:rPr lang="en-US" dirty="0"/>
              <a:t>Art</a:t>
            </a:r>
          </a:p>
          <a:p>
            <a:r>
              <a:rPr lang="en-US" dirty="0"/>
              <a:t>other</a:t>
            </a:r>
            <a:endParaRPr lang="es-MX" dirty="0"/>
          </a:p>
        </p:txBody>
      </p:sp>
    </p:spTree>
    <p:extLst>
      <p:ext uri="{BB962C8B-B14F-4D97-AF65-F5344CB8AC3E}">
        <p14:creationId xmlns:p14="http://schemas.microsoft.com/office/powerpoint/2010/main" val="23708048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0F6CD2-FCF1-1F69-C2B0-B02B06DB4BB0}"/>
              </a:ext>
            </a:extLst>
          </p:cNvPr>
          <p:cNvSpPr>
            <a:spLocks noGrp="1"/>
          </p:cNvSpPr>
          <p:nvPr>
            <p:ph type="title"/>
          </p:nvPr>
        </p:nvSpPr>
        <p:spPr/>
        <p:txBody>
          <a:bodyPr/>
          <a:lstStyle/>
          <a:p>
            <a:r>
              <a:rPr lang="es-CO" dirty="0" err="1"/>
              <a:t>Latent</a:t>
            </a:r>
            <a:r>
              <a:rPr lang="es-CO" dirty="0"/>
              <a:t> Variable and </a:t>
            </a:r>
            <a:r>
              <a:rPr lang="es-CO" dirty="0" err="1"/>
              <a:t>Latent</a:t>
            </a:r>
            <a:r>
              <a:rPr lang="es-CO" dirty="0"/>
              <a:t> </a:t>
            </a:r>
            <a:r>
              <a:rPr lang="es-CO" dirty="0" err="1"/>
              <a:t>Space</a:t>
            </a:r>
            <a:endParaRPr lang="es-MX" dirty="0"/>
          </a:p>
        </p:txBody>
      </p:sp>
      <p:sp>
        <p:nvSpPr>
          <p:cNvPr id="3" name="Marcador de contenido 2">
            <a:extLst>
              <a:ext uri="{FF2B5EF4-FFF2-40B4-BE49-F238E27FC236}">
                <a16:creationId xmlns:a16="http://schemas.microsoft.com/office/drawing/2014/main" id="{68C84B32-6699-9474-74A7-903A996DD338}"/>
              </a:ext>
            </a:extLst>
          </p:cNvPr>
          <p:cNvSpPr>
            <a:spLocks noGrp="1"/>
          </p:cNvSpPr>
          <p:nvPr>
            <p:ph idx="1"/>
          </p:nvPr>
        </p:nvSpPr>
        <p:spPr/>
        <p:txBody>
          <a:bodyPr>
            <a:normAutofit fontScale="92500" lnSpcReduction="10000"/>
          </a:bodyPr>
          <a:lstStyle/>
          <a:p>
            <a:pPr marL="0" indent="0" algn="just">
              <a:buNone/>
            </a:pPr>
            <a:r>
              <a:rPr lang="es-MX" b="1" dirty="0">
                <a:effectLst/>
              </a:rPr>
              <a:t>A </a:t>
            </a:r>
            <a:r>
              <a:rPr lang="es-MX" b="1" dirty="0" err="1">
                <a:effectLst/>
              </a:rPr>
              <a:t>latent</a:t>
            </a:r>
            <a:r>
              <a:rPr lang="es-MX" b="1" dirty="0">
                <a:effectLst/>
              </a:rPr>
              <a:t> variable </a:t>
            </a:r>
            <a:r>
              <a:rPr lang="en-US" dirty="0"/>
              <a:t>i</a:t>
            </a:r>
            <a:r>
              <a:rPr lang="en-US" dirty="0">
                <a:effectLst/>
              </a:rPr>
              <a:t>s a compressed representation of the data, encoding essential characteristics that the model uses to generate new samples. For example, in an image of a face, latent variables might encode features like </a:t>
            </a:r>
            <a:r>
              <a:rPr lang="en-US" b="1" dirty="0">
                <a:effectLst/>
              </a:rPr>
              <a:t>"eye shape," "skin tone," or "expression“ and others.</a:t>
            </a:r>
          </a:p>
          <a:p>
            <a:pPr marL="0" indent="0" algn="just">
              <a:buNone/>
            </a:pPr>
            <a:endParaRPr lang="en-US" b="1" dirty="0"/>
          </a:p>
          <a:p>
            <a:pPr marL="0" indent="0" algn="just">
              <a:buNone/>
            </a:pPr>
            <a:r>
              <a:rPr lang="en-US" b="1" dirty="0">
                <a:effectLst/>
              </a:rPr>
              <a:t>A latent space is the abstract</a:t>
            </a:r>
            <a:r>
              <a:rPr lang="en-US" dirty="0">
                <a:effectLst/>
              </a:rPr>
              <a:t>, multidimensional space where latent variables live. </a:t>
            </a:r>
            <a:r>
              <a:rPr lang="en-US" b="1" dirty="0">
                <a:effectLst/>
              </a:rPr>
              <a:t>Each point in this space represents a possible combination of latent variable values</a:t>
            </a:r>
            <a:r>
              <a:rPr lang="en-US" dirty="0">
                <a:effectLst/>
              </a:rPr>
              <a:t>, and each point corresponds to a potential output in the data space (e.g., a specific image or sentence). The latent space is typically lower-dimensional than the original data, making it a compressed representation that captures the most important patterns.</a:t>
            </a:r>
            <a:endParaRPr lang="es-MX" dirty="0"/>
          </a:p>
        </p:txBody>
      </p:sp>
    </p:spTree>
    <p:extLst>
      <p:ext uri="{BB962C8B-B14F-4D97-AF65-F5344CB8AC3E}">
        <p14:creationId xmlns:p14="http://schemas.microsoft.com/office/powerpoint/2010/main" val="4519762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438B36A-0C97-55B2-C550-B0CFFA6D0E16}"/>
              </a:ext>
            </a:extLst>
          </p:cNvPr>
          <p:cNvSpPr>
            <a:spLocks noGrp="1"/>
          </p:cNvSpPr>
          <p:nvPr>
            <p:ph type="title"/>
          </p:nvPr>
        </p:nvSpPr>
        <p:spPr/>
        <p:txBody>
          <a:bodyPr/>
          <a:lstStyle/>
          <a:p>
            <a:r>
              <a:rPr lang="es-MX" dirty="0" err="1">
                <a:effectLst/>
              </a:rPr>
              <a:t>Properties</a:t>
            </a:r>
            <a:r>
              <a:rPr lang="es-MX" dirty="0">
                <a:effectLst/>
              </a:rPr>
              <a:t> </a:t>
            </a:r>
            <a:r>
              <a:rPr lang="es-MX" dirty="0" err="1">
                <a:effectLst/>
              </a:rPr>
              <a:t>of</a:t>
            </a:r>
            <a:r>
              <a:rPr lang="es-MX" dirty="0">
                <a:effectLst/>
              </a:rPr>
              <a:t> </a:t>
            </a:r>
            <a:r>
              <a:rPr lang="es-MX" dirty="0" err="1">
                <a:effectLst/>
              </a:rPr>
              <a:t>Latent</a:t>
            </a:r>
            <a:r>
              <a:rPr lang="es-MX" dirty="0">
                <a:effectLst/>
              </a:rPr>
              <a:t> </a:t>
            </a:r>
            <a:r>
              <a:rPr lang="es-MX" dirty="0" err="1">
                <a:effectLst/>
              </a:rPr>
              <a:t>Space</a:t>
            </a:r>
            <a:endParaRPr lang="es-MX" dirty="0"/>
          </a:p>
        </p:txBody>
      </p:sp>
      <p:sp>
        <p:nvSpPr>
          <p:cNvPr id="3" name="Marcador de contenido 2">
            <a:extLst>
              <a:ext uri="{FF2B5EF4-FFF2-40B4-BE49-F238E27FC236}">
                <a16:creationId xmlns:a16="http://schemas.microsoft.com/office/drawing/2014/main" id="{3B9F6B68-E5EB-3961-2A2B-0CF49C973907}"/>
              </a:ext>
            </a:extLst>
          </p:cNvPr>
          <p:cNvSpPr>
            <a:spLocks noGrp="1"/>
          </p:cNvSpPr>
          <p:nvPr>
            <p:ph idx="1"/>
          </p:nvPr>
        </p:nvSpPr>
        <p:spPr/>
        <p:txBody>
          <a:bodyPr/>
          <a:lstStyle/>
          <a:p>
            <a:pPr marL="0" indent="0" algn="just">
              <a:buNone/>
            </a:pPr>
            <a:r>
              <a:rPr lang="en-US" b="1" dirty="0">
                <a:effectLst/>
              </a:rPr>
              <a:t>Continuous: </a:t>
            </a:r>
            <a:r>
              <a:rPr lang="en-US" dirty="0">
                <a:effectLst/>
              </a:rPr>
              <a:t>Nearby points in latent space produce similar outputs (e.g., slightly different faces).</a:t>
            </a:r>
          </a:p>
          <a:p>
            <a:pPr marL="0" indent="0" algn="just">
              <a:buNone/>
            </a:pPr>
            <a:endParaRPr lang="es-MX" dirty="0"/>
          </a:p>
          <a:p>
            <a:pPr marL="0" indent="0" algn="just">
              <a:buNone/>
            </a:pPr>
            <a:r>
              <a:rPr lang="en-US" b="1" dirty="0">
                <a:effectLst/>
              </a:rPr>
              <a:t>Structured: </a:t>
            </a:r>
            <a:r>
              <a:rPr lang="en-US" dirty="0">
                <a:effectLst/>
              </a:rPr>
              <a:t>The space is organized so that meaningful variations (e.g., changing expression but keeping identity) correspond to specific directions or dimensions.</a:t>
            </a:r>
          </a:p>
          <a:p>
            <a:pPr marL="0" indent="0" algn="just">
              <a:buNone/>
            </a:pPr>
            <a:endParaRPr lang="es-MX" dirty="0"/>
          </a:p>
          <a:p>
            <a:pPr marL="0" indent="0" algn="just">
              <a:buNone/>
            </a:pPr>
            <a:r>
              <a:rPr lang="en-US" b="1" dirty="0">
                <a:effectLst/>
              </a:rPr>
              <a:t>Learned: </a:t>
            </a:r>
            <a:r>
              <a:rPr lang="en-US" dirty="0">
                <a:effectLst/>
              </a:rPr>
              <a:t>The model learns the latent space during training to capture the data’s distribution.</a:t>
            </a:r>
          </a:p>
        </p:txBody>
      </p:sp>
    </p:spTree>
    <p:extLst>
      <p:ext uri="{BB962C8B-B14F-4D97-AF65-F5344CB8AC3E}">
        <p14:creationId xmlns:p14="http://schemas.microsoft.com/office/powerpoint/2010/main" val="28353070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29B32E7-5973-1DAF-4F29-1F134A328221}"/>
              </a:ext>
            </a:extLst>
          </p:cNvPr>
          <p:cNvSpPr>
            <a:spLocks noGrp="1"/>
          </p:cNvSpPr>
          <p:nvPr>
            <p:ph type="title"/>
          </p:nvPr>
        </p:nvSpPr>
        <p:spPr/>
        <p:txBody>
          <a:bodyPr/>
          <a:lstStyle/>
          <a:p>
            <a:r>
              <a:rPr lang="es-CO" dirty="0" err="1"/>
              <a:t>Type</a:t>
            </a:r>
            <a:r>
              <a:rPr lang="es-CO" dirty="0"/>
              <a:t> </a:t>
            </a:r>
            <a:r>
              <a:rPr lang="es-CO" dirty="0" err="1"/>
              <a:t>of</a:t>
            </a:r>
            <a:r>
              <a:rPr lang="es-CO" dirty="0"/>
              <a:t> Generative </a:t>
            </a:r>
            <a:r>
              <a:rPr lang="es-CO" dirty="0" err="1"/>
              <a:t>Models</a:t>
            </a:r>
            <a:endParaRPr lang="es-MX" dirty="0"/>
          </a:p>
        </p:txBody>
      </p:sp>
      <p:sp>
        <p:nvSpPr>
          <p:cNvPr id="3" name="Marcador de contenido 2">
            <a:extLst>
              <a:ext uri="{FF2B5EF4-FFF2-40B4-BE49-F238E27FC236}">
                <a16:creationId xmlns:a16="http://schemas.microsoft.com/office/drawing/2014/main" id="{D56A659F-FCC7-94F4-6CF8-D02AAB1DDF19}"/>
              </a:ext>
            </a:extLst>
          </p:cNvPr>
          <p:cNvSpPr>
            <a:spLocks noGrp="1"/>
          </p:cNvSpPr>
          <p:nvPr>
            <p:ph idx="1"/>
          </p:nvPr>
        </p:nvSpPr>
        <p:spPr/>
        <p:txBody>
          <a:bodyPr/>
          <a:lstStyle/>
          <a:p>
            <a:pPr marL="0" indent="0" algn="just">
              <a:buNone/>
            </a:pPr>
            <a:r>
              <a:rPr lang="en-US" dirty="0"/>
              <a:t>Generative models aim to learn the underlying probability distribution of a given dataset. </a:t>
            </a:r>
          </a:p>
          <a:p>
            <a:pPr marL="0" indent="0" algn="just">
              <a:buNone/>
            </a:pPr>
            <a:endParaRPr lang="en-US" dirty="0"/>
          </a:p>
          <a:p>
            <a:pPr marL="0" indent="0" algn="just">
              <a:buNone/>
            </a:pPr>
            <a:r>
              <a:rPr lang="en-US" dirty="0"/>
              <a:t>This allows them to create new data samples that resemble the training data. </a:t>
            </a:r>
          </a:p>
          <a:p>
            <a:pPr marL="0" indent="0" algn="just">
              <a:buNone/>
            </a:pPr>
            <a:endParaRPr lang="en-US" dirty="0"/>
          </a:p>
          <a:p>
            <a:pPr marL="0" indent="0" algn="just">
              <a:buNone/>
            </a:pPr>
            <a:r>
              <a:rPr lang="en-US" dirty="0"/>
              <a:t>These models broadly fall into two main classes: </a:t>
            </a:r>
            <a:r>
              <a:rPr lang="en-US" b="1" dirty="0"/>
              <a:t>explicit</a:t>
            </a:r>
            <a:r>
              <a:rPr lang="en-US" dirty="0"/>
              <a:t> and </a:t>
            </a:r>
            <a:r>
              <a:rPr lang="en-US" b="1" dirty="0"/>
              <a:t>implicit</a:t>
            </a:r>
            <a:r>
              <a:rPr lang="en-US" dirty="0"/>
              <a:t>.</a:t>
            </a:r>
            <a:endParaRPr lang="es-MX" dirty="0"/>
          </a:p>
        </p:txBody>
      </p:sp>
    </p:spTree>
    <p:extLst>
      <p:ext uri="{BB962C8B-B14F-4D97-AF65-F5344CB8AC3E}">
        <p14:creationId xmlns:p14="http://schemas.microsoft.com/office/powerpoint/2010/main" val="3993761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19E146-F8A7-1893-EBE0-C3436BEF1181}"/>
              </a:ext>
            </a:extLst>
          </p:cNvPr>
          <p:cNvSpPr>
            <a:spLocks noGrp="1"/>
          </p:cNvSpPr>
          <p:nvPr>
            <p:ph type="title"/>
          </p:nvPr>
        </p:nvSpPr>
        <p:spPr/>
        <p:txBody>
          <a:bodyPr/>
          <a:lstStyle/>
          <a:p>
            <a:r>
              <a:rPr lang="es-CO" dirty="0" err="1"/>
              <a:t>Explicit</a:t>
            </a:r>
            <a:r>
              <a:rPr lang="es-CO" dirty="0"/>
              <a:t> </a:t>
            </a:r>
            <a:r>
              <a:rPr lang="es-CO" dirty="0" err="1"/>
              <a:t>Models</a:t>
            </a:r>
            <a:endParaRPr lang="es-MX" dirty="0"/>
          </a:p>
        </p:txBody>
      </p:sp>
      <p:sp>
        <p:nvSpPr>
          <p:cNvPr id="3" name="Marcador de contenido 2">
            <a:extLst>
              <a:ext uri="{FF2B5EF4-FFF2-40B4-BE49-F238E27FC236}">
                <a16:creationId xmlns:a16="http://schemas.microsoft.com/office/drawing/2014/main" id="{1DB64EC5-7CF5-0E66-9ABA-C3CE97CE5553}"/>
              </a:ext>
            </a:extLst>
          </p:cNvPr>
          <p:cNvSpPr>
            <a:spLocks noGrp="1"/>
          </p:cNvSpPr>
          <p:nvPr>
            <p:ph idx="1"/>
          </p:nvPr>
        </p:nvSpPr>
        <p:spPr>
          <a:xfrm>
            <a:off x="581025" y="1825625"/>
            <a:ext cx="11020425" cy="4737100"/>
          </a:xfrm>
        </p:spPr>
        <p:txBody>
          <a:bodyPr>
            <a:normAutofit fontScale="92500" lnSpcReduction="20000"/>
          </a:bodyPr>
          <a:lstStyle/>
          <a:p>
            <a:pPr algn="just">
              <a:buNone/>
            </a:pPr>
            <a:r>
              <a:rPr lang="en-US" dirty="0"/>
              <a:t>define an </a:t>
            </a:r>
            <a:r>
              <a:rPr lang="en-US" b="1" dirty="0"/>
              <a:t>explicit probability function</a:t>
            </a:r>
            <a:r>
              <a:rPr lang="en-US" dirty="0"/>
              <a:t> for discrete data </a:t>
            </a:r>
            <a:r>
              <a:rPr lang="en-US" dirty="0" err="1"/>
              <a:t>p</a:t>
            </a:r>
            <a:r>
              <a:rPr lang="en-US" dirty="0" err="1">
                <a:effectLst/>
              </a:rPr>
              <a:t>θ</a:t>
            </a:r>
            <a:r>
              <a:rPr lang="en-US" dirty="0"/>
              <a:t>​(x), where </a:t>
            </a:r>
            <a:r>
              <a:rPr lang="en-US" dirty="0">
                <a:effectLst/>
              </a:rPr>
              <a:t>θ</a:t>
            </a:r>
            <a:r>
              <a:rPr lang="en-US" dirty="0"/>
              <a:t> represents the model parameters. The learning process typically involves maximizing the likelihood of the training data with respect to these parameters.</a:t>
            </a:r>
          </a:p>
          <a:p>
            <a:pPr algn="just">
              <a:buNone/>
            </a:pPr>
            <a:endParaRPr lang="en-US" dirty="0"/>
          </a:p>
          <a:p>
            <a:pPr algn="just">
              <a:buFont typeface="Arial" panose="020B0604020202020204" pitchFamily="34" charset="0"/>
              <a:buChar char="•"/>
            </a:pPr>
            <a:r>
              <a:rPr lang="en-US" dirty="0"/>
              <a:t>Learn a function that explicitly tells the probability of observing a given data point.</a:t>
            </a:r>
          </a:p>
          <a:p>
            <a:pPr algn="just">
              <a:buFont typeface="Arial" panose="020B0604020202020204" pitchFamily="34" charset="0"/>
              <a:buChar char="•"/>
            </a:pPr>
            <a:endParaRPr lang="en-US" b="1" dirty="0"/>
          </a:p>
          <a:p>
            <a:pPr algn="just">
              <a:buFont typeface="Arial" panose="020B0604020202020204" pitchFamily="34" charset="0"/>
              <a:buChar char="•"/>
            </a:pPr>
            <a:r>
              <a:rPr lang="en-US" b="1" dirty="0"/>
              <a:t>Likelihood-based:</a:t>
            </a:r>
            <a:r>
              <a:rPr lang="en-US" dirty="0"/>
              <a:t> Training often involves directly optimizing the likelihood </a:t>
            </a:r>
            <a:r>
              <a:rPr lang="en-US" dirty="0">
                <a:effectLst/>
              </a:rPr>
              <a:t>P</a:t>
            </a:r>
            <a:r>
              <a:rPr lang="en-US" dirty="0"/>
              <a:t>(</a:t>
            </a:r>
            <a:r>
              <a:rPr lang="en-US" dirty="0" err="1">
                <a:effectLst/>
              </a:rPr>
              <a:t>X</a:t>
            </a:r>
            <a:r>
              <a:rPr lang="en-US" dirty="0" err="1"/>
              <a:t>∣</a:t>
            </a:r>
            <a:r>
              <a:rPr lang="en-US" dirty="0" err="1">
                <a:effectLst/>
              </a:rPr>
              <a:t>θ</a:t>
            </a:r>
            <a:r>
              <a:rPr lang="en-US" dirty="0"/>
              <a:t>) or the log-likelihood </a:t>
            </a:r>
            <a:r>
              <a:rPr lang="en-US" dirty="0" err="1"/>
              <a:t>lo</a:t>
            </a:r>
            <a:r>
              <a:rPr lang="en-US" dirty="0" err="1">
                <a:effectLst/>
              </a:rPr>
              <a:t>gP</a:t>
            </a:r>
            <a:r>
              <a:rPr lang="en-US" dirty="0"/>
              <a:t>(</a:t>
            </a:r>
            <a:r>
              <a:rPr lang="en-US" dirty="0" err="1">
                <a:effectLst/>
              </a:rPr>
              <a:t>X</a:t>
            </a:r>
            <a:r>
              <a:rPr lang="en-US" dirty="0" err="1"/>
              <a:t>∣</a:t>
            </a:r>
            <a:r>
              <a:rPr lang="en-US" dirty="0" err="1">
                <a:effectLst/>
              </a:rPr>
              <a:t>θ</a:t>
            </a:r>
            <a:r>
              <a:rPr lang="en-US" dirty="0"/>
              <a:t>) of the observed data </a:t>
            </a:r>
            <a:r>
              <a:rPr lang="en-US" dirty="0">
                <a:effectLst/>
              </a:rPr>
              <a:t>X</a:t>
            </a:r>
            <a:r>
              <a:rPr lang="en-US" dirty="0"/>
              <a:t>.</a:t>
            </a:r>
          </a:p>
          <a:p>
            <a:pPr algn="just">
              <a:buFont typeface="Arial" panose="020B0604020202020204" pitchFamily="34" charset="0"/>
              <a:buChar char="•"/>
            </a:pPr>
            <a:endParaRPr lang="en-US" b="1" dirty="0"/>
          </a:p>
          <a:p>
            <a:pPr algn="just">
              <a:buFont typeface="Arial" panose="020B0604020202020204" pitchFamily="34" charset="0"/>
              <a:buChar char="•"/>
            </a:pPr>
            <a:r>
              <a:rPr lang="en-US" b="1" dirty="0"/>
              <a:t>Sampling:</a:t>
            </a:r>
            <a:r>
              <a:rPr lang="en-US" dirty="0"/>
              <a:t> Generating new samples can sometimes be direct, but in many cases, it might involve procedures like Markov Chain Monte Carlo (MCMC) if the distribution is complex and intractable to sample from directly.</a:t>
            </a:r>
          </a:p>
          <a:p>
            <a:pPr marL="0" indent="0" algn="just">
              <a:buNone/>
            </a:pPr>
            <a:endParaRPr lang="es-MX" dirty="0"/>
          </a:p>
        </p:txBody>
      </p:sp>
    </p:spTree>
    <p:extLst>
      <p:ext uri="{BB962C8B-B14F-4D97-AF65-F5344CB8AC3E}">
        <p14:creationId xmlns:p14="http://schemas.microsoft.com/office/powerpoint/2010/main" val="21935397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A283B97-2492-69C0-A0D5-AE98D3567438}"/>
              </a:ext>
            </a:extLst>
          </p:cNvPr>
          <p:cNvSpPr>
            <a:spLocks noGrp="1"/>
          </p:cNvSpPr>
          <p:nvPr>
            <p:ph type="title"/>
          </p:nvPr>
        </p:nvSpPr>
        <p:spPr>
          <a:xfrm>
            <a:off x="676275" y="231775"/>
            <a:ext cx="10515600" cy="1325563"/>
          </a:xfrm>
        </p:spPr>
        <p:txBody>
          <a:bodyPr/>
          <a:lstStyle/>
          <a:p>
            <a:r>
              <a:rPr lang="es-CO" dirty="0" err="1"/>
              <a:t>Characteristics</a:t>
            </a:r>
            <a:endParaRPr lang="es-MX" dirty="0"/>
          </a:p>
        </p:txBody>
      </p:sp>
      <p:sp>
        <p:nvSpPr>
          <p:cNvPr id="3" name="Marcador de contenido 2">
            <a:extLst>
              <a:ext uri="{FF2B5EF4-FFF2-40B4-BE49-F238E27FC236}">
                <a16:creationId xmlns:a16="http://schemas.microsoft.com/office/drawing/2014/main" id="{EC6E06AB-C6DA-31EE-3014-1AB47108094F}"/>
              </a:ext>
            </a:extLst>
          </p:cNvPr>
          <p:cNvSpPr>
            <a:spLocks noGrp="1"/>
          </p:cNvSpPr>
          <p:nvPr>
            <p:ph idx="1"/>
          </p:nvPr>
        </p:nvSpPr>
        <p:spPr>
          <a:xfrm>
            <a:off x="504826" y="1690688"/>
            <a:ext cx="11015662" cy="4729162"/>
          </a:xfrm>
        </p:spPr>
        <p:txBody>
          <a:bodyPr>
            <a:normAutofit fontScale="85000" lnSpcReduction="20000"/>
          </a:bodyPr>
          <a:lstStyle/>
          <a:p>
            <a:pPr marL="0" indent="0" algn="just">
              <a:buNone/>
            </a:pPr>
            <a:r>
              <a:rPr lang="en-US" b="1" dirty="0"/>
              <a:t>Measure Likelihood:</a:t>
            </a:r>
            <a:r>
              <a:rPr lang="en-US" dirty="0"/>
              <a:t> directly calculate the likelihood of a given sample under the model. This is useful for model comparison and evaluation, o</a:t>
            </a:r>
            <a:r>
              <a:rPr lang="es-MX" dirty="0" err="1"/>
              <a:t>ften</a:t>
            </a:r>
            <a:r>
              <a:rPr lang="es-MX" dirty="0"/>
              <a:t> </a:t>
            </a:r>
            <a:r>
              <a:rPr lang="es-MX" dirty="0" err="1"/>
              <a:t>tractable</a:t>
            </a:r>
            <a:r>
              <a:rPr lang="es-MX" dirty="0"/>
              <a:t> (</a:t>
            </a:r>
            <a:r>
              <a:rPr lang="es-MX" dirty="0" err="1"/>
              <a:t>or</a:t>
            </a:r>
            <a:r>
              <a:rPr lang="es-MX" dirty="0"/>
              <a:t> </a:t>
            </a:r>
            <a:r>
              <a:rPr lang="es-MX" dirty="0" err="1"/>
              <a:t>approximable</a:t>
            </a:r>
            <a:r>
              <a:rPr lang="es-MX" dirty="0"/>
              <a:t>)</a:t>
            </a:r>
            <a:r>
              <a:rPr lang="en-US" dirty="0"/>
              <a:t>.</a:t>
            </a:r>
          </a:p>
          <a:p>
            <a:pPr marL="0" indent="0" algn="just">
              <a:buNone/>
            </a:pPr>
            <a:endParaRPr lang="en-US" dirty="0"/>
          </a:p>
          <a:p>
            <a:pPr marL="0" indent="0" algn="just">
              <a:buNone/>
            </a:pPr>
            <a:r>
              <a:rPr lang="en-US" b="1" dirty="0"/>
              <a:t>Tractable Density Models:</a:t>
            </a:r>
            <a:r>
              <a:rPr lang="en-US" dirty="0"/>
              <a:t> The density function </a:t>
            </a:r>
            <a:r>
              <a:rPr lang="en-US" dirty="0" err="1"/>
              <a:t>p</a:t>
            </a:r>
            <a:r>
              <a:rPr lang="en-US" dirty="0" err="1">
                <a:effectLst/>
              </a:rPr>
              <a:t>θ</a:t>
            </a:r>
            <a:r>
              <a:rPr lang="en-US" dirty="0"/>
              <a:t>​(x) can be computed efficiently. Examples include:</a:t>
            </a:r>
          </a:p>
          <a:p>
            <a:pPr marL="0" indent="0" algn="just">
              <a:buNone/>
            </a:pPr>
            <a:endParaRPr lang="en-US" dirty="0"/>
          </a:p>
          <a:p>
            <a:pPr algn="just">
              <a:buFont typeface="Arial" panose="020B0604020202020204" pitchFamily="34" charset="0"/>
              <a:buChar char="•"/>
            </a:pPr>
            <a:r>
              <a:rPr lang="en-US" b="1" dirty="0"/>
              <a:t>Autoregressive Models:</a:t>
            </a:r>
            <a:r>
              <a:rPr lang="en-US" dirty="0"/>
              <a:t> These model the joint distribution as a product of conditional distributions, like p(x)=</a:t>
            </a:r>
            <a:r>
              <a:rPr lang="en-US" dirty="0">
                <a:effectLst/>
              </a:rPr>
              <a:t>∏</a:t>
            </a:r>
            <a:r>
              <a:rPr lang="en-US" dirty="0" err="1">
                <a:effectLst/>
              </a:rPr>
              <a:t>i</a:t>
            </a:r>
            <a:r>
              <a:rPr lang="en-US" dirty="0"/>
              <a:t>​p(x</a:t>
            </a:r>
            <a:r>
              <a:rPr lang="en-US" dirty="0">
                <a:effectLst/>
              </a:rPr>
              <a:t>i</a:t>
            </a:r>
            <a:r>
              <a:rPr lang="en-US" dirty="0"/>
              <a:t>​∣x</a:t>
            </a:r>
            <a:r>
              <a:rPr lang="en-US" dirty="0">
                <a:effectLst/>
              </a:rPr>
              <a:t>1</a:t>
            </a:r>
            <a:r>
              <a:rPr lang="en-US" dirty="0"/>
              <a:t>​,...,x</a:t>
            </a:r>
            <a:r>
              <a:rPr lang="en-US" dirty="0">
                <a:effectLst/>
              </a:rPr>
              <a:t>i−1</a:t>
            </a:r>
            <a:r>
              <a:rPr lang="en-US" dirty="0"/>
              <a:t>​). Think of models like </a:t>
            </a:r>
            <a:r>
              <a:rPr lang="en-US" dirty="0" err="1"/>
              <a:t>PixelRNN</a:t>
            </a:r>
            <a:r>
              <a:rPr lang="en-US" dirty="0"/>
              <a:t>, </a:t>
            </a:r>
            <a:r>
              <a:rPr lang="en-US" dirty="0" err="1"/>
              <a:t>PixelCNN</a:t>
            </a:r>
            <a:r>
              <a:rPr lang="en-US" dirty="0"/>
              <a:t>, </a:t>
            </a:r>
            <a:r>
              <a:rPr lang="en-US" dirty="0" err="1"/>
              <a:t>WaveNet</a:t>
            </a:r>
            <a:r>
              <a:rPr lang="en-US" dirty="0"/>
              <a:t>, and language models (e.g., GPT).</a:t>
            </a:r>
          </a:p>
          <a:p>
            <a:pPr marL="0" indent="0" algn="just">
              <a:buNone/>
            </a:pPr>
            <a:endParaRPr lang="en-US" dirty="0"/>
          </a:p>
          <a:p>
            <a:pPr algn="just">
              <a:buFont typeface="Arial" panose="020B0604020202020204" pitchFamily="34" charset="0"/>
              <a:buChar char="•"/>
            </a:pPr>
            <a:r>
              <a:rPr lang="en-US" b="1" dirty="0"/>
              <a:t>Normalizing Flows:</a:t>
            </a:r>
            <a:r>
              <a:rPr lang="en-US" dirty="0"/>
              <a:t> These transform a simple base distribution (e.g., Gaussian) through a series of invertible functions with tractable Jacobians. The change of variables formula is key here. Examples include NICE, </a:t>
            </a:r>
            <a:r>
              <a:rPr lang="en-US" dirty="0" err="1"/>
              <a:t>RealNVP</a:t>
            </a:r>
            <a:r>
              <a:rPr lang="en-US" dirty="0"/>
              <a:t>, Glow, and FFJORD.</a:t>
            </a:r>
            <a:endParaRPr lang="es-MX" dirty="0"/>
          </a:p>
        </p:txBody>
      </p:sp>
    </p:spTree>
    <p:extLst>
      <p:ext uri="{BB962C8B-B14F-4D97-AF65-F5344CB8AC3E}">
        <p14:creationId xmlns:p14="http://schemas.microsoft.com/office/powerpoint/2010/main" val="18503017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CC1F861B-F494-E0D2-20EF-E4890CFBCDAD}"/>
              </a:ext>
            </a:extLst>
          </p:cNvPr>
          <p:cNvSpPr>
            <a:spLocks noGrp="1"/>
          </p:cNvSpPr>
          <p:nvPr>
            <p:ph idx="1"/>
          </p:nvPr>
        </p:nvSpPr>
        <p:spPr>
          <a:xfrm>
            <a:off x="400051" y="438150"/>
            <a:ext cx="11168062" cy="6054725"/>
          </a:xfrm>
        </p:spPr>
        <p:txBody>
          <a:bodyPr>
            <a:normAutofit fontScale="92500"/>
          </a:bodyPr>
          <a:lstStyle/>
          <a:p>
            <a:pPr algn="just">
              <a:buFont typeface="Arial" panose="020B0604020202020204" pitchFamily="34" charset="0"/>
              <a:buChar char="•"/>
            </a:pPr>
            <a:r>
              <a:rPr lang="en-US" b="1" dirty="0"/>
              <a:t>Approximate Density Models:</a:t>
            </a:r>
            <a:r>
              <a:rPr lang="en-US" dirty="0"/>
              <a:t> The explicit density is intractable, but approximations are used for training. Examples include: </a:t>
            </a:r>
            <a:r>
              <a:rPr lang="en-US" b="1" dirty="0"/>
              <a:t>Variational Autoencoders (VAEs):</a:t>
            </a:r>
            <a:r>
              <a:rPr lang="en-US" dirty="0"/>
              <a:t> These introduce a latent variable </a:t>
            </a:r>
            <a:r>
              <a:rPr lang="en-US" dirty="0">
                <a:effectLst/>
              </a:rPr>
              <a:t>z</a:t>
            </a:r>
            <a:r>
              <a:rPr lang="en-US" dirty="0"/>
              <a:t> and optimize a lower bound on the log-likelihood (the Evidence Lower Bound or ELBO). They explicitly model </a:t>
            </a:r>
            <a:r>
              <a:rPr lang="en-US" dirty="0" err="1"/>
              <a:t>p</a:t>
            </a:r>
            <a:r>
              <a:rPr lang="en-US" dirty="0" err="1">
                <a:effectLst/>
              </a:rPr>
              <a:t>θ</a:t>
            </a:r>
            <a:r>
              <a:rPr lang="en-US" dirty="0"/>
              <a:t>​(</a:t>
            </a:r>
            <a:r>
              <a:rPr lang="en-US" dirty="0" err="1"/>
              <a:t>x∣</a:t>
            </a:r>
            <a:r>
              <a:rPr lang="en-US" dirty="0" err="1">
                <a:effectLst/>
              </a:rPr>
              <a:t>z</a:t>
            </a:r>
            <a:r>
              <a:rPr lang="en-US" dirty="0"/>
              <a:t>) and </a:t>
            </a:r>
            <a:r>
              <a:rPr lang="en-US" dirty="0" err="1"/>
              <a:t>p</a:t>
            </a:r>
            <a:r>
              <a:rPr lang="en-US" dirty="0" err="1">
                <a:effectLst/>
              </a:rPr>
              <a:t>θ</a:t>
            </a:r>
            <a:r>
              <a:rPr lang="en-US" dirty="0"/>
              <a:t>​(</a:t>
            </a:r>
            <a:r>
              <a:rPr lang="en-US" dirty="0">
                <a:effectLst/>
              </a:rPr>
              <a:t>z</a:t>
            </a:r>
            <a:r>
              <a:rPr lang="en-US" dirty="0"/>
              <a:t>), and approximate the intractable posterior </a:t>
            </a:r>
            <a:r>
              <a:rPr lang="en-US" dirty="0" err="1"/>
              <a:t>p</a:t>
            </a:r>
            <a:r>
              <a:rPr lang="en-US" dirty="0" err="1">
                <a:effectLst/>
              </a:rPr>
              <a:t>θ</a:t>
            </a:r>
            <a:r>
              <a:rPr lang="en-US" dirty="0"/>
              <a:t>​(</a:t>
            </a:r>
            <a:r>
              <a:rPr lang="en-US" dirty="0" err="1">
                <a:effectLst/>
              </a:rPr>
              <a:t>z</a:t>
            </a:r>
            <a:r>
              <a:rPr lang="en-US" dirty="0" err="1"/>
              <a:t>∣x</a:t>
            </a:r>
            <a:r>
              <a:rPr lang="en-US" dirty="0"/>
              <a:t>) with a learned encoder </a:t>
            </a:r>
            <a:r>
              <a:rPr lang="en-US" dirty="0" err="1">
                <a:effectLst/>
              </a:rPr>
              <a:t>qϕ</a:t>
            </a:r>
            <a:r>
              <a:rPr lang="en-US" dirty="0"/>
              <a:t>​(</a:t>
            </a:r>
            <a:r>
              <a:rPr lang="en-US" dirty="0" err="1">
                <a:effectLst/>
              </a:rPr>
              <a:t>z</a:t>
            </a:r>
            <a:r>
              <a:rPr lang="en-US" dirty="0" err="1"/>
              <a:t>∣x</a:t>
            </a:r>
            <a:r>
              <a:rPr lang="en-US" dirty="0"/>
              <a:t>).</a:t>
            </a:r>
          </a:p>
          <a:p>
            <a:pPr marL="0" indent="0" algn="just">
              <a:buNone/>
            </a:pPr>
            <a:endParaRPr lang="en-US" dirty="0"/>
          </a:p>
          <a:p>
            <a:pPr algn="l">
              <a:lnSpc>
                <a:spcPts val="2099"/>
              </a:lnSpc>
              <a:spcAft>
                <a:spcPts val="900"/>
              </a:spcAft>
              <a:buNone/>
            </a:pPr>
            <a:r>
              <a:rPr lang="en-US" b="1" dirty="0"/>
              <a:t>Other approaches:</a:t>
            </a:r>
            <a:r>
              <a:rPr lang="en-US" dirty="0"/>
              <a:t> score matching or diffusion processes which explicitly define the gradient of the log-density (the score function). </a:t>
            </a:r>
          </a:p>
          <a:p>
            <a:pPr algn="l">
              <a:lnSpc>
                <a:spcPts val="2099"/>
              </a:lnSpc>
              <a:spcAft>
                <a:spcPts val="900"/>
              </a:spcAft>
              <a:buNone/>
            </a:pPr>
            <a:r>
              <a:rPr lang="en-US" dirty="0"/>
              <a:t>Diffusion models (e.g., DDPMs, Score-SDE) can be seen as defining an explicit likelihood through a sequence of noise additions. </a:t>
            </a:r>
          </a:p>
          <a:p>
            <a:pPr algn="l">
              <a:lnSpc>
                <a:spcPts val="2099"/>
              </a:lnSpc>
              <a:spcAft>
                <a:spcPts val="900"/>
              </a:spcAft>
              <a:buNone/>
            </a:pPr>
            <a:endParaRPr lang="es-MX" dirty="0"/>
          </a:p>
          <a:p>
            <a:pPr algn="l">
              <a:lnSpc>
                <a:spcPts val="2099"/>
              </a:lnSpc>
              <a:spcAft>
                <a:spcPts val="900"/>
              </a:spcAft>
              <a:buNone/>
            </a:pPr>
            <a:r>
              <a:rPr lang="es-MX" sz="2400" dirty="0"/>
              <a:t>High-</a:t>
            </a:r>
            <a:r>
              <a:rPr lang="es-MX" sz="2400" dirty="0" err="1"/>
              <a:t>Resolution</a:t>
            </a:r>
            <a:r>
              <a:rPr lang="es-MX" sz="2400" dirty="0"/>
              <a:t> </a:t>
            </a:r>
            <a:r>
              <a:rPr lang="es-MX" sz="2400" dirty="0" err="1"/>
              <a:t>Image</a:t>
            </a:r>
            <a:r>
              <a:rPr lang="es-MX" sz="2400" dirty="0"/>
              <a:t> </a:t>
            </a:r>
            <a:r>
              <a:rPr lang="es-MX" sz="2400" dirty="0" err="1"/>
              <a:t>Synthesis</a:t>
            </a:r>
            <a:r>
              <a:rPr lang="es-MX" sz="2400" dirty="0"/>
              <a:t> </a:t>
            </a:r>
            <a:r>
              <a:rPr lang="es-MX" sz="2400" dirty="0" err="1"/>
              <a:t>with</a:t>
            </a:r>
            <a:r>
              <a:rPr lang="es-MX" sz="2400" dirty="0"/>
              <a:t> </a:t>
            </a:r>
            <a:r>
              <a:rPr lang="es-MX" sz="2400" dirty="0" err="1"/>
              <a:t>Latent</a:t>
            </a:r>
            <a:r>
              <a:rPr lang="es-MX" sz="2400" dirty="0"/>
              <a:t> </a:t>
            </a:r>
            <a:r>
              <a:rPr lang="es-MX" sz="2400" dirty="0" err="1"/>
              <a:t>Diffusion</a:t>
            </a:r>
            <a:r>
              <a:rPr lang="es-MX" sz="2400" dirty="0"/>
              <a:t> </a:t>
            </a:r>
            <a:r>
              <a:rPr lang="es-MX" sz="2400" dirty="0" err="1"/>
              <a:t>Models</a:t>
            </a:r>
            <a:endParaRPr lang="es-MX" sz="2400" dirty="0"/>
          </a:p>
          <a:p>
            <a:pPr marL="0" indent="0" algn="l">
              <a:lnSpc>
                <a:spcPts val="1800"/>
              </a:lnSpc>
              <a:spcBef>
                <a:spcPts val="600"/>
              </a:spcBef>
              <a:spcAft>
                <a:spcPts val="600"/>
              </a:spcAft>
              <a:buNone/>
            </a:pPr>
            <a:r>
              <a:rPr lang="es-MX" sz="2400" dirty="0">
                <a:hlinkClick r:id="rId2">
                  <a:extLst>
                    <a:ext uri="{A12FA001-AC4F-418D-AE19-62706E023703}">
                      <ahyp:hlinkClr xmlns:ahyp="http://schemas.microsoft.com/office/drawing/2018/hyperlinkcolor" val="tx"/>
                    </a:ext>
                  </a:extLst>
                </a:hlinkClick>
              </a:rPr>
              <a:t>Robin </a:t>
            </a:r>
            <a:r>
              <a:rPr lang="es-MX" sz="2400" dirty="0" err="1">
                <a:hlinkClick r:id="rId2">
                  <a:extLst>
                    <a:ext uri="{A12FA001-AC4F-418D-AE19-62706E023703}">
                      <ahyp:hlinkClr xmlns:ahyp="http://schemas.microsoft.com/office/drawing/2018/hyperlinkcolor" val="tx"/>
                    </a:ext>
                  </a:extLst>
                </a:hlinkClick>
              </a:rPr>
              <a:t>Rombach</a:t>
            </a:r>
            <a:r>
              <a:rPr lang="es-MX" sz="2400" dirty="0"/>
              <a:t>, </a:t>
            </a:r>
            <a:r>
              <a:rPr lang="es-MX" sz="2400" dirty="0">
                <a:hlinkClick r:id="rId3">
                  <a:extLst>
                    <a:ext uri="{A12FA001-AC4F-418D-AE19-62706E023703}">
                      <ahyp:hlinkClr xmlns:ahyp="http://schemas.microsoft.com/office/drawing/2018/hyperlinkcolor" val="tx"/>
                    </a:ext>
                  </a:extLst>
                </a:hlinkClick>
              </a:rPr>
              <a:t>Andreas </a:t>
            </a:r>
            <a:r>
              <a:rPr lang="es-MX" sz="2400" dirty="0" err="1">
                <a:hlinkClick r:id="rId3">
                  <a:extLst>
                    <a:ext uri="{A12FA001-AC4F-418D-AE19-62706E023703}">
                      <ahyp:hlinkClr xmlns:ahyp="http://schemas.microsoft.com/office/drawing/2018/hyperlinkcolor" val="tx"/>
                    </a:ext>
                  </a:extLst>
                </a:hlinkClick>
              </a:rPr>
              <a:t>Blattmann</a:t>
            </a:r>
            <a:r>
              <a:rPr lang="es-MX" sz="2400" dirty="0"/>
              <a:t>, </a:t>
            </a:r>
            <a:r>
              <a:rPr lang="es-MX" sz="2400" dirty="0">
                <a:hlinkClick r:id="rId4">
                  <a:extLst>
                    <a:ext uri="{A12FA001-AC4F-418D-AE19-62706E023703}">
                      <ahyp:hlinkClr xmlns:ahyp="http://schemas.microsoft.com/office/drawing/2018/hyperlinkcolor" val="tx"/>
                    </a:ext>
                  </a:extLst>
                </a:hlinkClick>
              </a:rPr>
              <a:t>Dominik Lorenz</a:t>
            </a:r>
            <a:r>
              <a:rPr lang="es-MX" sz="2400" dirty="0"/>
              <a:t>, </a:t>
            </a:r>
            <a:r>
              <a:rPr lang="es-MX" sz="2400" dirty="0">
                <a:hlinkClick r:id="rId5">
                  <a:extLst>
                    <a:ext uri="{A12FA001-AC4F-418D-AE19-62706E023703}">
                      <ahyp:hlinkClr xmlns:ahyp="http://schemas.microsoft.com/office/drawing/2018/hyperlinkcolor" val="tx"/>
                    </a:ext>
                  </a:extLst>
                </a:hlinkClick>
              </a:rPr>
              <a:t>Patrick Esser</a:t>
            </a:r>
            <a:r>
              <a:rPr lang="es-MX" sz="2400" dirty="0"/>
              <a:t>, </a:t>
            </a:r>
            <a:r>
              <a:rPr lang="es-MX" sz="2400" dirty="0">
                <a:hlinkClick r:id="rId6">
                  <a:extLst>
                    <a:ext uri="{A12FA001-AC4F-418D-AE19-62706E023703}">
                      <ahyp:hlinkClr xmlns:ahyp="http://schemas.microsoft.com/office/drawing/2018/hyperlinkcolor" val="tx"/>
                    </a:ext>
                  </a:extLst>
                </a:hlinkClick>
              </a:rPr>
              <a:t>Björn </a:t>
            </a:r>
            <a:r>
              <a:rPr lang="es-MX" sz="2400" dirty="0" err="1">
                <a:hlinkClick r:id="rId6">
                  <a:extLst>
                    <a:ext uri="{A12FA001-AC4F-418D-AE19-62706E023703}">
                      <ahyp:hlinkClr xmlns:ahyp="http://schemas.microsoft.com/office/drawing/2018/hyperlinkcolor" val="tx"/>
                    </a:ext>
                  </a:extLst>
                </a:hlinkClick>
              </a:rPr>
              <a:t>Ommer</a:t>
            </a:r>
            <a:r>
              <a:rPr lang="es-MX" sz="2400" dirty="0"/>
              <a:t>, 2021</a:t>
            </a:r>
          </a:p>
          <a:p>
            <a:pPr algn="just">
              <a:buFont typeface="Arial" panose="020B0604020202020204" pitchFamily="34" charset="0"/>
              <a:buChar char="•"/>
            </a:pPr>
            <a:endParaRPr lang="en-US" dirty="0"/>
          </a:p>
          <a:p>
            <a:pPr marL="0" indent="0" algn="just">
              <a:buNone/>
            </a:pPr>
            <a:endParaRPr lang="es-MX" dirty="0"/>
          </a:p>
        </p:txBody>
      </p:sp>
    </p:spTree>
    <p:extLst>
      <p:ext uri="{BB962C8B-B14F-4D97-AF65-F5344CB8AC3E}">
        <p14:creationId xmlns:p14="http://schemas.microsoft.com/office/powerpoint/2010/main" val="23521802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1F24F4E-3196-E3FB-4D08-81E4C91EAAF0}"/>
              </a:ext>
            </a:extLst>
          </p:cNvPr>
          <p:cNvSpPr>
            <a:spLocks noGrp="1"/>
          </p:cNvSpPr>
          <p:nvPr>
            <p:ph type="title"/>
          </p:nvPr>
        </p:nvSpPr>
        <p:spPr/>
        <p:txBody>
          <a:bodyPr/>
          <a:lstStyle/>
          <a:p>
            <a:r>
              <a:rPr lang="en-US" b="1" dirty="0"/>
              <a:t>Advantages:</a:t>
            </a:r>
            <a:endParaRPr lang="es-MX" dirty="0"/>
          </a:p>
        </p:txBody>
      </p:sp>
      <p:sp>
        <p:nvSpPr>
          <p:cNvPr id="3" name="Marcador de contenido 2">
            <a:extLst>
              <a:ext uri="{FF2B5EF4-FFF2-40B4-BE49-F238E27FC236}">
                <a16:creationId xmlns:a16="http://schemas.microsoft.com/office/drawing/2014/main" id="{309EF181-E11F-754D-5A96-EDBA1EADA2EF}"/>
              </a:ext>
            </a:extLst>
          </p:cNvPr>
          <p:cNvSpPr>
            <a:spLocks noGrp="1"/>
          </p:cNvSpPr>
          <p:nvPr>
            <p:ph idx="1"/>
          </p:nvPr>
        </p:nvSpPr>
        <p:spPr/>
        <p:txBody>
          <a:bodyPr/>
          <a:lstStyle/>
          <a:p>
            <a:pPr algn="just">
              <a:buFont typeface="Arial" panose="020B0604020202020204" pitchFamily="34" charset="0"/>
              <a:buChar char="•"/>
            </a:pPr>
            <a:r>
              <a:rPr lang="en-US" b="1" dirty="0"/>
              <a:t>Good for Density Estimation:</a:t>
            </a:r>
            <a:r>
              <a:rPr lang="en-US" dirty="0"/>
              <a:t> By definition, they provide a way to estimate the probability of new points.</a:t>
            </a:r>
          </a:p>
          <a:p>
            <a:pPr algn="just">
              <a:buFont typeface="Arial" panose="020B0604020202020204" pitchFamily="34" charset="0"/>
              <a:buChar char="•"/>
            </a:pPr>
            <a:endParaRPr lang="en-US" dirty="0"/>
          </a:p>
          <a:p>
            <a:pPr algn="just">
              <a:buFont typeface="Arial" panose="020B0604020202020204" pitchFamily="34" charset="0"/>
              <a:buChar char="•"/>
            </a:pPr>
            <a:r>
              <a:rPr lang="en-US" b="1" dirty="0"/>
              <a:t>Principled Training:</a:t>
            </a:r>
            <a:r>
              <a:rPr lang="en-US" dirty="0"/>
              <a:t> Likelihood maximization is a well-understood statistical framework.</a:t>
            </a:r>
          </a:p>
          <a:p>
            <a:pPr algn="just">
              <a:buFont typeface="Arial" panose="020B0604020202020204" pitchFamily="34" charset="0"/>
              <a:buChar char="•"/>
            </a:pPr>
            <a:endParaRPr lang="en-US" b="1" dirty="0"/>
          </a:p>
          <a:p>
            <a:pPr algn="just">
              <a:buFont typeface="Arial" panose="020B0604020202020204" pitchFamily="34" charset="0"/>
              <a:buChar char="•"/>
            </a:pPr>
            <a:r>
              <a:rPr lang="en-US" b="1" dirty="0"/>
              <a:t>Often Better Mode Coverage:</a:t>
            </a:r>
            <a:r>
              <a:rPr lang="en-US" dirty="0"/>
              <a:t> Compared to some implicit models, they might be less prone to mode collapse, especially VAEs and flow-based models.</a:t>
            </a:r>
          </a:p>
          <a:p>
            <a:pPr marL="0" indent="0" algn="just">
              <a:buNone/>
            </a:pPr>
            <a:endParaRPr lang="es-MX" dirty="0"/>
          </a:p>
        </p:txBody>
      </p:sp>
    </p:spTree>
    <p:extLst>
      <p:ext uri="{BB962C8B-B14F-4D97-AF65-F5344CB8AC3E}">
        <p14:creationId xmlns:p14="http://schemas.microsoft.com/office/powerpoint/2010/main" val="12000163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D90F405-C612-09FF-9EDB-42876DC85534}"/>
              </a:ext>
            </a:extLst>
          </p:cNvPr>
          <p:cNvSpPr>
            <a:spLocks noGrp="1"/>
          </p:cNvSpPr>
          <p:nvPr>
            <p:ph type="title"/>
          </p:nvPr>
        </p:nvSpPr>
        <p:spPr/>
        <p:txBody>
          <a:bodyPr/>
          <a:lstStyle/>
          <a:p>
            <a:r>
              <a:rPr lang="es-MX" b="1" dirty="0" err="1"/>
              <a:t>Disadvantages</a:t>
            </a:r>
            <a:r>
              <a:rPr lang="es-MX" b="1" dirty="0"/>
              <a:t>:</a:t>
            </a:r>
          </a:p>
        </p:txBody>
      </p:sp>
      <p:sp>
        <p:nvSpPr>
          <p:cNvPr id="3" name="Marcador de contenido 2">
            <a:extLst>
              <a:ext uri="{FF2B5EF4-FFF2-40B4-BE49-F238E27FC236}">
                <a16:creationId xmlns:a16="http://schemas.microsoft.com/office/drawing/2014/main" id="{84FDFE10-E511-4D04-45C4-74FEB1CC91C8}"/>
              </a:ext>
            </a:extLst>
          </p:cNvPr>
          <p:cNvSpPr>
            <a:spLocks noGrp="1"/>
          </p:cNvSpPr>
          <p:nvPr>
            <p:ph idx="1"/>
          </p:nvPr>
        </p:nvSpPr>
        <p:spPr/>
        <p:txBody>
          <a:bodyPr>
            <a:normAutofit fontScale="92500" lnSpcReduction="10000"/>
          </a:bodyPr>
          <a:lstStyle/>
          <a:p>
            <a:pPr marL="0" indent="0" algn="just">
              <a:buNone/>
            </a:pPr>
            <a:r>
              <a:rPr lang="en-US" b="1" dirty="0"/>
              <a:t>May Generate Blurry Samples:</a:t>
            </a:r>
            <a:r>
              <a:rPr lang="en-US" dirty="0"/>
              <a:t> Especially older VAEs, due to approximations made or the choice of loss function (e.g., MSE can lead to averaging effects).</a:t>
            </a:r>
          </a:p>
          <a:p>
            <a:pPr marL="0" indent="0" algn="just">
              <a:buNone/>
            </a:pPr>
            <a:endParaRPr lang="en-US" dirty="0"/>
          </a:p>
          <a:p>
            <a:pPr marL="0" indent="0" algn="just">
              <a:buNone/>
            </a:pPr>
            <a:r>
              <a:rPr lang="en-US" b="1" dirty="0"/>
              <a:t>Inflexibility/Restrictive Assumptions:</a:t>
            </a:r>
            <a:r>
              <a:rPr lang="en-US" dirty="0"/>
              <a:t> Tractable models often impose strong constraints on the architecture (e.g., autoregressive structure, invertibility in flows) to ensure the density can be computed.</a:t>
            </a:r>
          </a:p>
          <a:p>
            <a:pPr marL="0" indent="0" algn="just">
              <a:buNone/>
            </a:pPr>
            <a:endParaRPr lang="en-US" dirty="0"/>
          </a:p>
          <a:p>
            <a:pPr marL="0" indent="0" algn="just">
              <a:buNone/>
            </a:pPr>
            <a:r>
              <a:rPr lang="en-US" b="1" dirty="0"/>
              <a:t>Optimization Challenges:</a:t>
            </a:r>
            <a:r>
              <a:rPr lang="en-US" dirty="0"/>
              <a:t> Maximizing likelihood for highly complex distributions can be difficult. Approximations (like in VAEs) can lead to a gap between the true likelihood and what's being optimized.</a:t>
            </a:r>
            <a:endParaRPr lang="es-MX" dirty="0"/>
          </a:p>
        </p:txBody>
      </p:sp>
    </p:spTree>
    <p:extLst>
      <p:ext uri="{BB962C8B-B14F-4D97-AF65-F5344CB8AC3E}">
        <p14:creationId xmlns:p14="http://schemas.microsoft.com/office/powerpoint/2010/main" val="29724882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671F8E1-EE50-7D77-DFFC-20EFE285759D}"/>
              </a:ext>
            </a:extLst>
          </p:cNvPr>
          <p:cNvSpPr>
            <a:spLocks noGrp="1"/>
          </p:cNvSpPr>
          <p:nvPr>
            <p:ph type="title"/>
          </p:nvPr>
        </p:nvSpPr>
        <p:spPr/>
        <p:txBody>
          <a:bodyPr/>
          <a:lstStyle/>
          <a:p>
            <a:r>
              <a:rPr lang="es-MX" dirty="0" err="1"/>
              <a:t>VAEs</a:t>
            </a:r>
            <a:r>
              <a:rPr lang="es-MX" dirty="0"/>
              <a:t> (</a:t>
            </a:r>
            <a:r>
              <a:rPr lang="es-MX" dirty="0" err="1"/>
              <a:t>Variational</a:t>
            </a:r>
            <a:r>
              <a:rPr lang="es-MX" dirty="0"/>
              <a:t> </a:t>
            </a:r>
            <a:r>
              <a:rPr lang="es-MX" dirty="0" err="1"/>
              <a:t>Autoencoders</a:t>
            </a:r>
            <a:r>
              <a:rPr lang="es-MX" dirty="0"/>
              <a:t>)</a:t>
            </a:r>
          </a:p>
        </p:txBody>
      </p:sp>
      <p:sp>
        <p:nvSpPr>
          <p:cNvPr id="3" name="Marcador de contenido 2">
            <a:extLst>
              <a:ext uri="{FF2B5EF4-FFF2-40B4-BE49-F238E27FC236}">
                <a16:creationId xmlns:a16="http://schemas.microsoft.com/office/drawing/2014/main" id="{19F7E618-BCB3-9420-D1FB-B5F362C17077}"/>
              </a:ext>
            </a:extLst>
          </p:cNvPr>
          <p:cNvSpPr>
            <a:spLocks noGrp="1"/>
          </p:cNvSpPr>
          <p:nvPr>
            <p:ph idx="1"/>
          </p:nvPr>
        </p:nvSpPr>
        <p:spPr>
          <a:xfrm>
            <a:off x="609599" y="1825624"/>
            <a:ext cx="11020425" cy="4489451"/>
          </a:xfrm>
        </p:spPr>
        <p:txBody>
          <a:bodyPr>
            <a:normAutofit fontScale="92500" lnSpcReduction="10000"/>
          </a:bodyPr>
          <a:lstStyle/>
          <a:p>
            <a:pPr marL="0" indent="0" algn="just">
              <a:buNone/>
            </a:pPr>
            <a:r>
              <a:rPr lang="en-US" dirty="0"/>
              <a:t>Define a generative process involving latent variables </a:t>
            </a:r>
            <a:r>
              <a:rPr lang="en-US" dirty="0">
                <a:effectLst/>
              </a:rPr>
              <a:t>z</a:t>
            </a:r>
            <a:r>
              <a:rPr lang="en-US" dirty="0"/>
              <a:t>. They assume </a:t>
            </a:r>
            <a:r>
              <a:rPr lang="en-US" dirty="0" err="1"/>
              <a:t>p</a:t>
            </a:r>
            <a:r>
              <a:rPr lang="en-US" dirty="0" err="1">
                <a:effectLst/>
              </a:rPr>
              <a:t>θ</a:t>
            </a:r>
            <a:r>
              <a:rPr lang="en-US" dirty="0"/>
              <a:t>​(</a:t>
            </a:r>
            <a:r>
              <a:rPr lang="en-US" dirty="0" err="1"/>
              <a:t>x,</a:t>
            </a:r>
            <a:r>
              <a:rPr lang="en-US" dirty="0" err="1">
                <a:effectLst/>
              </a:rPr>
              <a:t>z</a:t>
            </a:r>
            <a:r>
              <a:rPr lang="en-US" dirty="0"/>
              <a:t>)=</a:t>
            </a:r>
            <a:r>
              <a:rPr lang="en-US" dirty="0" err="1"/>
              <a:t>p</a:t>
            </a:r>
            <a:r>
              <a:rPr lang="en-US" dirty="0" err="1">
                <a:effectLst/>
              </a:rPr>
              <a:t>θ</a:t>
            </a:r>
            <a:r>
              <a:rPr lang="en-US" dirty="0"/>
              <a:t>​(</a:t>
            </a:r>
            <a:r>
              <a:rPr lang="en-US" dirty="0" err="1"/>
              <a:t>x∣</a:t>
            </a:r>
            <a:r>
              <a:rPr lang="en-US" dirty="0" err="1">
                <a:effectLst/>
              </a:rPr>
              <a:t>z</a:t>
            </a:r>
            <a:r>
              <a:rPr lang="en-US" dirty="0"/>
              <a:t>)p(</a:t>
            </a:r>
            <a:r>
              <a:rPr lang="en-US" dirty="0">
                <a:effectLst/>
              </a:rPr>
              <a:t>z</a:t>
            </a:r>
            <a:r>
              <a:rPr lang="en-US" dirty="0"/>
              <a:t>), where p(</a:t>
            </a:r>
            <a:r>
              <a:rPr lang="en-US" dirty="0">
                <a:effectLst/>
              </a:rPr>
              <a:t>z</a:t>
            </a:r>
            <a:r>
              <a:rPr lang="en-US" dirty="0"/>
              <a:t>) is a prior (e.g., Gaussian) and </a:t>
            </a:r>
            <a:r>
              <a:rPr lang="en-US" dirty="0" err="1"/>
              <a:t>p</a:t>
            </a:r>
            <a:r>
              <a:rPr lang="en-US" dirty="0" err="1">
                <a:effectLst/>
              </a:rPr>
              <a:t>θ</a:t>
            </a:r>
            <a:r>
              <a:rPr lang="en-US" dirty="0"/>
              <a:t>​(</a:t>
            </a:r>
            <a:r>
              <a:rPr lang="en-US" dirty="0" err="1"/>
              <a:t>x∣</a:t>
            </a:r>
            <a:r>
              <a:rPr lang="en-US" dirty="0" err="1">
                <a:effectLst/>
              </a:rPr>
              <a:t>z</a:t>
            </a:r>
            <a:r>
              <a:rPr lang="en-US" dirty="0"/>
              <a:t>) is the likelihood of x given </a:t>
            </a:r>
            <a:r>
              <a:rPr lang="en-US" dirty="0">
                <a:effectLst/>
              </a:rPr>
              <a:t>z</a:t>
            </a:r>
            <a:r>
              <a:rPr lang="en-US" dirty="0"/>
              <a:t> (e.g., a Gaussian distribution whose mean and variance are outputs of a decoder network).</a:t>
            </a:r>
          </a:p>
          <a:p>
            <a:pPr marL="0" indent="0" algn="just">
              <a:buNone/>
            </a:pPr>
            <a:endParaRPr lang="en-US" dirty="0"/>
          </a:p>
          <a:p>
            <a:pPr marL="0" indent="0" algn="just">
              <a:buNone/>
            </a:pPr>
            <a:r>
              <a:rPr lang="en-US" dirty="0"/>
              <a:t> The marginal likelihood </a:t>
            </a:r>
            <a:r>
              <a:rPr lang="en-US" dirty="0" err="1"/>
              <a:t>p</a:t>
            </a:r>
            <a:r>
              <a:rPr lang="en-US" dirty="0" err="1">
                <a:effectLst/>
              </a:rPr>
              <a:t>θ</a:t>
            </a:r>
            <a:r>
              <a:rPr lang="en-US" dirty="0"/>
              <a:t>​(x)=</a:t>
            </a:r>
            <a:r>
              <a:rPr lang="en-US" dirty="0">
                <a:effectLst/>
              </a:rPr>
              <a:t>∫</a:t>
            </a:r>
            <a:r>
              <a:rPr lang="en-US" dirty="0" err="1"/>
              <a:t>p</a:t>
            </a:r>
            <a:r>
              <a:rPr lang="en-US" dirty="0" err="1">
                <a:effectLst/>
              </a:rPr>
              <a:t>θ</a:t>
            </a:r>
            <a:r>
              <a:rPr lang="en-US" dirty="0"/>
              <a:t>​(</a:t>
            </a:r>
            <a:r>
              <a:rPr lang="en-US" dirty="0" err="1"/>
              <a:t>x∣</a:t>
            </a:r>
            <a:r>
              <a:rPr lang="en-US" dirty="0" err="1">
                <a:effectLst/>
              </a:rPr>
              <a:t>z</a:t>
            </a:r>
            <a:r>
              <a:rPr lang="en-US" dirty="0"/>
              <a:t>)p(</a:t>
            </a:r>
            <a:r>
              <a:rPr lang="en-US" dirty="0">
                <a:effectLst/>
              </a:rPr>
              <a:t>z</a:t>
            </a:r>
            <a:r>
              <a:rPr lang="en-US" dirty="0"/>
              <a:t>)</a:t>
            </a:r>
            <a:r>
              <a:rPr lang="en-US" dirty="0" err="1"/>
              <a:t>d</a:t>
            </a:r>
            <a:r>
              <a:rPr lang="en-US" dirty="0" err="1">
                <a:effectLst/>
              </a:rPr>
              <a:t>z</a:t>
            </a:r>
            <a:r>
              <a:rPr lang="en-US" dirty="0"/>
              <a:t> is explicitly defined, even if this integral is often intractable. </a:t>
            </a:r>
          </a:p>
          <a:p>
            <a:pPr marL="0" indent="0" algn="just">
              <a:buNone/>
            </a:pPr>
            <a:endParaRPr lang="en-US" dirty="0"/>
          </a:p>
          <a:p>
            <a:pPr marL="0" indent="0" algn="just">
              <a:buNone/>
            </a:pPr>
            <a:r>
              <a:rPr lang="en-US" dirty="0"/>
              <a:t>VAEs are trained by maximizing the Evidence Lower Bound (ELBO), which is a lower bound on the log-likelihood </a:t>
            </a:r>
            <a:r>
              <a:rPr lang="en-US" dirty="0" err="1"/>
              <a:t>lo</a:t>
            </a:r>
            <a:r>
              <a:rPr lang="en-US" dirty="0" err="1">
                <a:effectLst/>
              </a:rPr>
              <a:t>g</a:t>
            </a:r>
            <a:r>
              <a:rPr lang="en-US" dirty="0" err="1"/>
              <a:t>p</a:t>
            </a:r>
            <a:r>
              <a:rPr lang="en-US" dirty="0" err="1">
                <a:effectLst/>
              </a:rPr>
              <a:t>θ</a:t>
            </a:r>
            <a:r>
              <a:rPr lang="en-US" dirty="0"/>
              <a:t>​(x). Because they work with an explicit (though perhaps intractable) definition of the likelihood and aim to maximize it (or its bound), they are considered explicit models.</a:t>
            </a:r>
            <a:endParaRPr lang="es-MX" dirty="0"/>
          </a:p>
        </p:txBody>
      </p:sp>
    </p:spTree>
    <p:extLst>
      <p:ext uri="{BB962C8B-B14F-4D97-AF65-F5344CB8AC3E}">
        <p14:creationId xmlns:p14="http://schemas.microsoft.com/office/powerpoint/2010/main" val="41805845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636963B-3EC9-99E4-B99A-FD52744678A7}"/>
              </a:ext>
            </a:extLst>
          </p:cNvPr>
          <p:cNvSpPr>
            <a:spLocks noGrp="1"/>
          </p:cNvSpPr>
          <p:nvPr>
            <p:ph type="title"/>
          </p:nvPr>
        </p:nvSpPr>
        <p:spPr/>
        <p:txBody>
          <a:bodyPr/>
          <a:lstStyle/>
          <a:p>
            <a:r>
              <a:rPr lang="fr-FR" dirty="0"/>
              <a:t>Diffusion </a:t>
            </a:r>
            <a:r>
              <a:rPr lang="fr-FR" dirty="0" err="1"/>
              <a:t>Models</a:t>
            </a:r>
            <a:r>
              <a:rPr lang="fr-FR" dirty="0"/>
              <a:t> (e.g., </a:t>
            </a:r>
            <a:r>
              <a:rPr lang="fr-FR" dirty="0" err="1"/>
              <a:t>DDPMs</a:t>
            </a:r>
            <a:r>
              <a:rPr lang="fr-FR" dirty="0"/>
              <a:t>, Score-</a:t>
            </a:r>
            <a:r>
              <a:rPr lang="fr-FR" dirty="0" err="1"/>
              <a:t>SDEs</a:t>
            </a:r>
            <a:r>
              <a:rPr lang="fr-FR" dirty="0"/>
              <a:t>)</a:t>
            </a:r>
            <a:endParaRPr lang="es-MX" dirty="0"/>
          </a:p>
        </p:txBody>
      </p:sp>
      <p:sp>
        <p:nvSpPr>
          <p:cNvPr id="3" name="Marcador de contenido 2">
            <a:extLst>
              <a:ext uri="{FF2B5EF4-FFF2-40B4-BE49-F238E27FC236}">
                <a16:creationId xmlns:a16="http://schemas.microsoft.com/office/drawing/2014/main" id="{6CFF2DC1-A5AA-353B-578D-50B5A301D03D}"/>
              </a:ext>
            </a:extLst>
          </p:cNvPr>
          <p:cNvSpPr>
            <a:spLocks noGrp="1"/>
          </p:cNvSpPr>
          <p:nvPr>
            <p:ph idx="1"/>
          </p:nvPr>
        </p:nvSpPr>
        <p:spPr>
          <a:xfrm>
            <a:off x="342900" y="1690688"/>
            <a:ext cx="11172825" cy="4624387"/>
          </a:xfrm>
        </p:spPr>
        <p:txBody>
          <a:bodyPr>
            <a:normAutofit fontScale="92500" lnSpcReduction="20000"/>
          </a:bodyPr>
          <a:lstStyle/>
          <a:p>
            <a:pPr marL="0" indent="0" algn="just">
              <a:buNone/>
            </a:pPr>
            <a:r>
              <a:rPr lang="en-US" dirty="0"/>
              <a:t>Gradually adds noise to data and then learning a reverse process to denoise and generate data. This reverse process allows for the computation of the likelihood </a:t>
            </a:r>
            <a:r>
              <a:rPr lang="en-US" dirty="0" err="1"/>
              <a:t>p</a:t>
            </a:r>
            <a:r>
              <a:rPr lang="en-US" dirty="0" err="1">
                <a:effectLst/>
              </a:rPr>
              <a:t>θ</a:t>
            </a:r>
            <a:r>
              <a:rPr lang="en-US" dirty="0"/>
              <a:t>​(x).</a:t>
            </a:r>
          </a:p>
          <a:p>
            <a:pPr marL="0" indent="0" algn="just">
              <a:buNone/>
            </a:pPr>
            <a:endParaRPr lang="en-US" dirty="0"/>
          </a:p>
          <a:p>
            <a:pPr marL="0" indent="0" algn="just">
              <a:buNone/>
            </a:pPr>
            <a:r>
              <a:rPr lang="en-US" dirty="0"/>
              <a:t>The computation of </a:t>
            </a:r>
            <a:r>
              <a:rPr lang="en-US" dirty="0" err="1"/>
              <a:t>p</a:t>
            </a:r>
            <a:r>
              <a:rPr lang="en-US" dirty="0" err="1">
                <a:effectLst/>
              </a:rPr>
              <a:t>θ</a:t>
            </a:r>
            <a:r>
              <a:rPr lang="en-US" dirty="0"/>
              <a:t>​(x) for an arbitrary x can be complex and computationally intensive (often involving an integral or sum over latent variables representing the diffusion steps), the model </a:t>
            </a:r>
            <a:r>
              <a:rPr lang="en-US" i="1" dirty="0"/>
              <a:t>does</a:t>
            </a:r>
            <a:r>
              <a:rPr lang="en-US" dirty="0"/>
              <a:t> define this density function.</a:t>
            </a:r>
          </a:p>
          <a:p>
            <a:pPr marL="0" indent="0" algn="just">
              <a:buNone/>
            </a:pPr>
            <a:endParaRPr lang="en-US" dirty="0"/>
          </a:p>
          <a:p>
            <a:pPr marL="0" indent="0" algn="just">
              <a:buNone/>
            </a:pPr>
            <a:r>
              <a:rPr lang="en-US" dirty="0"/>
              <a:t>Training involves optimizing a variational bound on the log-likelihood, similar to VAEs but with a formulation based on the diffusion process. Some formulations are also based on score matching, which is related to the gradient of the log-density ∇</a:t>
            </a:r>
            <a:r>
              <a:rPr lang="en-US" dirty="0">
                <a:effectLst/>
              </a:rPr>
              <a:t>x</a:t>
            </a:r>
            <a:r>
              <a:rPr lang="en-US" dirty="0"/>
              <a:t>​</a:t>
            </a:r>
            <a:r>
              <a:rPr lang="en-US" dirty="0" err="1"/>
              <a:t>lo</a:t>
            </a:r>
            <a:r>
              <a:rPr lang="en-US" dirty="0" err="1">
                <a:effectLst/>
              </a:rPr>
              <a:t>g</a:t>
            </a:r>
            <a:r>
              <a:rPr lang="en-US" dirty="0" err="1"/>
              <a:t>p</a:t>
            </a:r>
            <a:r>
              <a:rPr lang="en-US" dirty="0"/>
              <a:t>(x).</a:t>
            </a:r>
            <a:endParaRPr lang="es-MX" dirty="0"/>
          </a:p>
        </p:txBody>
      </p:sp>
    </p:spTree>
    <p:extLst>
      <p:ext uri="{BB962C8B-B14F-4D97-AF65-F5344CB8AC3E}">
        <p14:creationId xmlns:p14="http://schemas.microsoft.com/office/powerpoint/2010/main" val="984170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20BAF6B-D98D-685A-E3F9-30C18270DD22}"/>
              </a:ext>
            </a:extLst>
          </p:cNvPr>
          <p:cNvSpPr>
            <a:spLocks noGrp="1"/>
          </p:cNvSpPr>
          <p:nvPr>
            <p:ph type="title"/>
          </p:nvPr>
        </p:nvSpPr>
        <p:spPr/>
        <p:txBody>
          <a:bodyPr/>
          <a:lstStyle/>
          <a:p>
            <a:r>
              <a:rPr lang="es-MX" dirty="0" err="1"/>
              <a:t>LLMs</a:t>
            </a:r>
            <a:r>
              <a:rPr lang="es-MX" dirty="0"/>
              <a:t> (</a:t>
            </a:r>
            <a:r>
              <a:rPr lang="es-MX" dirty="0" err="1"/>
              <a:t>Large</a:t>
            </a:r>
            <a:r>
              <a:rPr lang="es-MX" dirty="0"/>
              <a:t> </a:t>
            </a:r>
            <a:r>
              <a:rPr lang="es-MX" dirty="0" err="1"/>
              <a:t>Language</a:t>
            </a:r>
            <a:r>
              <a:rPr lang="es-MX" dirty="0"/>
              <a:t> </a:t>
            </a:r>
            <a:r>
              <a:rPr lang="es-MX" dirty="0" err="1"/>
              <a:t>Models</a:t>
            </a:r>
            <a:r>
              <a:rPr lang="es-MX"/>
              <a:t>)</a:t>
            </a:r>
            <a:endParaRPr lang="es-MX" dirty="0"/>
          </a:p>
        </p:txBody>
      </p:sp>
      <p:sp>
        <p:nvSpPr>
          <p:cNvPr id="3" name="Marcador de contenido 2">
            <a:extLst>
              <a:ext uri="{FF2B5EF4-FFF2-40B4-BE49-F238E27FC236}">
                <a16:creationId xmlns:a16="http://schemas.microsoft.com/office/drawing/2014/main" id="{23126DC5-47AB-740F-B5B3-FB58F2703FDF}"/>
              </a:ext>
            </a:extLst>
          </p:cNvPr>
          <p:cNvSpPr>
            <a:spLocks noGrp="1"/>
          </p:cNvSpPr>
          <p:nvPr>
            <p:ph idx="1"/>
          </p:nvPr>
        </p:nvSpPr>
        <p:spPr/>
        <p:txBody>
          <a:bodyPr>
            <a:normAutofit fontScale="92500" lnSpcReduction="10000"/>
          </a:bodyPr>
          <a:lstStyle/>
          <a:p>
            <a:pPr marL="0" indent="0" algn="just">
              <a:buNone/>
            </a:pPr>
            <a:r>
              <a:rPr lang="en-US" dirty="0"/>
              <a:t>LLMs are </a:t>
            </a:r>
            <a:r>
              <a:rPr lang="en-US" b="1" dirty="0"/>
              <a:t>autoregressive</a:t>
            </a:r>
            <a:r>
              <a:rPr lang="en-US" dirty="0"/>
              <a:t>. This means they generate text (or other sequences) one token at a time, where each token is conditioned on the previously generated tokens. </a:t>
            </a:r>
          </a:p>
          <a:p>
            <a:pPr marL="0" indent="0" algn="just">
              <a:buNone/>
            </a:pPr>
            <a:endParaRPr lang="en-US" dirty="0"/>
          </a:p>
          <a:p>
            <a:pPr marL="0" indent="0" algn="just">
              <a:buNone/>
            </a:pPr>
            <a:r>
              <a:rPr lang="en-US" dirty="0"/>
              <a:t>The joint probability of a sequence x=(x</a:t>
            </a:r>
            <a:r>
              <a:rPr lang="en-US" dirty="0">
                <a:effectLst/>
              </a:rPr>
              <a:t>1</a:t>
            </a:r>
            <a:r>
              <a:rPr lang="en-US" dirty="0"/>
              <a:t>​,x</a:t>
            </a:r>
            <a:r>
              <a:rPr lang="en-US" dirty="0">
                <a:effectLst/>
              </a:rPr>
              <a:t>2</a:t>
            </a:r>
            <a:r>
              <a:rPr lang="en-US" dirty="0"/>
              <a:t>​,...,</a:t>
            </a:r>
            <a:r>
              <a:rPr lang="en-US" dirty="0" err="1"/>
              <a:t>x</a:t>
            </a:r>
            <a:r>
              <a:rPr lang="en-US" dirty="0" err="1">
                <a:effectLst/>
              </a:rPr>
              <a:t>T</a:t>
            </a:r>
            <a:r>
              <a:rPr lang="en-US" dirty="0"/>
              <a:t>​) is explicitly factored as: </a:t>
            </a:r>
            <a:r>
              <a:rPr lang="en-US" dirty="0">
                <a:effectLst/>
              </a:rPr>
              <a:t>P</a:t>
            </a:r>
            <a:r>
              <a:rPr lang="en-US" dirty="0"/>
              <a:t>(x)=</a:t>
            </a:r>
            <a:r>
              <a:rPr lang="en-US" dirty="0">
                <a:effectLst/>
              </a:rPr>
              <a:t>P</a:t>
            </a:r>
            <a:r>
              <a:rPr lang="en-US" dirty="0"/>
              <a:t>(x</a:t>
            </a:r>
            <a:r>
              <a:rPr lang="en-US" dirty="0">
                <a:effectLst/>
              </a:rPr>
              <a:t>1</a:t>
            </a:r>
            <a:r>
              <a:rPr lang="en-US" dirty="0"/>
              <a:t>​)⋅</a:t>
            </a:r>
            <a:r>
              <a:rPr lang="en-US" dirty="0">
                <a:effectLst/>
              </a:rPr>
              <a:t>P</a:t>
            </a:r>
            <a:r>
              <a:rPr lang="en-US" dirty="0"/>
              <a:t>(x</a:t>
            </a:r>
            <a:r>
              <a:rPr lang="en-US" dirty="0">
                <a:effectLst/>
              </a:rPr>
              <a:t>2</a:t>
            </a:r>
            <a:r>
              <a:rPr lang="en-US" dirty="0"/>
              <a:t>​∣x</a:t>
            </a:r>
            <a:r>
              <a:rPr lang="en-US" dirty="0">
                <a:effectLst/>
              </a:rPr>
              <a:t>1</a:t>
            </a:r>
            <a:r>
              <a:rPr lang="en-US" dirty="0"/>
              <a:t>​)⋅</a:t>
            </a:r>
            <a:r>
              <a:rPr lang="en-US" dirty="0">
                <a:effectLst/>
              </a:rPr>
              <a:t>P</a:t>
            </a:r>
            <a:r>
              <a:rPr lang="en-US" dirty="0"/>
              <a:t>(x</a:t>
            </a:r>
            <a:r>
              <a:rPr lang="en-US" dirty="0">
                <a:effectLst/>
              </a:rPr>
              <a:t>3</a:t>
            </a:r>
            <a:r>
              <a:rPr lang="en-US" dirty="0"/>
              <a:t>​∣x</a:t>
            </a:r>
            <a:r>
              <a:rPr lang="en-US" dirty="0">
                <a:effectLst/>
              </a:rPr>
              <a:t>1</a:t>
            </a:r>
            <a:r>
              <a:rPr lang="en-US" dirty="0"/>
              <a:t>​,x</a:t>
            </a:r>
            <a:r>
              <a:rPr lang="en-US" dirty="0">
                <a:effectLst/>
              </a:rPr>
              <a:t>2</a:t>
            </a:r>
            <a:r>
              <a:rPr lang="en-US" dirty="0"/>
              <a:t>​)⋅…⋅</a:t>
            </a:r>
            <a:r>
              <a:rPr lang="en-US" dirty="0">
                <a:effectLst/>
              </a:rPr>
              <a:t>P</a:t>
            </a:r>
            <a:r>
              <a:rPr lang="en-US" dirty="0"/>
              <a:t>(</a:t>
            </a:r>
            <a:r>
              <a:rPr lang="en-US" dirty="0" err="1"/>
              <a:t>x</a:t>
            </a:r>
            <a:r>
              <a:rPr lang="en-US" dirty="0" err="1">
                <a:effectLst/>
              </a:rPr>
              <a:t>T</a:t>
            </a:r>
            <a:r>
              <a:rPr lang="en-US" dirty="0"/>
              <a:t>​∣x</a:t>
            </a:r>
            <a:r>
              <a:rPr lang="en-US" dirty="0">
                <a:effectLst/>
              </a:rPr>
              <a:t>1</a:t>
            </a:r>
            <a:r>
              <a:rPr lang="en-US" dirty="0"/>
              <a:t>​,...,x</a:t>
            </a:r>
            <a:r>
              <a:rPr lang="en-US" dirty="0">
                <a:effectLst/>
              </a:rPr>
              <a:t>T−1</a:t>
            </a:r>
            <a:r>
              <a:rPr lang="en-US" dirty="0"/>
              <a:t>​) Each conditional probability </a:t>
            </a:r>
            <a:r>
              <a:rPr lang="en-US" dirty="0">
                <a:effectLst/>
              </a:rPr>
              <a:t>P</a:t>
            </a:r>
            <a:r>
              <a:rPr lang="en-US" dirty="0"/>
              <a:t>(x</a:t>
            </a:r>
            <a:r>
              <a:rPr lang="en-US" dirty="0">
                <a:effectLst/>
              </a:rPr>
              <a:t>i</a:t>
            </a:r>
            <a:r>
              <a:rPr lang="en-US" dirty="0"/>
              <a:t>​∣x</a:t>
            </a:r>
            <a:r>
              <a:rPr lang="en-US" dirty="0">
                <a:effectLst/>
              </a:rPr>
              <a:t>&lt;</a:t>
            </a:r>
            <a:r>
              <a:rPr lang="en-US" dirty="0" err="1">
                <a:effectLst/>
              </a:rPr>
              <a:t>i</a:t>
            </a:r>
            <a:r>
              <a:rPr lang="en-US" dirty="0"/>
              <a:t>​) is explicitly computed by the model (typically via a </a:t>
            </a:r>
            <a:r>
              <a:rPr lang="en-US" dirty="0" err="1"/>
              <a:t>softmax</a:t>
            </a:r>
            <a:r>
              <a:rPr lang="en-US" dirty="0"/>
              <a:t> layer over the vocabulary).</a:t>
            </a:r>
          </a:p>
          <a:p>
            <a:pPr marL="0" indent="0" algn="just">
              <a:buNone/>
            </a:pPr>
            <a:endParaRPr lang="en-US" dirty="0"/>
          </a:p>
          <a:p>
            <a:pPr marL="0" indent="0" algn="just">
              <a:buNone/>
            </a:pPr>
            <a:r>
              <a:rPr lang="en-US" dirty="0"/>
              <a:t>Therefore, it can calculate the likelihood of any given sequence under the model.</a:t>
            </a:r>
            <a:endParaRPr lang="es-MX" dirty="0"/>
          </a:p>
        </p:txBody>
      </p:sp>
    </p:spTree>
    <p:extLst>
      <p:ext uri="{BB962C8B-B14F-4D97-AF65-F5344CB8AC3E}">
        <p14:creationId xmlns:p14="http://schemas.microsoft.com/office/powerpoint/2010/main" val="8102738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7DDBB11-AD83-D5DD-8377-F509DCB4696F}"/>
              </a:ext>
            </a:extLst>
          </p:cNvPr>
          <p:cNvSpPr>
            <a:spLocks noGrp="1"/>
          </p:cNvSpPr>
          <p:nvPr>
            <p:ph type="title"/>
          </p:nvPr>
        </p:nvSpPr>
        <p:spPr/>
        <p:txBody>
          <a:bodyPr/>
          <a:lstStyle/>
          <a:p>
            <a:r>
              <a:rPr lang="es-CO" dirty="0" err="1"/>
              <a:t>Implicit</a:t>
            </a:r>
            <a:r>
              <a:rPr lang="es-CO" dirty="0"/>
              <a:t> </a:t>
            </a:r>
            <a:r>
              <a:rPr lang="es-CO" dirty="0" err="1"/>
              <a:t>Models</a:t>
            </a:r>
            <a:endParaRPr lang="es-MX" dirty="0"/>
          </a:p>
        </p:txBody>
      </p:sp>
      <p:sp>
        <p:nvSpPr>
          <p:cNvPr id="3" name="Marcador de contenido 2">
            <a:extLst>
              <a:ext uri="{FF2B5EF4-FFF2-40B4-BE49-F238E27FC236}">
                <a16:creationId xmlns:a16="http://schemas.microsoft.com/office/drawing/2014/main" id="{7561FBAC-2DE0-575E-F521-A357CFE43AAD}"/>
              </a:ext>
            </a:extLst>
          </p:cNvPr>
          <p:cNvSpPr>
            <a:spLocks noGrp="1"/>
          </p:cNvSpPr>
          <p:nvPr>
            <p:ph idx="1"/>
          </p:nvPr>
        </p:nvSpPr>
        <p:spPr>
          <a:xfrm>
            <a:off x="371475" y="1825624"/>
            <a:ext cx="11468099" cy="4667251"/>
          </a:xfrm>
        </p:spPr>
        <p:txBody>
          <a:bodyPr/>
          <a:lstStyle/>
          <a:p>
            <a:pPr marL="0" indent="0" algn="just">
              <a:buNone/>
            </a:pPr>
            <a:r>
              <a:rPr lang="en-US" dirty="0"/>
              <a:t>learn a way to </a:t>
            </a:r>
            <a:r>
              <a:rPr lang="en-US" b="1" dirty="0"/>
              <a:t>directly generate samples</a:t>
            </a:r>
            <a:r>
              <a:rPr lang="en-US" dirty="0"/>
              <a:t> from the desired data distribution </a:t>
            </a:r>
            <a:r>
              <a:rPr lang="en-US" dirty="0" err="1">
                <a:effectLst/>
              </a:rPr>
              <a:t>Pdata</a:t>
            </a:r>
            <a:r>
              <a:rPr lang="en-US" dirty="0"/>
              <a:t>​ without explicitly defining or learning the density function p(x). They essentially learn a transformation from a simple noise distribution (e.g., Gaussian or uniform) to the complex data distribution.</a:t>
            </a:r>
          </a:p>
          <a:p>
            <a:pPr marL="0" indent="0" algn="just">
              <a:buNone/>
            </a:pPr>
            <a:endParaRPr lang="en-US" b="1" dirty="0"/>
          </a:p>
          <a:p>
            <a:pPr marL="0" indent="0" algn="just">
              <a:buNone/>
            </a:pPr>
            <a:r>
              <a:rPr lang="en-US" sz="2600" dirty="0"/>
              <a:t>These models are black box that you can query to get samples, but they don't tell you </a:t>
            </a:r>
            <a:r>
              <a:rPr lang="en-US" sz="2600" i="1" dirty="0"/>
              <a:t>why</a:t>
            </a:r>
            <a:r>
              <a:rPr lang="en-US" sz="2600" dirty="0"/>
              <a:t> a sample is likely or unlikely in terms of a probability value.</a:t>
            </a:r>
          </a:p>
          <a:p>
            <a:pPr marL="0" indent="0" algn="just">
              <a:buNone/>
            </a:pPr>
            <a:endParaRPr lang="en-US" sz="2600" dirty="0"/>
          </a:p>
          <a:p>
            <a:pPr marL="0" indent="0" algn="just">
              <a:buNone/>
            </a:pPr>
            <a:r>
              <a:rPr lang="en-US" sz="2600" b="1" dirty="0"/>
              <a:t>No Explicit Density:</a:t>
            </a:r>
            <a:r>
              <a:rPr lang="en-US" sz="2600" dirty="0"/>
              <a:t> You cannot directly query p(x) for a given x.</a:t>
            </a:r>
          </a:p>
          <a:p>
            <a:pPr marL="0" indent="0" algn="just">
              <a:buNone/>
            </a:pPr>
            <a:r>
              <a:rPr lang="en-US" sz="2600" b="1" dirty="0"/>
              <a:t>Direct Sampling:</a:t>
            </a:r>
            <a:r>
              <a:rPr lang="en-US" sz="2600" dirty="0"/>
              <a:t> The primary focus is on the sampling mechanism.</a:t>
            </a:r>
            <a:endParaRPr lang="es-MX" sz="2600" dirty="0"/>
          </a:p>
        </p:txBody>
      </p:sp>
    </p:spTree>
    <p:extLst>
      <p:ext uri="{BB962C8B-B14F-4D97-AF65-F5344CB8AC3E}">
        <p14:creationId xmlns:p14="http://schemas.microsoft.com/office/powerpoint/2010/main" val="24484062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3465E11-D35C-293C-C319-5D2DBB1D9EC5}"/>
              </a:ext>
            </a:extLst>
          </p:cNvPr>
          <p:cNvSpPr>
            <a:spLocks noGrp="1"/>
          </p:cNvSpPr>
          <p:nvPr>
            <p:ph type="title"/>
          </p:nvPr>
        </p:nvSpPr>
        <p:spPr/>
        <p:txBody>
          <a:bodyPr/>
          <a:lstStyle/>
          <a:p>
            <a:r>
              <a:rPr lang="es-CO" dirty="0" err="1"/>
              <a:t>Characteristics</a:t>
            </a:r>
            <a:endParaRPr lang="es-MX" dirty="0"/>
          </a:p>
        </p:txBody>
      </p:sp>
      <p:sp>
        <p:nvSpPr>
          <p:cNvPr id="3" name="Marcador de contenido 2">
            <a:extLst>
              <a:ext uri="{FF2B5EF4-FFF2-40B4-BE49-F238E27FC236}">
                <a16:creationId xmlns:a16="http://schemas.microsoft.com/office/drawing/2014/main" id="{48F831C9-6973-5001-BBA4-3D9F57BCD6DA}"/>
              </a:ext>
            </a:extLst>
          </p:cNvPr>
          <p:cNvSpPr>
            <a:spLocks noGrp="1"/>
          </p:cNvSpPr>
          <p:nvPr>
            <p:ph idx="1"/>
          </p:nvPr>
        </p:nvSpPr>
        <p:spPr>
          <a:xfrm>
            <a:off x="352425" y="1825625"/>
            <a:ext cx="11391900" cy="4351338"/>
          </a:xfrm>
        </p:spPr>
        <p:txBody>
          <a:bodyPr/>
          <a:lstStyle/>
          <a:p>
            <a:pPr marL="0" indent="0" algn="just">
              <a:buNone/>
            </a:pPr>
            <a:r>
              <a:rPr lang="en-US" b="1" dirty="0"/>
              <a:t>Focus on Sample Generation:</a:t>
            </a:r>
            <a:r>
              <a:rPr lang="en-US" dirty="0"/>
              <a:t> The objective functions are often designed to make the generated samples indistinguishable from real samples.</a:t>
            </a:r>
          </a:p>
          <a:p>
            <a:pPr marL="0" indent="0" algn="just">
              <a:buNone/>
            </a:pPr>
            <a:endParaRPr lang="en-US" dirty="0"/>
          </a:p>
          <a:p>
            <a:pPr marL="0" indent="0" algn="just">
              <a:buNone/>
            </a:pPr>
            <a:r>
              <a:rPr lang="en-US" b="1" dirty="0"/>
              <a:t>Often </a:t>
            </a:r>
            <a:r>
              <a:rPr lang="en-US" b="1" dirty="0" err="1"/>
              <a:t>Adversarially</a:t>
            </a:r>
            <a:r>
              <a:rPr lang="en-US" b="1" dirty="0"/>
              <a:t> Trained:</a:t>
            </a:r>
            <a:r>
              <a:rPr lang="en-US" dirty="0"/>
              <a:t> Generative Adversarial Networks (GANs) are the most prominent example.</a:t>
            </a:r>
            <a:endParaRPr lang="es-MX" dirty="0"/>
          </a:p>
        </p:txBody>
      </p:sp>
    </p:spTree>
    <p:extLst>
      <p:ext uri="{BB962C8B-B14F-4D97-AF65-F5344CB8AC3E}">
        <p14:creationId xmlns:p14="http://schemas.microsoft.com/office/powerpoint/2010/main" val="4715052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424EC9B-1941-1B65-C22F-53C4091F6D25}"/>
              </a:ext>
            </a:extLst>
          </p:cNvPr>
          <p:cNvSpPr>
            <a:spLocks noGrp="1"/>
          </p:cNvSpPr>
          <p:nvPr>
            <p:ph type="title"/>
          </p:nvPr>
        </p:nvSpPr>
        <p:spPr/>
        <p:txBody>
          <a:bodyPr/>
          <a:lstStyle/>
          <a:p>
            <a:r>
              <a:rPr lang="es-CO" dirty="0" err="1"/>
              <a:t>Advantages</a:t>
            </a:r>
            <a:endParaRPr lang="es-MX" dirty="0"/>
          </a:p>
        </p:txBody>
      </p:sp>
      <p:sp>
        <p:nvSpPr>
          <p:cNvPr id="3" name="Marcador de contenido 2">
            <a:extLst>
              <a:ext uri="{FF2B5EF4-FFF2-40B4-BE49-F238E27FC236}">
                <a16:creationId xmlns:a16="http://schemas.microsoft.com/office/drawing/2014/main" id="{53FB87B4-5ACD-CED3-6F0D-6B4B190FCD5C}"/>
              </a:ext>
            </a:extLst>
          </p:cNvPr>
          <p:cNvSpPr>
            <a:spLocks noGrp="1"/>
          </p:cNvSpPr>
          <p:nvPr>
            <p:ph idx="1"/>
          </p:nvPr>
        </p:nvSpPr>
        <p:spPr>
          <a:xfrm>
            <a:off x="438151" y="1597024"/>
            <a:ext cx="11153774" cy="4822825"/>
          </a:xfrm>
        </p:spPr>
        <p:txBody>
          <a:bodyPr/>
          <a:lstStyle/>
          <a:p>
            <a:pPr marL="0" indent="0" algn="just">
              <a:buNone/>
            </a:pPr>
            <a:r>
              <a:rPr lang="en-US" b="1" dirty="0"/>
              <a:t>High-Quality Samples:</a:t>
            </a:r>
            <a:r>
              <a:rPr lang="en-US" dirty="0"/>
              <a:t> GANs, in particular, are known for producing very sharp and realistic samples, especially in image generation.</a:t>
            </a:r>
          </a:p>
          <a:p>
            <a:pPr marL="0" indent="0" algn="just">
              <a:buNone/>
            </a:pPr>
            <a:endParaRPr lang="en-US" dirty="0"/>
          </a:p>
          <a:p>
            <a:pPr marL="0" indent="0" algn="just">
              <a:buNone/>
            </a:pPr>
            <a:r>
              <a:rPr lang="en-US" b="1" dirty="0"/>
              <a:t>Flexibility:</a:t>
            </a:r>
            <a:r>
              <a:rPr lang="en-US" dirty="0"/>
              <a:t> They don't need to impose restrictive architectural constraints for tractability of a density function.</a:t>
            </a:r>
          </a:p>
          <a:p>
            <a:pPr marL="0" indent="0" algn="just">
              <a:buNone/>
            </a:pPr>
            <a:endParaRPr lang="en-US" dirty="0"/>
          </a:p>
          <a:p>
            <a:pPr marL="0" indent="0" algn="just">
              <a:buNone/>
            </a:pPr>
            <a:r>
              <a:rPr lang="en-US" b="1" dirty="0"/>
              <a:t>No Need to Explicitly Define Complex Densities:</a:t>
            </a:r>
            <a:r>
              <a:rPr lang="en-US" dirty="0"/>
              <a:t> This can be an advantage when the true underlying density is extremely complex and hard to parameterize.</a:t>
            </a:r>
            <a:endParaRPr lang="es-MX" dirty="0"/>
          </a:p>
        </p:txBody>
      </p:sp>
    </p:spTree>
    <p:extLst>
      <p:ext uri="{BB962C8B-B14F-4D97-AF65-F5344CB8AC3E}">
        <p14:creationId xmlns:p14="http://schemas.microsoft.com/office/powerpoint/2010/main" val="12562974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2E80D17-A1E1-0AF6-D366-69150457B91A}"/>
              </a:ext>
            </a:extLst>
          </p:cNvPr>
          <p:cNvSpPr>
            <a:spLocks noGrp="1"/>
          </p:cNvSpPr>
          <p:nvPr>
            <p:ph type="title"/>
          </p:nvPr>
        </p:nvSpPr>
        <p:spPr/>
        <p:txBody>
          <a:bodyPr/>
          <a:lstStyle/>
          <a:p>
            <a:r>
              <a:rPr lang="es-CO" dirty="0" err="1"/>
              <a:t>Disadvantages</a:t>
            </a:r>
            <a:endParaRPr lang="es-MX" dirty="0"/>
          </a:p>
        </p:txBody>
      </p:sp>
      <p:sp>
        <p:nvSpPr>
          <p:cNvPr id="3" name="Marcador de contenido 2">
            <a:extLst>
              <a:ext uri="{FF2B5EF4-FFF2-40B4-BE49-F238E27FC236}">
                <a16:creationId xmlns:a16="http://schemas.microsoft.com/office/drawing/2014/main" id="{EC1A1607-15B2-1AB3-CC7E-192BCFD0C846}"/>
              </a:ext>
            </a:extLst>
          </p:cNvPr>
          <p:cNvSpPr>
            <a:spLocks noGrp="1"/>
          </p:cNvSpPr>
          <p:nvPr>
            <p:ph idx="1"/>
          </p:nvPr>
        </p:nvSpPr>
        <p:spPr>
          <a:xfrm>
            <a:off x="361950" y="1690688"/>
            <a:ext cx="11544300" cy="4486275"/>
          </a:xfrm>
        </p:spPr>
        <p:txBody>
          <a:bodyPr>
            <a:normAutofit fontScale="85000" lnSpcReduction="20000"/>
          </a:bodyPr>
          <a:lstStyle/>
          <a:p>
            <a:pPr marL="0" indent="0" algn="just">
              <a:buNone/>
            </a:pPr>
            <a:r>
              <a:rPr lang="en-US" b="1" dirty="0"/>
              <a:t>No Likelihood Evaluation:</a:t>
            </a:r>
            <a:r>
              <a:rPr lang="en-US" dirty="0"/>
              <a:t> It's difficult to evaluate the probability of a sample or compare models based on likelihood. Evaluation often relies on qualitative assessment or indirect metrics (e.g., Inception Score, FID for images).</a:t>
            </a:r>
          </a:p>
          <a:p>
            <a:pPr marL="0" indent="0" algn="just">
              <a:buNone/>
            </a:pPr>
            <a:endParaRPr lang="en-US" dirty="0"/>
          </a:p>
          <a:p>
            <a:pPr marL="0" indent="0" algn="just">
              <a:buNone/>
            </a:pPr>
            <a:r>
              <a:rPr lang="en-US" b="1" dirty="0"/>
              <a:t>Training Instability:</a:t>
            </a:r>
            <a:r>
              <a:rPr lang="en-US" dirty="0"/>
              <a:t> GAN training is notoriously unstable and sensitive to hyperparameter choices. It can be hard to get the generator and </a:t>
            </a:r>
            <a:r>
              <a:rPr lang="en-US" dirty="0" err="1"/>
              <a:t>discrimenator</a:t>
            </a:r>
            <a:r>
              <a:rPr lang="en-US" dirty="0"/>
              <a:t> to converge.</a:t>
            </a:r>
          </a:p>
          <a:p>
            <a:pPr marL="0" indent="0" algn="just">
              <a:buNone/>
            </a:pPr>
            <a:endParaRPr lang="en-US" dirty="0"/>
          </a:p>
          <a:p>
            <a:pPr marL="0" indent="0" algn="just">
              <a:buNone/>
            </a:pPr>
            <a:r>
              <a:rPr lang="en-US" b="1" dirty="0"/>
              <a:t>Mode Collapse:</a:t>
            </a:r>
            <a:r>
              <a:rPr lang="en-US" dirty="0"/>
              <a:t> GANs can suffer from mode collapse, where the generator learns to produce only a limited variety of samples (i.e., it doesn't capture all modes of the true data distribution).</a:t>
            </a:r>
          </a:p>
          <a:p>
            <a:pPr marL="0" indent="0" algn="just">
              <a:buNone/>
            </a:pPr>
            <a:endParaRPr lang="en-US" dirty="0"/>
          </a:p>
          <a:p>
            <a:pPr marL="0" indent="0" algn="just">
              <a:buNone/>
            </a:pPr>
            <a:r>
              <a:rPr lang="en-US" b="1" dirty="0"/>
              <a:t>Difficult to Debug:</a:t>
            </a:r>
            <a:r>
              <a:rPr lang="en-US" dirty="0"/>
              <a:t> When a GAN isn't working, it can be challenging to pinpoint why due to the adversarial nature of the training and the lack of a direct likelihood metric.</a:t>
            </a:r>
            <a:endParaRPr lang="es-MX" dirty="0"/>
          </a:p>
        </p:txBody>
      </p:sp>
    </p:spTree>
    <p:extLst>
      <p:ext uri="{BB962C8B-B14F-4D97-AF65-F5344CB8AC3E}">
        <p14:creationId xmlns:p14="http://schemas.microsoft.com/office/powerpoint/2010/main" val="27012562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B630693-DDCD-C32E-D03B-F08C3E026ABB}"/>
              </a:ext>
            </a:extLst>
          </p:cNvPr>
          <p:cNvSpPr>
            <a:spLocks noGrp="1"/>
          </p:cNvSpPr>
          <p:nvPr>
            <p:ph type="title"/>
          </p:nvPr>
        </p:nvSpPr>
        <p:spPr/>
        <p:txBody>
          <a:bodyPr/>
          <a:lstStyle/>
          <a:p>
            <a:r>
              <a:rPr lang="es-MX" dirty="0" err="1"/>
              <a:t>GANs</a:t>
            </a:r>
            <a:r>
              <a:rPr lang="es-MX" dirty="0"/>
              <a:t> (Generative Adversarial Networks)</a:t>
            </a:r>
          </a:p>
        </p:txBody>
      </p:sp>
      <p:sp>
        <p:nvSpPr>
          <p:cNvPr id="3" name="Marcador de contenido 2">
            <a:extLst>
              <a:ext uri="{FF2B5EF4-FFF2-40B4-BE49-F238E27FC236}">
                <a16:creationId xmlns:a16="http://schemas.microsoft.com/office/drawing/2014/main" id="{368C5071-3505-602B-307E-D63408C3F553}"/>
              </a:ext>
            </a:extLst>
          </p:cNvPr>
          <p:cNvSpPr>
            <a:spLocks noGrp="1"/>
          </p:cNvSpPr>
          <p:nvPr>
            <p:ph idx="1"/>
          </p:nvPr>
        </p:nvSpPr>
        <p:spPr/>
        <p:txBody>
          <a:bodyPr>
            <a:normAutofit fontScale="92500" lnSpcReduction="10000"/>
          </a:bodyPr>
          <a:lstStyle/>
          <a:p>
            <a:pPr marL="0" indent="0" algn="just">
              <a:buNone/>
            </a:pPr>
            <a:r>
              <a:rPr lang="en-US" dirty="0"/>
              <a:t>GANs learn to generate data without explicitly defining a probability density function p(x) for the data x. </a:t>
            </a:r>
          </a:p>
          <a:p>
            <a:pPr marL="0" indent="0" algn="just">
              <a:buNone/>
            </a:pPr>
            <a:endParaRPr lang="en-US" dirty="0"/>
          </a:p>
          <a:p>
            <a:pPr marL="0" indent="0" algn="just">
              <a:buNone/>
            </a:pPr>
            <a:r>
              <a:rPr lang="en-US" dirty="0"/>
              <a:t>The generator network G learns a transformation from a noise distribution </a:t>
            </a:r>
            <a:r>
              <a:rPr lang="en-US" dirty="0">
                <a:effectLst/>
              </a:rPr>
              <a:t>z</a:t>
            </a:r>
            <a:r>
              <a:rPr lang="en-US" dirty="0"/>
              <a:t> to the data space, G(</a:t>
            </a:r>
            <a:r>
              <a:rPr lang="en-US" dirty="0">
                <a:effectLst/>
              </a:rPr>
              <a:t>z</a:t>
            </a:r>
            <a:r>
              <a:rPr lang="en-US" dirty="0"/>
              <a:t>). You can sample from it, but you cannot directly query the model for the likelihood p(x) of a given data point x.</a:t>
            </a:r>
          </a:p>
          <a:p>
            <a:pPr marL="0" indent="0" algn="just">
              <a:buNone/>
            </a:pPr>
            <a:endParaRPr lang="en-US" dirty="0"/>
          </a:p>
          <a:p>
            <a:pPr marL="0" indent="0" algn="just">
              <a:buNone/>
            </a:pPr>
            <a:r>
              <a:rPr lang="en-US" dirty="0"/>
              <a:t>The training objective (a minimax game between the generator and discriminator) guides the generator to produce realistic samples but doesn't involve direct likelihood maximization of p(x).</a:t>
            </a:r>
            <a:endParaRPr lang="es-MX" dirty="0"/>
          </a:p>
        </p:txBody>
      </p:sp>
    </p:spTree>
    <p:extLst>
      <p:ext uri="{BB962C8B-B14F-4D97-AF65-F5344CB8AC3E}">
        <p14:creationId xmlns:p14="http://schemas.microsoft.com/office/powerpoint/2010/main" val="22279113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24791820-E359-A4B5-3087-449ED67B5AA0}"/>
                  </a:ext>
                </a:extLst>
              </p:cNvPr>
              <p:cNvSpPr>
                <a:spLocks noGrp="1"/>
              </p:cNvSpPr>
              <p:nvPr>
                <p:ph idx="1"/>
              </p:nvPr>
            </p:nvSpPr>
            <p:spPr>
              <a:xfrm>
                <a:off x="752475" y="1006475"/>
                <a:ext cx="10515600" cy="4351338"/>
              </a:xfrm>
            </p:spPr>
            <p:txBody>
              <a:bodyPr>
                <a:normAutofit lnSpcReduction="10000"/>
              </a:bodyPr>
              <a:lstStyle/>
              <a:p>
                <a:pPr marL="0" indent="0">
                  <a:buNone/>
                </a:pPr>
                <a:r>
                  <a:rPr lang="es-MX" b="1" dirty="0"/>
                  <a:t>VAE (</a:t>
                </a:r>
                <a:r>
                  <a:rPr lang="es-MX" b="1" dirty="0" err="1"/>
                  <a:t>explicit</a:t>
                </a:r>
                <a:r>
                  <a:rPr lang="es-MX" b="1" dirty="0"/>
                  <a:t> </a:t>
                </a:r>
                <a:r>
                  <a:rPr lang="es-MX" b="1" dirty="0" err="1"/>
                  <a:t>likelihood</a:t>
                </a:r>
                <a:r>
                  <a:rPr lang="es-MX" b="1" dirty="0"/>
                  <a:t>)</a:t>
                </a:r>
              </a:p>
              <a:p>
                <a:r>
                  <a:rPr lang="es-MX" dirty="0"/>
                  <a:t>Defines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𝑝</m:t>
                        </m:r>
                      </m:e>
                      <m:sub>
                        <m:r>
                          <a:rPr lang="ar-AE" i="1">
                            <a:latin typeface="Cambria Math" panose="02040503050406030204" pitchFamily="18" charset="0"/>
                          </a:rPr>
                          <m:t>𝜃</m:t>
                        </m:r>
                      </m:sub>
                    </m:sSub>
                    <m:d>
                      <m:dPr>
                        <m:ctrlPr>
                          <a:rPr lang="ar-AE" i="1">
                            <a:latin typeface="Cambria Math" panose="02040503050406030204" pitchFamily="18" charset="0"/>
                          </a:rPr>
                        </m:ctrlPr>
                      </m:dPr>
                      <m:e>
                        <m:r>
                          <a:rPr lang="ar-AE" i="1">
                            <a:latin typeface="Cambria Math" panose="02040503050406030204" pitchFamily="18" charset="0"/>
                          </a:rPr>
                          <m:t>𝑥</m:t>
                        </m:r>
                      </m:e>
                    </m:d>
                  </m:oMath>
                </a14:m>
                <a:r>
                  <a:rPr lang="es-MX" dirty="0"/>
                  <a:t> </a:t>
                </a:r>
                <a:r>
                  <a:rPr lang="es-MX" dirty="0" err="1"/>
                  <a:t>explicitly</a:t>
                </a:r>
                <a:endParaRPr lang="es-MX" dirty="0"/>
              </a:p>
              <a:p>
                <a:r>
                  <a:rPr lang="es-MX" dirty="0"/>
                  <a:t>Uses a </a:t>
                </a:r>
                <a:r>
                  <a:rPr lang="es-MX" dirty="0" err="1"/>
                  <a:t>known</a:t>
                </a:r>
                <a:r>
                  <a:rPr lang="es-MX" dirty="0"/>
                  <a:t> </a:t>
                </a:r>
                <a:r>
                  <a:rPr lang="es-MX" dirty="0" err="1"/>
                  <a:t>probability</a:t>
                </a:r>
                <a:r>
                  <a:rPr lang="es-MX" dirty="0"/>
                  <a:t> </a:t>
                </a:r>
                <a:r>
                  <a:rPr lang="es-MX" dirty="0" err="1"/>
                  <a:t>density</a:t>
                </a:r>
                <a:endParaRPr lang="es-MX" dirty="0"/>
              </a:p>
              <a:p>
                <a:r>
                  <a:rPr lang="es-MX" dirty="0" err="1"/>
                  <a:t>Trains</a:t>
                </a:r>
                <a:r>
                  <a:rPr lang="es-MX" dirty="0"/>
                  <a:t> </a:t>
                </a:r>
                <a:r>
                  <a:rPr lang="es-MX" dirty="0" err="1"/>
                  <a:t>by</a:t>
                </a:r>
                <a:r>
                  <a:rPr lang="es-MX" dirty="0"/>
                  <a:t> </a:t>
                </a:r>
                <a:r>
                  <a:rPr lang="es-MX" dirty="0" err="1"/>
                  <a:t>maximizing</a:t>
                </a:r>
                <a:r>
                  <a:rPr lang="es-MX" dirty="0"/>
                  <a:t> a </a:t>
                </a:r>
                <a:r>
                  <a:rPr lang="es-MX" dirty="0" err="1"/>
                  <a:t>bound</a:t>
                </a:r>
                <a:r>
                  <a:rPr lang="es-MX" dirty="0"/>
                  <a:t> </a:t>
                </a:r>
                <a:r>
                  <a:rPr lang="es-MX" dirty="0" err="1"/>
                  <a:t>on</a:t>
                </a:r>
                <a:r>
                  <a:rPr lang="es-MX" dirty="0"/>
                  <a:t> log-</a:t>
                </a:r>
                <a:r>
                  <a:rPr lang="es-MX" dirty="0" err="1"/>
                  <a:t>likelihood</a:t>
                </a:r>
                <a:endParaRPr lang="es-MX" dirty="0"/>
              </a:p>
              <a:p>
                <a:pPr marL="0" indent="0">
                  <a:buNone/>
                </a:pPr>
                <a:endParaRPr lang="es-MX" b="1" dirty="0"/>
              </a:p>
              <a:p>
                <a:pPr marL="0" indent="0">
                  <a:buNone/>
                </a:pPr>
                <a:r>
                  <a:rPr lang="es-MX" b="1" dirty="0"/>
                  <a:t>GAN (</a:t>
                </a:r>
                <a:r>
                  <a:rPr lang="es-MX" b="1" dirty="0" err="1"/>
                  <a:t>implicit</a:t>
                </a:r>
                <a:r>
                  <a:rPr lang="es-MX" b="1" dirty="0"/>
                  <a:t> </a:t>
                </a:r>
                <a:r>
                  <a:rPr lang="es-MX" b="1" dirty="0" err="1"/>
                  <a:t>likelihood</a:t>
                </a:r>
                <a:r>
                  <a:rPr lang="es-MX" b="1" dirty="0"/>
                  <a:t>)</a:t>
                </a:r>
              </a:p>
              <a:p>
                <a:r>
                  <a:rPr lang="es-MX" dirty="0"/>
                  <a:t>No </a:t>
                </a:r>
                <a:r>
                  <a:rPr lang="es-MX" dirty="0" err="1"/>
                  <a:t>defined</a:t>
                </a:r>
                <a:r>
                  <a:rPr lang="es-MX" dirty="0"/>
                  <a:t>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𝑝</m:t>
                        </m:r>
                      </m:e>
                      <m:sub>
                        <m:r>
                          <a:rPr lang="ar-AE" i="1">
                            <a:latin typeface="Cambria Math" panose="02040503050406030204" pitchFamily="18" charset="0"/>
                          </a:rPr>
                          <m:t>𝜃</m:t>
                        </m:r>
                      </m:sub>
                    </m:sSub>
                    <m:d>
                      <m:dPr>
                        <m:ctrlPr>
                          <a:rPr lang="ar-AE" i="1">
                            <a:latin typeface="Cambria Math" panose="02040503050406030204" pitchFamily="18" charset="0"/>
                          </a:rPr>
                        </m:ctrlPr>
                      </m:dPr>
                      <m:e>
                        <m:r>
                          <a:rPr lang="ar-AE" i="1">
                            <a:latin typeface="Cambria Math" panose="02040503050406030204" pitchFamily="18" charset="0"/>
                          </a:rPr>
                          <m:t>𝑥</m:t>
                        </m:r>
                      </m:e>
                    </m:d>
                  </m:oMath>
                </a14:m>
                <a:endParaRPr lang="ar-AE" dirty="0"/>
              </a:p>
              <a:p>
                <a:r>
                  <a:rPr lang="es-MX" dirty="0" err="1"/>
                  <a:t>Only</a:t>
                </a:r>
                <a:r>
                  <a:rPr lang="es-MX" dirty="0"/>
                  <a:t> defines a </a:t>
                </a:r>
                <a:r>
                  <a:rPr lang="es-MX" dirty="0" err="1"/>
                  <a:t>sampling</a:t>
                </a:r>
                <a:r>
                  <a:rPr lang="es-MX" dirty="0"/>
                  <a:t> </a:t>
                </a:r>
                <a:r>
                  <a:rPr lang="es-MX" dirty="0" err="1"/>
                  <a:t>procedure</a:t>
                </a:r>
                <a:r>
                  <a:rPr lang="es-MX" dirty="0"/>
                  <a:t> </a:t>
                </a:r>
                <a14:m>
                  <m:oMath xmlns:m="http://schemas.openxmlformats.org/officeDocument/2006/math">
                    <m:r>
                      <a:rPr lang="es-MX" i="1">
                        <a:latin typeface="Cambria Math" panose="02040503050406030204" pitchFamily="18" charset="0"/>
                      </a:rPr>
                      <m:t>𝑥</m:t>
                    </m:r>
                    <m:r>
                      <a:rPr lang="es-MX">
                        <a:latin typeface="Cambria Math" panose="02040503050406030204" pitchFamily="18" charset="0"/>
                      </a:rPr>
                      <m:t>=</m:t>
                    </m:r>
                    <m:r>
                      <a:rPr lang="es-MX" i="1">
                        <a:latin typeface="Cambria Math" panose="02040503050406030204" pitchFamily="18" charset="0"/>
                      </a:rPr>
                      <m:t>𝐺</m:t>
                    </m:r>
                    <m:d>
                      <m:dPr>
                        <m:ctrlPr>
                          <a:rPr lang="ar-AE" i="1">
                            <a:latin typeface="Cambria Math" panose="02040503050406030204" pitchFamily="18" charset="0"/>
                          </a:rPr>
                        </m:ctrlPr>
                      </m:dPr>
                      <m:e>
                        <m:r>
                          <a:rPr lang="ar-AE" i="1">
                            <a:latin typeface="Cambria Math" panose="02040503050406030204" pitchFamily="18" charset="0"/>
                          </a:rPr>
                          <m:t>𝑧</m:t>
                        </m:r>
                      </m:e>
                    </m:d>
                  </m:oMath>
                </a14:m>
                <a:endParaRPr lang="ar-AE" dirty="0"/>
              </a:p>
              <a:p>
                <a:r>
                  <a:rPr lang="es-MX" dirty="0" err="1"/>
                  <a:t>Cannot</a:t>
                </a:r>
                <a:r>
                  <a:rPr lang="es-MX" dirty="0"/>
                  <a:t> </a:t>
                </a:r>
                <a:r>
                  <a:rPr lang="es-MX" dirty="0" err="1"/>
                  <a:t>evaluate</a:t>
                </a:r>
                <a:r>
                  <a:rPr lang="es-MX" dirty="0"/>
                  <a:t> </a:t>
                </a:r>
                <a14:m>
                  <m:oMath xmlns:m="http://schemas.openxmlformats.org/officeDocument/2006/math">
                    <m:r>
                      <a:rPr lang="es-MX" i="1">
                        <a:latin typeface="Cambria Math" panose="02040503050406030204" pitchFamily="18" charset="0"/>
                      </a:rPr>
                      <m:t>𝑝</m:t>
                    </m:r>
                    <m:d>
                      <m:dPr>
                        <m:ctrlPr>
                          <a:rPr lang="ar-AE" i="1">
                            <a:latin typeface="Cambria Math" panose="02040503050406030204" pitchFamily="18" charset="0"/>
                          </a:rPr>
                        </m:ctrlPr>
                      </m:dPr>
                      <m:e>
                        <m:r>
                          <a:rPr lang="ar-AE" i="1">
                            <a:latin typeface="Cambria Math" panose="02040503050406030204" pitchFamily="18" charset="0"/>
                          </a:rPr>
                          <m:t>𝑥</m:t>
                        </m:r>
                      </m:e>
                    </m:d>
                  </m:oMath>
                </a14:m>
                <a:r>
                  <a:rPr lang="es-MX" dirty="0" err="1"/>
                  <a:t>or</a:t>
                </a:r>
                <a:r>
                  <a:rPr lang="es-MX" dirty="0"/>
                  <a:t> </a:t>
                </a:r>
                <a14:m>
                  <m:oMath xmlns:m="http://schemas.openxmlformats.org/officeDocument/2006/math">
                    <m:func>
                      <m:funcPr>
                        <m:ctrlPr>
                          <a:rPr lang="ar-AE" i="1">
                            <a:latin typeface="Cambria Math" panose="02040503050406030204" pitchFamily="18" charset="0"/>
                          </a:rPr>
                        </m:ctrlPr>
                      </m:funcPr>
                      <m:fName>
                        <m:r>
                          <m:rPr>
                            <m:sty m:val="p"/>
                          </m:rPr>
                          <a:rPr lang="es-MX">
                            <a:latin typeface="Cambria Math" panose="02040503050406030204" pitchFamily="18" charset="0"/>
                          </a:rPr>
                          <m:t>log</m:t>
                        </m:r>
                      </m:fName>
                      <m:e>
                        <m:r>
                          <a:rPr lang="ar-AE" i="1">
                            <a:latin typeface="Cambria Math" panose="02040503050406030204" pitchFamily="18" charset="0"/>
                          </a:rPr>
                          <m:t>𝑝</m:t>
                        </m:r>
                      </m:e>
                    </m:func>
                    <m:d>
                      <m:dPr>
                        <m:ctrlPr>
                          <a:rPr lang="ar-AE" i="1">
                            <a:latin typeface="Cambria Math" panose="02040503050406030204" pitchFamily="18" charset="0"/>
                          </a:rPr>
                        </m:ctrlPr>
                      </m:dPr>
                      <m:e>
                        <m:r>
                          <a:rPr lang="ar-AE" i="1">
                            <a:latin typeface="Cambria Math" panose="02040503050406030204" pitchFamily="18" charset="0"/>
                          </a:rPr>
                          <m:t>𝑥</m:t>
                        </m:r>
                      </m:e>
                    </m:d>
                  </m:oMath>
                </a14:m>
                <a:endParaRPr lang="ar-AE" dirty="0"/>
              </a:p>
              <a:p>
                <a:pPr marL="0" indent="0">
                  <a:buNone/>
                </a:pPr>
                <a:endParaRPr lang="es-MX" dirty="0"/>
              </a:p>
            </p:txBody>
          </p:sp>
        </mc:Choice>
        <mc:Fallback xmlns="">
          <p:sp>
            <p:nvSpPr>
              <p:cNvPr id="3" name="Marcador de contenido 2">
                <a:extLst>
                  <a:ext uri="{FF2B5EF4-FFF2-40B4-BE49-F238E27FC236}">
                    <a16:creationId xmlns:a16="http://schemas.microsoft.com/office/drawing/2014/main" id="{24791820-E359-A4B5-3087-449ED67B5AA0}"/>
                  </a:ext>
                </a:extLst>
              </p:cNvPr>
              <p:cNvSpPr>
                <a:spLocks noGrp="1" noRot="1" noChangeAspect="1" noMove="1" noResize="1" noEditPoints="1" noAdjustHandles="1" noChangeArrowheads="1" noChangeShapeType="1" noTextEdit="1"/>
              </p:cNvSpPr>
              <p:nvPr>
                <p:ph idx="1"/>
              </p:nvPr>
            </p:nvSpPr>
            <p:spPr>
              <a:xfrm>
                <a:off x="752475" y="1006475"/>
                <a:ext cx="10515600" cy="4351338"/>
              </a:xfrm>
              <a:blipFill>
                <a:blip r:embed="rId2"/>
                <a:stretch>
                  <a:fillRect l="-1159" t="-3081" b="-280"/>
                </a:stretch>
              </a:blipFill>
            </p:spPr>
            <p:txBody>
              <a:bodyPr/>
              <a:lstStyle/>
              <a:p>
                <a:r>
                  <a:rPr lang="es-MX">
                    <a:noFill/>
                  </a:rPr>
                  <a:t> </a:t>
                </a:r>
              </a:p>
            </p:txBody>
          </p:sp>
        </mc:Fallback>
      </mc:AlternateContent>
    </p:spTree>
    <p:extLst>
      <p:ext uri="{BB962C8B-B14F-4D97-AF65-F5344CB8AC3E}">
        <p14:creationId xmlns:p14="http://schemas.microsoft.com/office/powerpoint/2010/main" val="16930216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21D0408F-AE7F-4331-A620-4BC31136550F}"/>
              </a:ext>
            </a:extLst>
          </p:cNvPr>
          <p:cNvPicPr>
            <a:picLocks noChangeAspect="1"/>
          </p:cNvPicPr>
          <p:nvPr/>
        </p:nvPicPr>
        <p:blipFill>
          <a:blip r:embed="rId2"/>
          <a:stretch>
            <a:fillRect/>
          </a:stretch>
        </p:blipFill>
        <p:spPr>
          <a:xfrm>
            <a:off x="122991" y="1861919"/>
            <a:ext cx="11946017" cy="3134162"/>
          </a:xfrm>
          <a:prstGeom prst="rect">
            <a:avLst/>
          </a:prstGeom>
        </p:spPr>
      </p:pic>
      <p:sp>
        <p:nvSpPr>
          <p:cNvPr id="6" name="Título 1">
            <a:extLst>
              <a:ext uri="{FF2B5EF4-FFF2-40B4-BE49-F238E27FC236}">
                <a16:creationId xmlns:a16="http://schemas.microsoft.com/office/drawing/2014/main" id="{7E921A3B-0856-F58C-B2A6-8818DAF5E82F}"/>
              </a:ext>
            </a:extLst>
          </p:cNvPr>
          <p:cNvSpPr>
            <a:spLocks noGrp="1"/>
          </p:cNvSpPr>
          <p:nvPr>
            <p:ph type="title"/>
          </p:nvPr>
        </p:nvSpPr>
        <p:spPr>
          <a:xfrm>
            <a:off x="838200" y="365125"/>
            <a:ext cx="10515600" cy="1325563"/>
          </a:xfrm>
        </p:spPr>
        <p:txBody>
          <a:bodyPr/>
          <a:lstStyle/>
          <a:p>
            <a:r>
              <a:rPr lang="es-CO" dirty="0" err="1"/>
              <a:t>Summary</a:t>
            </a:r>
            <a:endParaRPr lang="es-MX" dirty="0"/>
          </a:p>
        </p:txBody>
      </p:sp>
    </p:spTree>
    <p:extLst>
      <p:ext uri="{BB962C8B-B14F-4D97-AF65-F5344CB8AC3E}">
        <p14:creationId xmlns:p14="http://schemas.microsoft.com/office/powerpoint/2010/main" val="4714922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95E016D-1522-B678-0BFC-72FF949EB251}"/>
              </a:ext>
            </a:extLst>
          </p:cNvPr>
          <p:cNvSpPr>
            <a:spLocks noGrp="1"/>
          </p:cNvSpPr>
          <p:nvPr>
            <p:ph type="title"/>
          </p:nvPr>
        </p:nvSpPr>
        <p:spPr/>
        <p:txBody>
          <a:bodyPr/>
          <a:lstStyle/>
          <a:p>
            <a:r>
              <a:rPr lang="en-US" dirty="0"/>
              <a:t>Visual Summary (What to look for if you compare images)</a:t>
            </a:r>
            <a:endParaRPr lang="es-MX" dirty="0"/>
          </a:p>
        </p:txBody>
      </p:sp>
      <p:sp>
        <p:nvSpPr>
          <p:cNvPr id="3" name="Marcador de contenido 2">
            <a:extLst>
              <a:ext uri="{FF2B5EF4-FFF2-40B4-BE49-F238E27FC236}">
                <a16:creationId xmlns:a16="http://schemas.microsoft.com/office/drawing/2014/main" id="{123ED999-F522-222F-EC17-1BE52970A16F}"/>
              </a:ext>
            </a:extLst>
          </p:cNvPr>
          <p:cNvSpPr>
            <a:spLocks noGrp="1"/>
          </p:cNvSpPr>
          <p:nvPr>
            <p:ph idx="1"/>
          </p:nvPr>
        </p:nvSpPr>
        <p:spPr>
          <a:xfrm>
            <a:off x="400050" y="1806575"/>
            <a:ext cx="11582400" cy="4351338"/>
          </a:xfrm>
        </p:spPr>
        <p:txBody>
          <a:bodyPr>
            <a:normAutofit fontScale="92500" lnSpcReduction="10000"/>
          </a:bodyPr>
          <a:lstStyle/>
          <a:p>
            <a:pPr marL="0" indent="0" algn="just">
              <a:buNone/>
            </a:pPr>
            <a:r>
              <a:rPr lang="en-US" sz="2400" b="1" dirty="0"/>
              <a:t>VAEs:</a:t>
            </a:r>
            <a:r>
              <a:rPr lang="en-US" sz="2400" dirty="0"/>
              <a:t> look "impressionistic" due to smoothness/blurriness, especially in older examples. Good overall shape, but potentially lacking crisp textures.</a:t>
            </a:r>
          </a:p>
          <a:p>
            <a:pPr marL="0" indent="0" algn="just">
              <a:buNone/>
            </a:pPr>
            <a:endParaRPr lang="en-US" sz="2400" b="1" dirty="0"/>
          </a:p>
          <a:p>
            <a:pPr marL="0" indent="0" algn="just">
              <a:buNone/>
            </a:pPr>
            <a:r>
              <a:rPr lang="en-US" sz="2400" b="1" dirty="0"/>
              <a:t>Flows:</a:t>
            </a:r>
            <a:r>
              <a:rPr lang="en-US" sz="2400" dirty="0"/>
              <a:t> Sharp images, good diversity. Lack of "wow" of the GANs/Diffusion in hyperrealism for complex scenes if the model isn't deep or well-trained, but solid, reliable generation.</a:t>
            </a:r>
          </a:p>
          <a:p>
            <a:pPr marL="0" indent="0" algn="just">
              <a:buNone/>
            </a:pPr>
            <a:endParaRPr lang="en-US" sz="2400" b="1" dirty="0"/>
          </a:p>
          <a:p>
            <a:pPr marL="0" indent="0" algn="just">
              <a:buNone/>
            </a:pPr>
            <a:r>
              <a:rPr lang="en-US" sz="2400" b="1" dirty="0"/>
              <a:t>GANs:</a:t>
            </a:r>
            <a:r>
              <a:rPr lang="en-US" sz="2400" dirty="0"/>
              <a:t> Very sharp, often photorealistic. Signs of mode collapse (many faces looking very similar) or subtle artifacts. Sota GANs (StyleGAN3) have incredible detail and realism.</a:t>
            </a:r>
          </a:p>
          <a:p>
            <a:pPr marL="0" indent="0" algn="just">
              <a:buNone/>
            </a:pPr>
            <a:endParaRPr lang="en-US" sz="2400" b="1" dirty="0"/>
          </a:p>
          <a:p>
            <a:pPr marL="0" indent="0" algn="just">
              <a:buNone/>
            </a:pPr>
            <a:r>
              <a:rPr lang="en-US" sz="2400" b="1" dirty="0"/>
              <a:t>Diffusion Models:</a:t>
            </a:r>
            <a:r>
              <a:rPr lang="en-US" sz="2400" dirty="0"/>
              <a:t> Very sharp, highly realistic, and diverse. Can handle complex prompts (if text-to-image) and generate coherent global structures. Often considered to combine the best of both worlds (sample quality of GANs and likelihood-based nature/diversity of explicit models)</a:t>
            </a:r>
            <a:endParaRPr lang="es-MX" sz="2400" dirty="0"/>
          </a:p>
        </p:txBody>
      </p:sp>
    </p:spTree>
    <p:extLst>
      <p:ext uri="{BB962C8B-B14F-4D97-AF65-F5344CB8AC3E}">
        <p14:creationId xmlns:p14="http://schemas.microsoft.com/office/powerpoint/2010/main" val="3970173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E67F2706-8FDA-4419-1070-4BB4001DA2AA}"/>
              </a:ext>
            </a:extLst>
          </p:cNvPr>
          <p:cNvSpPr>
            <a:spLocks noGrp="1"/>
          </p:cNvSpPr>
          <p:nvPr>
            <p:ph idx="1"/>
          </p:nvPr>
        </p:nvSpPr>
        <p:spPr>
          <a:xfrm>
            <a:off x="695325" y="787400"/>
            <a:ext cx="10896600" cy="4984750"/>
          </a:xfrm>
        </p:spPr>
        <p:txBody>
          <a:bodyPr>
            <a:normAutofit/>
          </a:bodyPr>
          <a:lstStyle/>
          <a:p>
            <a:pPr marL="0" indent="0" algn="just">
              <a:buNone/>
            </a:pPr>
            <a:r>
              <a:rPr lang="en-US" b="1" dirty="0"/>
              <a:t>Trade-offs:</a:t>
            </a:r>
            <a:r>
              <a:rPr lang="en-US" dirty="0"/>
              <a:t> No single class of models is universally superior. The choice depends on the specific task, data, and desired properties (e.g., do you need likelihoods? Is sample quality paramount?).</a:t>
            </a:r>
          </a:p>
          <a:p>
            <a:pPr marL="0" indent="0" algn="just">
              <a:buNone/>
            </a:pPr>
            <a:endParaRPr lang="en-US" dirty="0"/>
          </a:p>
          <a:p>
            <a:pPr marL="0" indent="0" algn="just">
              <a:buNone/>
            </a:pPr>
            <a:r>
              <a:rPr lang="en-US" b="1" dirty="0"/>
              <a:t>Current Trends:</a:t>
            </a:r>
            <a:r>
              <a:rPr lang="en-US" dirty="0"/>
              <a:t> the rise of diffusion models, which have an explicit (though often intractable to compute directly for a single sample without the diffusion process) likelihood formulation but can generate samples of GAN-level quality. They combine some strengths of both explicit and implicit approaches.</a:t>
            </a:r>
            <a:endParaRPr lang="es-MX" dirty="0"/>
          </a:p>
        </p:txBody>
      </p:sp>
    </p:spTree>
    <p:extLst>
      <p:ext uri="{BB962C8B-B14F-4D97-AF65-F5344CB8AC3E}">
        <p14:creationId xmlns:p14="http://schemas.microsoft.com/office/powerpoint/2010/main" val="1752245376"/>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5358</TotalTime>
  <Words>2071</Words>
  <Application>Microsoft Office PowerPoint</Application>
  <PresentationFormat>Panorámica</PresentationFormat>
  <Paragraphs>128</Paragraphs>
  <Slides>22</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22</vt:i4>
      </vt:variant>
    </vt:vector>
  </HeadingPairs>
  <TitlesOfParts>
    <vt:vector size="27" baseType="lpstr">
      <vt:lpstr>Aptos</vt:lpstr>
      <vt:lpstr>Aptos Display</vt:lpstr>
      <vt:lpstr>Arial</vt:lpstr>
      <vt:lpstr>Cambria Math</vt:lpstr>
      <vt:lpstr>Tema de Office</vt:lpstr>
      <vt:lpstr>Latent Space, Explicit and Implicit Generative Models </vt:lpstr>
      <vt:lpstr>Why do we need generative models? </vt:lpstr>
      <vt:lpstr>Latent Variable and Latent Space</vt:lpstr>
      <vt:lpstr>Properties of Latent Space</vt:lpstr>
      <vt:lpstr>Type of Generative Models</vt:lpstr>
      <vt:lpstr>Explicit Models</vt:lpstr>
      <vt:lpstr>Characteristics</vt:lpstr>
      <vt:lpstr>Presentación de PowerPoint</vt:lpstr>
      <vt:lpstr>Advantages:</vt:lpstr>
      <vt:lpstr>Disadvantages:</vt:lpstr>
      <vt:lpstr>VAEs (Variational Autoencoders)</vt:lpstr>
      <vt:lpstr>Diffusion Models (e.g., DDPMs, Score-SDEs)</vt:lpstr>
      <vt:lpstr>LLMs (Large Language Models)</vt:lpstr>
      <vt:lpstr>Implicit Models</vt:lpstr>
      <vt:lpstr>Characteristics</vt:lpstr>
      <vt:lpstr>Advantages</vt:lpstr>
      <vt:lpstr>Disadvantages</vt:lpstr>
      <vt:lpstr>GANs (Generative Adversarial Networks)</vt:lpstr>
      <vt:lpstr>Presentación de PowerPoint</vt:lpstr>
      <vt:lpstr>Summary</vt:lpstr>
      <vt:lpstr>Visual Summary (What to look for if you compare images)</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John Robert Ballesteros Parra</dc:creator>
  <cp:lastModifiedBy>Bryan Steven Yama</cp:lastModifiedBy>
  <cp:revision>46</cp:revision>
  <dcterms:created xsi:type="dcterms:W3CDTF">2025-06-02T12:10:29Z</dcterms:created>
  <dcterms:modified xsi:type="dcterms:W3CDTF">2026-03-25T00:56:31Z</dcterms:modified>
</cp:coreProperties>
</file>