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embeddedFontLst>
    <p:embeddedFont>
      <p:font typeface="Play" panose="020B0604020202020204"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hu8XvWcR6Y/lEyna7IWJx4MS0p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91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3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3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3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3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3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3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3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9"/>
          <p:cNvSpPr>
            <a:spLocks noGrp="1"/>
          </p:cNvSpPr>
          <p:nvPr>
            <p:ph type="pic" idx="2"/>
          </p:nvPr>
        </p:nvSpPr>
        <p:spPr>
          <a:xfrm>
            <a:off x="5183188" y="987425"/>
            <a:ext cx="6172200" cy="4873625"/>
          </a:xfrm>
          <a:prstGeom prst="rect">
            <a:avLst/>
          </a:prstGeom>
          <a:noFill/>
          <a:ln>
            <a:noFill/>
          </a:ln>
        </p:spPr>
      </p:sp>
      <p:sp>
        <p:nvSpPr>
          <p:cNvPr id="64" name="Google Shape;64;p3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4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ml-site.cdn-apple.com/papers/the-illusion-of-thinking.pdf"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youtu.be/8RxJJWAdbn8?si=fkSSr774TtD-EXsN"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arxiv.org/pdf/2506.09985" TargetMode="External"/><Relationship Id="rId4" Type="http://schemas.openxmlformats.org/officeDocument/2006/relationships/hyperlink" Target="https://arxiv.org/pdf/2301.08243"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live/k82RwXqZHY8?si=BqmSoRgGhmmu_LvA"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youtu.be/bDVpI23q8Zg?si=ba41DeO06OKa_f9Y"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live/5MWT_doo68k?si=epgb9mDX2OSl6itT"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assets.anthropic.com/m/71876fabef0f0ed4/original/reasoning_models_paper.pdf"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lay"/>
              <a:buNone/>
            </a:pPr>
            <a:r>
              <a:rPr lang="es-CO"/>
              <a:t>Prompt Engineering and Context Engineering</a:t>
            </a: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800"/>
              <a:buNone/>
            </a:pPr>
            <a:r>
              <a:rPr lang="es-CO" sz="2800" dirty="0" err="1"/>
              <a:t>How</a:t>
            </a:r>
            <a:r>
              <a:rPr lang="es-CO" sz="2800" dirty="0"/>
              <a:t> </a:t>
            </a:r>
            <a:r>
              <a:rPr lang="es-CO" sz="2800" dirty="0" err="1"/>
              <a:t>to</a:t>
            </a:r>
            <a:r>
              <a:rPr lang="es-CO" sz="2800" dirty="0"/>
              <a:t> </a:t>
            </a:r>
            <a:r>
              <a:rPr lang="es-CO" sz="2800" dirty="0" err="1"/>
              <a:t>sucessfully</a:t>
            </a:r>
            <a:r>
              <a:rPr lang="es-CO" sz="2800" dirty="0"/>
              <a:t> </a:t>
            </a:r>
            <a:r>
              <a:rPr lang="es-CO" sz="2800" dirty="0" err="1"/>
              <a:t>ask</a:t>
            </a:r>
            <a:r>
              <a:rPr lang="es-CO" sz="2800" dirty="0"/>
              <a:t> the </a:t>
            </a:r>
            <a:r>
              <a:rPr lang="es-CO" sz="2800" dirty="0" err="1"/>
              <a:t>Ai</a:t>
            </a:r>
            <a:endParaRPr sz="2800" dirty="0"/>
          </a:p>
          <a:p>
            <a:pPr marL="0" lvl="0" indent="0" algn="ctr"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Iterative Prompt Engineering</a:t>
            </a:r>
            <a:endParaRPr/>
          </a:p>
        </p:txBody>
      </p:sp>
      <p:sp>
        <p:nvSpPr>
          <p:cNvPr id="91" name="Google Shape;91;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s-CO"/>
              <a:t>It starts with a clear, specific prompt (e.g., </a:t>
            </a:r>
            <a:r>
              <a:rPr lang="es-CO" b="1"/>
              <a:t>“Retrieve X posts on AI ethics, in 2025, excluding opinions”</a:t>
            </a:r>
            <a:r>
              <a:rPr lang="es-CO"/>
              <a:t>) to optimize DeepSearch’s real-time data access.</a:t>
            </a:r>
            <a:endParaRPr/>
          </a:p>
          <a:p>
            <a:pPr marL="0" lvl="0" indent="0" algn="just" rtl="0">
              <a:lnSpc>
                <a:spcPct val="90000"/>
              </a:lnSpc>
              <a:spcBef>
                <a:spcPts val="1000"/>
              </a:spcBef>
              <a:spcAft>
                <a:spcPts val="0"/>
              </a:spcAft>
              <a:buClr>
                <a:schemeClr val="dk1"/>
              </a:buClr>
              <a:buSzPts val="28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Meta Prompting</a:t>
            </a:r>
            <a:endParaRPr/>
          </a:p>
        </p:txBody>
      </p:sp>
      <p:sp>
        <p:nvSpPr>
          <p:cNvPr id="97" name="Google Shape;97;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s-CO"/>
              <a:t>It is the process of recurring asking a LLM on how is the best way to ask it for obtaining specific results, ex. “</a:t>
            </a:r>
            <a:r>
              <a:rPr lang="es-CO" b="1"/>
              <a:t>Write me the best prompt to </a:t>
            </a:r>
            <a:r>
              <a:rPr lang="es-CO" i="1"/>
              <a:t>retrieve X posts on AI ethics, in 2025, excluding opinions</a:t>
            </a:r>
            <a:r>
              <a:rPr lang="es-CO"/>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Context Engineering</a:t>
            </a:r>
            <a:endParaRPr/>
          </a:p>
        </p:txBody>
      </p:sp>
      <p:sp>
        <p:nvSpPr>
          <p:cNvPr id="103" name="Google Shape;10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r>
              <a:rPr lang="es-CO"/>
              <a:t>Providing relevant background information to effectively get the best possible results :</a:t>
            </a:r>
            <a:endParaRPr/>
          </a:p>
          <a:p>
            <a:pPr marL="0" lvl="0" indent="0" algn="l"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Font typeface="Arial"/>
              <a:buChar char="-"/>
            </a:pPr>
            <a:r>
              <a:rPr lang="es-CO"/>
              <a:t>Setting role definitions ("You are an expert in...")</a:t>
            </a:r>
            <a:endParaRPr/>
          </a:p>
          <a:p>
            <a:pPr marL="228600" lvl="0" indent="-77470" algn="just" rtl="0">
              <a:lnSpc>
                <a:spcPct val="90000"/>
              </a:lnSpc>
              <a:spcBef>
                <a:spcPts val="1000"/>
              </a:spcBef>
              <a:spcAft>
                <a:spcPts val="0"/>
              </a:spcAft>
              <a:buClr>
                <a:schemeClr val="dk1"/>
              </a:buClr>
              <a:buSzPct val="100000"/>
              <a:buFont typeface="Arial"/>
              <a:buNone/>
            </a:pPr>
            <a:endParaRPr/>
          </a:p>
          <a:p>
            <a:pPr marL="228600" lvl="0" indent="-228600" algn="just" rtl="0">
              <a:lnSpc>
                <a:spcPct val="90000"/>
              </a:lnSpc>
              <a:spcBef>
                <a:spcPts val="1000"/>
              </a:spcBef>
              <a:spcAft>
                <a:spcPts val="0"/>
              </a:spcAft>
              <a:buClr>
                <a:schemeClr val="dk1"/>
              </a:buClr>
              <a:buSzPct val="100000"/>
              <a:buFont typeface="Arial"/>
              <a:buChar char="-"/>
            </a:pPr>
            <a:r>
              <a:rPr lang="es-CO"/>
              <a:t>Establishing the appropriate tone and style, behavioral guidelines, constraints and boundaries, output format requirements</a:t>
            </a:r>
            <a:endParaRPr/>
          </a:p>
          <a:p>
            <a:pPr marL="228600" lvl="0" indent="-77470" algn="l" rtl="0">
              <a:lnSpc>
                <a:spcPct val="90000"/>
              </a:lnSpc>
              <a:spcBef>
                <a:spcPts val="1000"/>
              </a:spcBef>
              <a:spcAft>
                <a:spcPts val="0"/>
              </a:spcAft>
              <a:buClr>
                <a:schemeClr val="dk1"/>
              </a:buClr>
              <a:buSzPct val="100000"/>
              <a:buFont typeface="Arial"/>
              <a:buNone/>
            </a:pPr>
            <a:endParaRPr/>
          </a:p>
          <a:p>
            <a:pPr marL="228600" lvl="0" indent="-228600" algn="l" rtl="0">
              <a:lnSpc>
                <a:spcPct val="90000"/>
              </a:lnSpc>
              <a:spcBef>
                <a:spcPts val="1000"/>
              </a:spcBef>
              <a:spcAft>
                <a:spcPts val="0"/>
              </a:spcAft>
              <a:buClr>
                <a:schemeClr val="dk1"/>
              </a:buClr>
              <a:buSzPct val="100000"/>
              <a:buFont typeface="Arial"/>
              <a:buChar char="-"/>
            </a:pPr>
            <a:r>
              <a:rPr lang="es-CO"/>
              <a:t>Providing relevant background information and examples</a:t>
            </a:r>
            <a:endParaRPr/>
          </a:p>
          <a:p>
            <a:pPr marL="228600" lvl="0" indent="-77470" algn="l" rtl="0">
              <a:lnSpc>
                <a:spcPct val="90000"/>
              </a:lnSpc>
              <a:spcBef>
                <a:spcPts val="1000"/>
              </a:spcBef>
              <a:spcAft>
                <a:spcPts val="0"/>
              </a:spcAft>
              <a:buClr>
                <a:schemeClr val="dk1"/>
              </a:buClr>
              <a:buSzPct val="100000"/>
              <a:buFont typeface="Arial"/>
              <a:buNone/>
            </a:pPr>
            <a:endParaRPr/>
          </a:p>
          <a:p>
            <a:pPr marL="228600" lvl="0" indent="-228600" algn="l" rtl="0">
              <a:lnSpc>
                <a:spcPct val="90000"/>
              </a:lnSpc>
              <a:spcBef>
                <a:spcPts val="1000"/>
              </a:spcBef>
              <a:spcAft>
                <a:spcPts val="0"/>
              </a:spcAft>
              <a:buClr>
                <a:schemeClr val="dk1"/>
              </a:buClr>
              <a:buSzPct val="100000"/>
              <a:buFont typeface="Arial"/>
              <a:buChar char="-"/>
            </a:pPr>
            <a:r>
              <a:rPr lang="es-CO"/>
              <a:t>CoT: Encouraging step-by-step reasoning, breaking complex problems into stages, making the model's reasoning process explicit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LLM Use Modes</a:t>
            </a:r>
            <a:endParaRPr/>
          </a:p>
        </p:txBody>
      </p:sp>
      <p:sp>
        <p:nvSpPr>
          <p:cNvPr id="109" name="Google Shape;109;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s-CO"/>
              <a:t>DeepSearch or DeepResearch: iteratively searches the web to provide accurate, current responses.</a:t>
            </a:r>
            <a:endParaRPr/>
          </a:p>
          <a:p>
            <a:pPr marL="228600" lvl="0" indent="-50800" algn="just" rtl="0">
              <a:lnSpc>
                <a:spcPct val="90000"/>
              </a:lnSpc>
              <a:spcBef>
                <a:spcPts val="1000"/>
              </a:spcBef>
              <a:spcAft>
                <a:spcPts val="0"/>
              </a:spcAft>
              <a:buClr>
                <a:schemeClr val="dk1"/>
              </a:buClr>
              <a:buSzPts val="2800"/>
              <a:buNone/>
            </a:pPr>
            <a:endParaRPr/>
          </a:p>
          <a:p>
            <a:pPr marL="228600" lvl="0" indent="-228600" algn="just" rtl="0">
              <a:lnSpc>
                <a:spcPct val="90000"/>
              </a:lnSpc>
              <a:spcBef>
                <a:spcPts val="1000"/>
              </a:spcBef>
              <a:spcAft>
                <a:spcPts val="0"/>
              </a:spcAft>
              <a:buClr>
                <a:schemeClr val="dk1"/>
              </a:buClr>
              <a:buSzPts val="2800"/>
              <a:buChar char="•"/>
            </a:pPr>
            <a:r>
              <a:rPr lang="es-CO"/>
              <a:t>Think, Plan or Reasoning: enables deliberate reasoning, enhancing accuracy for complex tasks, unlike standard response modes.</a:t>
            </a:r>
            <a:endParaRPr/>
          </a:p>
          <a:p>
            <a:pPr marL="0" lvl="0" indent="0" algn="just" rtl="0">
              <a:lnSpc>
                <a:spcPct val="90000"/>
              </a:lnSpc>
              <a:spcBef>
                <a:spcPts val="1000"/>
              </a:spcBef>
              <a:spcAft>
                <a:spcPts val="0"/>
              </a:spcAft>
              <a:buClr>
                <a:schemeClr val="dk1"/>
              </a:buClr>
              <a:buSzPts val="2800"/>
              <a:buNone/>
            </a:pPr>
            <a:endParaRPr/>
          </a:p>
          <a:p>
            <a:pPr marL="228600" lvl="0" indent="-50800" algn="just" rtl="0">
              <a:lnSpc>
                <a:spcPct val="90000"/>
              </a:lnSpc>
              <a:spcBef>
                <a:spcPts val="1000"/>
              </a:spcBef>
              <a:spcAft>
                <a:spcPts val="0"/>
              </a:spcAft>
              <a:buClr>
                <a:schemeClr val="dk1"/>
              </a:buClr>
              <a:buSzPts val="28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6"/>
          <p:cNvPicPr preferRelativeResize="0"/>
          <p:nvPr/>
        </p:nvPicPr>
        <p:blipFill rotWithShape="1">
          <a:blip r:embed="rId3">
            <a:alphaModFix/>
          </a:blip>
          <a:srcRect/>
          <a:stretch/>
        </p:blipFill>
        <p:spPr>
          <a:xfrm>
            <a:off x="0" y="25029"/>
            <a:ext cx="12192000" cy="680794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lay"/>
              <a:buNone/>
            </a:pPr>
            <a:r>
              <a:rPr lang="es-CO"/>
              <a:t>Optimization and Reasoning LLMs</a:t>
            </a:r>
            <a:endParaRPr/>
          </a:p>
        </p:txBody>
      </p:sp>
      <p:sp>
        <p:nvSpPr>
          <p:cNvPr id="120" name="Google Shape;120;p7"/>
          <p:cNvSpPr txBox="1">
            <a:spLocks noGrp="1"/>
          </p:cNvSpPr>
          <p:nvPr>
            <p:ph type="subTitle" idx="1"/>
          </p:nvPr>
        </p:nvSpPr>
        <p:spPr>
          <a:xfrm>
            <a:off x="1524000" y="38687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800"/>
              <a:buNone/>
            </a:pPr>
            <a:r>
              <a:rPr lang="es-CO" sz="2800"/>
              <a:t>Lowering computing power and memory and improving efficiency</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b="1"/>
              <a:t>Retrieval Augmented Generation (RAG)</a:t>
            </a:r>
            <a:endParaRPr b="1"/>
          </a:p>
        </p:txBody>
      </p:sp>
      <p:sp>
        <p:nvSpPr>
          <p:cNvPr id="126" name="Google Shape;126;p8"/>
          <p:cNvSpPr txBox="1">
            <a:spLocks noGrp="1"/>
          </p:cNvSpPr>
          <p:nvPr>
            <p:ph type="body" idx="1"/>
          </p:nvPr>
        </p:nvSpPr>
        <p:spPr>
          <a:xfrm>
            <a:off x="838200" y="1762125"/>
            <a:ext cx="10163175" cy="4505325"/>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s-CO"/>
              <a:t>It’s designed to improve LLM outputs (less hallucinations) allowing them to use up to date and  authorized information.</a:t>
            </a:r>
            <a:endParaRPr/>
          </a:p>
          <a:p>
            <a:pPr marL="0" lvl="0" indent="0" algn="just" rtl="0">
              <a:lnSpc>
                <a:spcPct val="90000"/>
              </a:lnSpc>
              <a:spcBef>
                <a:spcPts val="1000"/>
              </a:spcBef>
              <a:spcAft>
                <a:spcPts val="0"/>
              </a:spcAft>
              <a:buClr>
                <a:schemeClr val="dk1"/>
              </a:buClr>
              <a:buSzPts val="2800"/>
              <a:buNone/>
            </a:pPr>
            <a:endParaRPr/>
          </a:p>
          <a:p>
            <a:pPr marL="514350" lvl="0" indent="-514350" algn="just" rtl="0">
              <a:lnSpc>
                <a:spcPct val="90000"/>
              </a:lnSpc>
              <a:spcBef>
                <a:spcPts val="1000"/>
              </a:spcBef>
              <a:spcAft>
                <a:spcPts val="0"/>
              </a:spcAft>
              <a:buClr>
                <a:schemeClr val="dk1"/>
              </a:buClr>
              <a:buSzPts val="2800"/>
              <a:buAutoNum type="arabicPeriod"/>
            </a:pPr>
            <a:r>
              <a:rPr lang="es-CO"/>
              <a:t>Retrieves information from additional sources (DB, Internet)</a:t>
            </a:r>
            <a:endParaRPr/>
          </a:p>
          <a:p>
            <a:pPr marL="514350" lvl="0" indent="-336550" algn="just" rtl="0">
              <a:lnSpc>
                <a:spcPct val="90000"/>
              </a:lnSpc>
              <a:spcBef>
                <a:spcPts val="1000"/>
              </a:spcBef>
              <a:spcAft>
                <a:spcPts val="0"/>
              </a:spcAft>
              <a:buClr>
                <a:schemeClr val="dk1"/>
              </a:buClr>
              <a:buSzPts val="2800"/>
              <a:buNone/>
            </a:pPr>
            <a:endParaRPr/>
          </a:p>
          <a:p>
            <a:pPr marL="514350" lvl="0" indent="-514350" algn="just" rtl="0">
              <a:lnSpc>
                <a:spcPct val="90000"/>
              </a:lnSpc>
              <a:spcBef>
                <a:spcPts val="1000"/>
              </a:spcBef>
              <a:spcAft>
                <a:spcPts val="0"/>
              </a:spcAft>
              <a:buClr>
                <a:schemeClr val="dk1"/>
              </a:buClr>
              <a:buSzPts val="2800"/>
              <a:buAutoNum type="arabicPeriod"/>
            </a:pPr>
            <a:r>
              <a:rPr lang="es-CO"/>
              <a:t>Use it as additional context (augment)</a:t>
            </a:r>
            <a:endParaRPr/>
          </a:p>
          <a:p>
            <a:pPr marL="514350" lvl="0" indent="-336550" algn="just" rtl="0">
              <a:lnSpc>
                <a:spcPct val="90000"/>
              </a:lnSpc>
              <a:spcBef>
                <a:spcPts val="1000"/>
              </a:spcBef>
              <a:spcAft>
                <a:spcPts val="0"/>
              </a:spcAft>
              <a:buClr>
                <a:schemeClr val="dk1"/>
              </a:buClr>
              <a:buSzPts val="2800"/>
              <a:buNone/>
            </a:pPr>
            <a:endParaRPr/>
          </a:p>
          <a:p>
            <a:pPr marL="514350" lvl="0" indent="-514350" algn="just" rtl="0">
              <a:lnSpc>
                <a:spcPct val="90000"/>
              </a:lnSpc>
              <a:spcBef>
                <a:spcPts val="1000"/>
              </a:spcBef>
              <a:spcAft>
                <a:spcPts val="0"/>
              </a:spcAft>
              <a:buClr>
                <a:schemeClr val="dk1"/>
              </a:buClr>
              <a:buSzPts val="2800"/>
              <a:buAutoNum type="arabicPeriod"/>
            </a:pPr>
            <a:r>
              <a:rPr lang="es-CO"/>
              <a:t>Generates the output with the provided info in mind.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9"/>
          <p:cNvPicPr preferRelativeResize="0"/>
          <p:nvPr/>
        </p:nvPicPr>
        <p:blipFill rotWithShape="1">
          <a:blip r:embed="rId3">
            <a:alphaModFix/>
          </a:blip>
          <a:srcRect l="1084" t="4573" r="1217" b="8378"/>
          <a:stretch/>
        </p:blipFill>
        <p:spPr>
          <a:xfrm>
            <a:off x="970786" y="1"/>
            <a:ext cx="10250435" cy="6785042"/>
          </a:xfrm>
          <a:prstGeom prst="rect">
            <a:avLst/>
          </a:prstGeom>
          <a:noFill/>
          <a:ln>
            <a:noFill/>
          </a:ln>
        </p:spPr>
      </p:pic>
      <p:sp>
        <p:nvSpPr>
          <p:cNvPr id="132" name="Google Shape;132;p9"/>
          <p:cNvSpPr txBox="1"/>
          <p:nvPr/>
        </p:nvSpPr>
        <p:spPr>
          <a:xfrm>
            <a:off x="7753350" y="6296024"/>
            <a:ext cx="383857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1800" b="0" i="0" u="none" strike="noStrike" cap="none">
                <a:solidFill>
                  <a:schemeClr val="dk1"/>
                </a:solidFill>
                <a:latin typeface="Arial"/>
                <a:ea typeface="Arial"/>
                <a:cs typeface="Arial"/>
                <a:sym typeface="Arial"/>
              </a:rPr>
              <a:t>OpenAi, Technical Guide, 2024</a:t>
            </a:r>
            <a:endParaRPr sz="18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b="1"/>
              <a:t>Quantization</a:t>
            </a:r>
            <a:endParaRPr b="1"/>
          </a:p>
        </p:txBody>
      </p:sp>
      <p:sp>
        <p:nvSpPr>
          <p:cNvPr id="138" name="Google Shape;13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s-CO"/>
              <a:t>Used to reduce the size of the model file (up to 50%) and the inference time (miliseconds), it is done by changing </a:t>
            </a:r>
            <a:endParaRPr/>
          </a:p>
          <a:p>
            <a:pPr marL="228600" lvl="0" indent="-50800" algn="just" rtl="0">
              <a:lnSpc>
                <a:spcPct val="90000"/>
              </a:lnSpc>
              <a:spcBef>
                <a:spcPts val="1000"/>
              </a:spcBef>
              <a:spcAft>
                <a:spcPts val="0"/>
              </a:spcAft>
              <a:buClr>
                <a:schemeClr val="dk1"/>
              </a:buClr>
              <a:buSzPts val="2800"/>
              <a:buNone/>
            </a:pPr>
            <a:endParaRPr/>
          </a:p>
          <a:p>
            <a:pPr marL="228600" lvl="0" indent="-228600" algn="just" rtl="0">
              <a:lnSpc>
                <a:spcPct val="90000"/>
              </a:lnSpc>
              <a:spcBef>
                <a:spcPts val="1000"/>
              </a:spcBef>
              <a:spcAft>
                <a:spcPts val="0"/>
              </a:spcAft>
              <a:buClr>
                <a:schemeClr val="dk1"/>
              </a:buClr>
              <a:buSzPts val="2800"/>
              <a:buChar char="•"/>
            </a:pPr>
            <a:r>
              <a:rPr lang="es-CO" b="1"/>
              <a:t>During Training: </a:t>
            </a:r>
            <a:r>
              <a:rPr lang="es-CO"/>
              <a:t>more complex and extra dataset is needed</a:t>
            </a:r>
            <a:endParaRPr/>
          </a:p>
          <a:p>
            <a:pPr marL="228600" lvl="0" indent="-50800" algn="just" rtl="0">
              <a:lnSpc>
                <a:spcPct val="90000"/>
              </a:lnSpc>
              <a:spcBef>
                <a:spcPts val="1000"/>
              </a:spcBef>
              <a:spcAft>
                <a:spcPts val="0"/>
              </a:spcAft>
              <a:buClr>
                <a:schemeClr val="dk1"/>
              </a:buClr>
              <a:buSzPts val="2800"/>
              <a:buNone/>
            </a:pPr>
            <a:endParaRPr/>
          </a:p>
          <a:p>
            <a:pPr marL="228600" lvl="0" indent="-228600" algn="just" rtl="0">
              <a:lnSpc>
                <a:spcPct val="90000"/>
              </a:lnSpc>
              <a:spcBef>
                <a:spcPts val="1000"/>
              </a:spcBef>
              <a:spcAft>
                <a:spcPts val="0"/>
              </a:spcAft>
              <a:buClr>
                <a:schemeClr val="dk1"/>
              </a:buClr>
              <a:buSzPts val="2800"/>
              <a:buChar char="•"/>
            </a:pPr>
            <a:r>
              <a:rPr lang="es-CO" b="1"/>
              <a:t>Post Training: </a:t>
            </a:r>
            <a:r>
              <a:rPr lang="es-CO"/>
              <a:t>once the model is created, it is the conversion of numbers precision from fp32, to INT8 or even 4bit.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b="1"/>
              <a:t>Pruning</a:t>
            </a:r>
            <a:endParaRPr b="1"/>
          </a:p>
        </p:txBody>
      </p:sp>
      <p:sp>
        <p:nvSpPr>
          <p:cNvPr id="144" name="Google Shape;144;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s-CO"/>
              <a:t>Reduces the size of the model by eliminating neurons, attention heads, convolutions kernels, and even entire layers, based on their importance. It can reduce from 8B to 4B, Microsoft’s Phi models are examples (SLM).</a:t>
            </a:r>
            <a:endParaRPr/>
          </a:p>
          <a:p>
            <a:pPr marL="0" lvl="0" indent="0" algn="just" rtl="0">
              <a:lnSpc>
                <a:spcPct val="90000"/>
              </a:lnSpc>
              <a:spcBef>
                <a:spcPts val="1000"/>
              </a:spcBef>
              <a:spcAft>
                <a:spcPts val="0"/>
              </a:spcAft>
              <a:buClr>
                <a:schemeClr val="dk1"/>
              </a:buClr>
              <a:buSzPts val="2800"/>
              <a:buNone/>
            </a:pPr>
            <a:endParaRPr/>
          </a:p>
          <a:p>
            <a:pPr marL="0" lvl="0" indent="0" algn="just" rtl="0">
              <a:lnSpc>
                <a:spcPct val="90000"/>
              </a:lnSpc>
              <a:spcBef>
                <a:spcPts val="1000"/>
              </a:spcBef>
              <a:spcAft>
                <a:spcPts val="0"/>
              </a:spcAft>
              <a:buClr>
                <a:schemeClr val="dk1"/>
              </a:buClr>
              <a:buSzPts val="2800"/>
              <a:buNone/>
            </a:pPr>
            <a:r>
              <a:rPr lang="es-CO"/>
              <a:t>It is used in tandem with the </a:t>
            </a:r>
            <a:r>
              <a:rPr lang="es-CO" b="1" i="1"/>
              <a:t>Knowledge Destillation </a:t>
            </a:r>
            <a:r>
              <a:rPr lang="es-CO"/>
              <a:t>technique.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b="1"/>
              <a:t>Destillation (KD)</a:t>
            </a:r>
            <a:endParaRPr b="1"/>
          </a:p>
        </p:txBody>
      </p:sp>
      <p:sp>
        <p:nvSpPr>
          <p:cNvPr id="150" name="Google Shape;150;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s-CO"/>
              <a:t>Use knowledge transfer from a larger and precise model (Master) to a smaller and simpler model (Student).</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s-CO"/>
              <a:t>The student is forced to imitate the output and intermediate state of the master by minimizing the Kullback-Lieber divergence between them in the logits (un-normalized values).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b="1"/>
              <a:t>Reinforcement Learning, RLAIF and RLHF</a:t>
            </a:r>
            <a:endParaRPr b="1"/>
          </a:p>
        </p:txBody>
      </p:sp>
      <p:sp>
        <p:nvSpPr>
          <p:cNvPr id="156" name="Google Shape;15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s-CO"/>
              <a:t>They seek to align LLM responses to human preferences and improve performance of LLMs.</a:t>
            </a:r>
            <a:endParaRPr/>
          </a:p>
          <a:p>
            <a:pPr marL="0" lvl="0" indent="0" algn="just" rtl="0">
              <a:lnSpc>
                <a:spcPct val="90000"/>
              </a:lnSpc>
              <a:spcBef>
                <a:spcPts val="1000"/>
              </a:spcBef>
              <a:spcAft>
                <a:spcPts val="0"/>
              </a:spcAft>
              <a:buClr>
                <a:schemeClr val="dk1"/>
              </a:buClr>
              <a:buSzPts val="2800"/>
              <a:buNone/>
            </a:pPr>
            <a:endParaRPr/>
          </a:p>
          <a:p>
            <a:pPr marL="0" lvl="0" indent="0" algn="just" rtl="0">
              <a:lnSpc>
                <a:spcPct val="90000"/>
              </a:lnSpc>
              <a:spcBef>
                <a:spcPts val="1000"/>
              </a:spcBef>
              <a:spcAft>
                <a:spcPts val="0"/>
              </a:spcAft>
              <a:buClr>
                <a:schemeClr val="dk1"/>
              </a:buClr>
              <a:buSzPts val="2800"/>
              <a:buNone/>
            </a:pPr>
            <a:r>
              <a:rPr lang="es-CO"/>
              <a:t>AIF or HF compare and choose from different outputs of a model training a new Rmodel that gives a higher scalar value to beter answers. These values are used to fit the initial model in a way to maximize the rewards by the Proximal Policy Optimization (PPO).</a:t>
            </a:r>
            <a:endParaRPr/>
          </a:p>
          <a:p>
            <a:pPr marL="0" lvl="0" indent="0" algn="just" rtl="0">
              <a:lnSpc>
                <a:spcPct val="90000"/>
              </a:lnSpc>
              <a:spcBef>
                <a:spcPts val="1000"/>
              </a:spcBef>
              <a:spcAft>
                <a:spcPts val="0"/>
              </a:spcAft>
              <a:buClr>
                <a:schemeClr val="dk1"/>
              </a:buClr>
              <a:buSzPts val="2800"/>
              <a:buNone/>
            </a:pPr>
            <a:endParaRPr/>
          </a:p>
          <a:p>
            <a:pPr marL="0" lvl="0" indent="0" algn="just" rtl="0">
              <a:lnSpc>
                <a:spcPct val="90000"/>
              </a:lnSpc>
              <a:spcBef>
                <a:spcPts val="1000"/>
              </a:spcBef>
              <a:spcAft>
                <a:spcPts val="0"/>
              </a:spcAft>
              <a:buClr>
                <a:schemeClr val="dk1"/>
              </a:buClr>
              <a:buSzPts val="2800"/>
              <a:buNone/>
            </a:pPr>
            <a:endParaRPr/>
          </a:p>
          <a:p>
            <a:pPr marL="0" lvl="0" indent="0" algn="just" rtl="0">
              <a:lnSpc>
                <a:spcPct val="90000"/>
              </a:lnSpc>
              <a:spcBef>
                <a:spcPts val="1000"/>
              </a:spcBef>
              <a:spcAft>
                <a:spcPts val="0"/>
              </a:spcAft>
              <a:buClr>
                <a:schemeClr val="dk1"/>
              </a:buClr>
              <a:buSzPts val="2800"/>
              <a:buNone/>
            </a:pPr>
            <a:endParaRPr/>
          </a:p>
          <a:p>
            <a:pPr marL="0" lvl="0" indent="0" algn="just" rtl="0">
              <a:lnSpc>
                <a:spcPct val="90000"/>
              </a:lnSpc>
              <a:spcBef>
                <a:spcPts val="1000"/>
              </a:spcBef>
              <a:spcAft>
                <a:spcPts val="0"/>
              </a:spcAft>
              <a:buClr>
                <a:schemeClr val="dk1"/>
              </a:buClr>
              <a:buSzPts val="28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4"/>
          <p:cNvSpPr txBox="1">
            <a:spLocks noGrp="1"/>
          </p:cNvSpPr>
          <p:nvPr>
            <p:ph type="ctrTitle"/>
          </p:nvPr>
        </p:nvSpPr>
        <p:spPr>
          <a:xfrm>
            <a:off x="1447800" y="1560513"/>
            <a:ext cx="9144000" cy="2387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Play"/>
              <a:buNone/>
            </a:pPr>
            <a:r>
              <a:rPr lang="es-CO" dirty="0" err="1"/>
              <a:t>From</a:t>
            </a:r>
            <a:r>
              <a:rPr lang="es-CO" dirty="0"/>
              <a:t> Gen AI </a:t>
            </a:r>
            <a:r>
              <a:rPr lang="es-CO" dirty="0" err="1"/>
              <a:t>to</a:t>
            </a:r>
            <a:r>
              <a:rPr lang="es-CO" dirty="0"/>
              <a:t> </a:t>
            </a:r>
            <a:r>
              <a:rPr lang="es-CO" dirty="0" err="1"/>
              <a:t>AgenticAi</a:t>
            </a:r>
            <a:r>
              <a:rPr lang="es-CO" dirty="0"/>
              <a:t> </a:t>
            </a:r>
            <a:r>
              <a:rPr lang="es-CO" dirty="0" err="1"/>
              <a:t>to</a:t>
            </a:r>
            <a:r>
              <a:rPr lang="es-CO" dirty="0"/>
              <a:t> AGI</a:t>
            </a:r>
            <a:br>
              <a:rPr lang="es-CO" dirty="0"/>
            </a:br>
            <a:br>
              <a:rPr lang="es-CO" dirty="0"/>
            </a:br>
            <a:endParaRPr dirty="0"/>
          </a:p>
        </p:txBody>
      </p:sp>
      <p:sp>
        <p:nvSpPr>
          <p:cNvPr id="162" name="Google Shape;162;p14"/>
          <p:cNvSpPr txBox="1">
            <a:spLocks noGrp="1"/>
          </p:cNvSpPr>
          <p:nvPr>
            <p:ph type="subTitle" idx="1"/>
          </p:nvPr>
        </p:nvSpPr>
        <p:spPr>
          <a:xfrm>
            <a:off x="1524000" y="2601119"/>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Introduction</a:t>
            </a:r>
            <a:endParaRPr/>
          </a:p>
        </p:txBody>
      </p:sp>
      <p:sp>
        <p:nvSpPr>
          <p:cNvPr id="169" name="Google Shape;169;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s-CO"/>
              <a:t>Explore the AI strategies of Apple, Meta, Nvidia, Google, and OpenAI, highlighting skepticism, ambition, and innovation.</a:t>
            </a:r>
            <a:endParaRPr/>
          </a:p>
          <a:p>
            <a:pPr marL="228600" lvl="0" indent="-50800" algn="just" rtl="0">
              <a:lnSpc>
                <a:spcPct val="90000"/>
              </a:lnSpc>
              <a:spcBef>
                <a:spcPts val="1000"/>
              </a:spcBef>
              <a:spcAft>
                <a:spcPts val="0"/>
              </a:spcAft>
              <a:buClr>
                <a:schemeClr val="dk1"/>
              </a:buClr>
              <a:buSzPts val="2800"/>
              <a:buNone/>
            </a:pPr>
            <a:endParaRPr/>
          </a:p>
          <a:p>
            <a:pPr marL="228600" lvl="0" indent="-228600" algn="just" rtl="0">
              <a:lnSpc>
                <a:spcPct val="90000"/>
              </a:lnSpc>
              <a:spcBef>
                <a:spcPts val="1000"/>
              </a:spcBef>
              <a:spcAft>
                <a:spcPts val="0"/>
              </a:spcAft>
              <a:buClr>
                <a:schemeClr val="dk1"/>
              </a:buClr>
              <a:buSzPts val="2800"/>
              <a:buChar char="•"/>
            </a:pPr>
            <a:r>
              <a:rPr lang="es-CO"/>
              <a:t>Understanding these perspectives shapes our view of AI’s future, risks, and societal impact.</a:t>
            </a:r>
            <a:endParaRPr/>
          </a:p>
          <a:p>
            <a:pPr marL="228600" lvl="0" indent="-50800" algn="just" rtl="0">
              <a:lnSpc>
                <a:spcPct val="90000"/>
              </a:lnSpc>
              <a:spcBef>
                <a:spcPts val="1000"/>
              </a:spcBef>
              <a:spcAft>
                <a:spcPts val="0"/>
              </a:spcAft>
              <a:buClr>
                <a:schemeClr val="dk1"/>
              </a:buClr>
              <a:buSzPts val="2800"/>
              <a:buNone/>
            </a:pPr>
            <a:endParaRPr/>
          </a:p>
          <a:p>
            <a:pPr marL="228600" lvl="0" indent="-50800" algn="just"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Apple: Skeptical and Cautious</a:t>
            </a:r>
            <a:endParaRPr/>
          </a:p>
        </p:txBody>
      </p:sp>
      <p:sp>
        <p:nvSpPr>
          <p:cNvPr id="175" name="Google Shape;175;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s-CO"/>
              <a:t>Apple is “enemy” of overhyped AI claims, particularly AGI via large language models (LLMs).</a:t>
            </a:r>
            <a:endParaRPr/>
          </a:p>
          <a:p>
            <a:pPr marL="0" lvl="0" indent="0" algn="just"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s-CO"/>
              <a:t>Approach: Focuses on efficient, practical AI (e.g., OpenELM, a small open-source model).</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s-CO"/>
              <a:t>Prioritizes privacy and on-device AI (e.g., Apple Intelligence).</a:t>
            </a:r>
            <a:endParaRPr/>
          </a:p>
          <a:p>
            <a:pPr marL="0" lvl="0" indent="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s-CO"/>
              <a:t>Advocating for grounded, user-centric AI solutions.</a:t>
            </a:r>
            <a:endParaRPr/>
          </a:p>
          <a:p>
            <a:pPr marL="228600" lvl="0" indent="-50800" algn="l" rtl="0">
              <a:lnSpc>
                <a:spcPct val="90000"/>
              </a:lnSpc>
              <a:spcBef>
                <a:spcPts val="1000"/>
              </a:spcBef>
              <a:spcAft>
                <a:spcPts val="0"/>
              </a:spcAft>
              <a:buClr>
                <a:schemeClr val="dk1"/>
              </a:buClr>
              <a:buSzPts val="2800"/>
              <a:buNone/>
            </a:pPr>
            <a:endParaRPr/>
          </a:p>
          <a:p>
            <a:pPr marL="228600" lvl="0" indent="-50800" algn="just" rtl="0">
              <a:lnSpc>
                <a:spcPct val="90000"/>
              </a:lnSpc>
              <a:spcBef>
                <a:spcPts val="1000"/>
              </a:spcBef>
              <a:spcAft>
                <a:spcPts val="0"/>
              </a:spcAft>
              <a:buClr>
                <a:schemeClr val="dk1"/>
              </a:buClr>
              <a:buSzPts val="2800"/>
              <a:buNone/>
            </a:pPr>
            <a:endParaRPr/>
          </a:p>
          <a:p>
            <a:pPr marL="228600" lvl="0" indent="-50800" algn="just" rtl="0">
              <a:lnSpc>
                <a:spcPct val="90000"/>
              </a:lnSpc>
              <a:spcBef>
                <a:spcPts val="1000"/>
              </a:spcBef>
              <a:spcAft>
                <a:spcPts val="0"/>
              </a:spcAft>
              <a:buClr>
                <a:schemeClr val="dk1"/>
              </a:buClr>
              <a:buSzPts val="28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u="sng">
                <a:solidFill>
                  <a:schemeClr val="hlink"/>
                </a:solidFill>
                <a:hlinkClick r:id="rId3"/>
              </a:rPr>
              <a:t>The Illusion of Thinking, Apple, 2025</a:t>
            </a:r>
            <a:endParaRPr u="sng">
              <a:solidFill>
                <a:schemeClr val="hlink"/>
              </a:solidFill>
              <a:hlinkClick r:id="rId3"/>
            </a:endParaRPr>
          </a:p>
        </p:txBody>
      </p:sp>
      <p:sp>
        <p:nvSpPr>
          <p:cNvPr id="181" name="Google Shape;181;p17"/>
          <p:cNvSpPr txBox="1">
            <a:spLocks noGrp="1"/>
          </p:cNvSpPr>
          <p:nvPr>
            <p:ph type="body" idx="1"/>
          </p:nvPr>
        </p:nvSpPr>
        <p:spPr>
          <a:xfrm>
            <a:off x="838200" y="20542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s-CO"/>
              <a:t>The study by Apple revealed that reasoning models (e.g., OpenAI’s o3, Meta’s Claude) suffer “complete accuracy collapse” on complex tasks, relying on pattern recognition rather than true reasoning.</a:t>
            </a:r>
            <a:endParaRPr/>
          </a:p>
          <a:p>
            <a:pPr marL="228600" lvl="0" indent="-50800" algn="just" rtl="0">
              <a:lnSpc>
                <a:spcPct val="90000"/>
              </a:lnSpc>
              <a:spcBef>
                <a:spcPts val="1000"/>
              </a:spcBef>
              <a:spcAft>
                <a:spcPts val="0"/>
              </a:spcAft>
              <a:buClr>
                <a:schemeClr val="dk1"/>
              </a:buClr>
              <a:buSzPts val="2800"/>
              <a:buNone/>
            </a:pPr>
            <a:endParaRPr/>
          </a:p>
          <a:p>
            <a:pPr marL="228600" lvl="0" indent="-228600" algn="just" rtl="0">
              <a:lnSpc>
                <a:spcPct val="90000"/>
              </a:lnSpc>
              <a:spcBef>
                <a:spcPts val="1000"/>
              </a:spcBef>
              <a:spcAft>
                <a:spcPts val="0"/>
              </a:spcAft>
              <a:buClr>
                <a:schemeClr val="dk1"/>
              </a:buClr>
              <a:buSzPts val="2800"/>
              <a:buChar char="•"/>
            </a:pPr>
            <a:r>
              <a:rPr lang="es-CO"/>
              <a:t>“Reasoning models don’t show generalized reasoning; their performance falls apart on complex tasks.”</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Meta: Pursuing Superintelligence with Skepticism on LLMs</a:t>
            </a:r>
            <a:endParaRPr/>
          </a:p>
        </p:txBody>
      </p:sp>
      <p:sp>
        <p:nvSpPr>
          <p:cNvPr id="187" name="Google Shape;187;p18"/>
          <p:cNvSpPr txBox="1">
            <a:spLocks noGrp="1"/>
          </p:cNvSpPr>
          <p:nvPr>
            <p:ph type="body" idx="1"/>
          </p:nvPr>
        </p:nvSpPr>
        <p:spPr>
          <a:xfrm>
            <a:off x="838200" y="203517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ct val="100000"/>
              <a:buChar char="•"/>
            </a:pPr>
            <a:r>
              <a:rPr lang="es-CO"/>
              <a:t>Meta is ambitious about superintelligence but doubts LLMs alone can achieve AGI or human-level intelligence.</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Meta’s Chief AI Scientist, Yann LeCun, criticizes LLMs as “intrinsically unsafe” and limited in logic, memory, and world understanding.</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Meta launched a Superintelligence Lab, offering massive compensation (up to $100M) to attract top researchers.</a:t>
            </a:r>
            <a:endParaRPr/>
          </a:p>
          <a:p>
            <a:pPr marL="0" lvl="0" indent="0"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Llama 4 underperformed compared to OpenAI/Google, prompting a shift to ambitious projects.</a:t>
            </a:r>
            <a:endParaRPr/>
          </a:p>
          <a:p>
            <a:pPr marL="228600" lvl="0" indent="-64135" algn="just" rtl="0">
              <a:lnSpc>
                <a:spcPct val="90000"/>
              </a:lnSpc>
              <a:spcBef>
                <a:spcPts val="1000"/>
              </a:spcBef>
              <a:spcAft>
                <a:spcPts val="0"/>
              </a:spcAft>
              <a:buClr>
                <a:schemeClr val="dk1"/>
              </a:buClr>
              <a:buSzPct val="100000"/>
              <a:buNone/>
            </a:pPr>
            <a:endParaRPr/>
          </a:p>
          <a:p>
            <a:pPr marL="228600" lvl="0" indent="-64135" algn="just" rtl="0">
              <a:lnSpc>
                <a:spcPct val="90000"/>
              </a:lnSpc>
              <a:spcBef>
                <a:spcPts val="1000"/>
              </a:spcBef>
              <a:spcAft>
                <a:spcPts val="0"/>
              </a:spcAft>
              <a:buClr>
                <a:schemeClr val="dk1"/>
              </a:buClr>
              <a:buSzPct val="100000"/>
              <a:buNone/>
            </a:pPr>
            <a:endParaRPr/>
          </a:p>
          <a:p>
            <a:pPr marL="228600" lvl="0" indent="-64135" algn="just" rtl="0">
              <a:lnSpc>
                <a:spcPct val="90000"/>
              </a:lnSpc>
              <a:spcBef>
                <a:spcPts val="1000"/>
              </a:spcBef>
              <a:spcAft>
                <a:spcPts val="0"/>
              </a:spcAft>
              <a:buClr>
                <a:schemeClr val="dk1"/>
              </a:buClr>
              <a:buSzPct val="100000"/>
              <a:buNone/>
            </a:pPr>
            <a:endParaRPr/>
          </a:p>
          <a:p>
            <a:pPr marL="228600" lvl="0" indent="-64135" algn="just" rtl="0">
              <a:lnSpc>
                <a:spcPct val="90000"/>
              </a:lnSpc>
              <a:spcBef>
                <a:spcPts val="1000"/>
              </a:spcBef>
              <a:spcAft>
                <a:spcPts val="0"/>
              </a:spcAft>
              <a:buClr>
                <a:schemeClr val="dk1"/>
              </a:buClr>
              <a:buSzPct val="100000"/>
              <a:buNone/>
            </a:pPr>
            <a:endParaRPr/>
          </a:p>
          <a:p>
            <a:pPr marL="228600" lvl="0" indent="-64135" algn="just" rtl="0">
              <a:lnSpc>
                <a:spcPct val="90000"/>
              </a:lnSpc>
              <a:spcBef>
                <a:spcPts val="1000"/>
              </a:spcBef>
              <a:spcAft>
                <a:spcPts val="0"/>
              </a:spcAft>
              <a:buClr>
                <a:schemeClr val="dk1"/>
              </a:buClr>
              <a:buSzPct val="100000"/>
              <a:buNone/>
            </a:pPr>
            <a:endParaRPr/>
          </a:p>
          <a:p>
            <a:pPr marL="228600" lvl="0" indent="-64135" algn="just" rtl="0">
              <a:lnSpc>
                <a:spcPct val="90000"/>
              </a:lnSpc>
              <a:spcBef>
                <a:spcPts val="1000"/>
              </a:spcBef>
              <a:spcAft>
                <a:spcPts val="0"/>
              </a:spcAft>
              <a:buClr>
                <a:schemeClr val="dk1"/>
              </a:buClr>
              <a:buSzPct val="1000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9"/>
          <p:cNvSpPr txBox="1">
            <a:spLocks noGrp="1"/>
          </p:cNvSpPr>
          <p:nvPr>
            <p:ph type="body" idx="1"/>
          </p:nvPr>
        </p:nvSpPr>
        <p:spPr>
          <a:xfrm>
            <a:off x="838200" y="1149350"/>
            <a:ext cx="10515600" cy="396557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s-CO"/>
              <a:t>Meta aims for transformative AI but rejects the LLM scaling paradigm, aligning with academic skepticism.</a:t>
            </a:r>
            <a:endParaRPr/>
          </a:p>
          <a:p>
            <a:pPr marL="228600" lvl="0" indent="-50800" algn="just" rtl="0">
              <a:lnSpc>
                <a:spcPct val="90000"/>
              </a:lnSpc>
              <a:spcBef>
                <a:spcPts val="1000"/>
              </a:spcBef>
              <a:spcAft>
                <a:spcPts val="0"/>
              </a:spcAft>
              <a:buClr>
                <a:schemeClr val="dk1"/>
              </a:buClr>
              <a:buSzPts val="2800"/>
              <a:buNone/>
            </a:pPr>
            <a:endParaRPr/>
          </a:p>
          <a:p>
            <a:pPr marL="228600" lvl="0" indent="-228600" algn="just" rtl="0">
              <a:lnSpc>
                <a:spcPct val="90000"/>
              </a:lnSpc>
              <a:spcBef>
                <a:spcPts val="1000"/>
              </a:spcBef>
              <a:spcAft>
                <a:spcPts val="0"/>
              </a:spcAft>
              <a:buClr>
                <a:schemeClr val="dk1"/>
              </a:buClr>
              <a:buSzPts val="2800"/>
              <a:buChar char="•"/>
            </a:pPr>
            <a:r>
              <a:rPr lang="es-CO"/>
              <a:t>Developing new AI architectures beyond LLMs, focusing on “common sense” and world models.</a:t>
            </a:r>
            <a:endParaRPr/>
          </a:p>
          <a:p>
            <a:pPr marL="0" lvl="0" indent="0" algn="just" rtl="0">
              <a:lnSpc>
                <a:spcPct val="90000"/>
              </a:lnSpc>
              <a:spcBef>
                <a:spcPts val="1000"/>
              </a:spcBef>
              <a:spcAft>
                <a:spcPts val="0"/>
              </a:spcAft>
              <a:buClr>
                <a:schemeClr val="dk1"/>
              </a:buClr>
              <a:buSzPts val="2800"/>
              <a:buNone/>
            </a:pPr>
            <a:endParaRPr/>
          </a:p>
          <a:p>
            <a:pPr marL="228600" lvl="0" indent="-228600" algn="just" rtl="0">
              <a:lnSpc>
                <a:spcPct val="90000"/>
              </a:lnSpc>
              <a:spcBef>
                <a:spcPts val="1000"/>
              </a:spcBef>
              <a:spcAft>
                <a:spcPts val="0"/>
              </a:spcAft>
              <a:buClr>
                <a:schemeClr val="dk1"/>
              </a:buClr>
              <a:buSzPts val="2800"/>
              <a:buChar char="•"/>
            </a:pPr>
            <a:r>
              <a:rPr lang="es-CO" u="sng">
                <a:solidFill>
                  <a:schemeClr val="hlink"/>
                </a:solidFill>
                <a:hlinkClick r:id="rId3"/>
              </a:rPr>
              <a:t>“We’re never going to reach human intelligence by training AI on text alone.” — Yann LeCun, 2025</a:t>
            </a:r>
            <a:endParaRPr/>
          </a:p>
          <a:p>
            <a:pPr marL="228600" lvl="0" indent="-50800" algn="l" rtl="0">
              <a:lnSpc>
                <a:spcPct val="90000"/>
              </a:lnSpc>
              <a:spcBef>
                <a:spcPts val="1000"/>
              </a:spcBef>
              <a:spcAft>
                <a:spcPts val="0"/>
              </a:spcAft>
              <a:buClr>
                <a:schemeClr val="dk1"/>
              </a:buClr>
              <a:buSzPts val="2800"/>
              <a:buNone/>
            </a:pPr>
            <a:endParaRPr/>
          </a:p>
        </p:txBody>
      </p:sp>
      <p:sp>
        <p:nvSpPr>
          <p:cNvPr id="193" name="Google Shape;193;p19">
            <a:hlinkClick r:id="rId4"/>
          </p:cNvPr>
          <p:cNvSpPr txBox="1"/>
          <p:nvPr/>
        </p:nvSpPr>
        <p:spPr>
          <a:xfrm>
            <a:off x="7753350" y="5185430"/>
            <a:ext cx="3600450"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2800"/>
              <a:buFont typeface="Arial"/>
              <a:buNone/>
            </a:pPr>
            <a:r>
              <a:rPr lang="es-CO" sz="2800">
                <a:solidFill>
                  <a:schemeClr val="dk1"/>
                </a:solidFill>
                <a:latin typeface="Arial"/>
                <a:ea typeface="Arial"/>
                <a:cs typeface="Arial"/>
                <a:sym typeface="Arial"/>
              </a:rPr>
              <a:t>JEPA I, Meta Ai, 2023</a:t>
            </a:r>
            <a:endParaRPr sz="2800">
              <a:solidFill>
                <a:schemeClr val="dk1"/>
              </a:solidFill>
              <a:latin typeface="Arial"/>
              <a:ea typeface="Arial"/>
              <a:cs typeface="Arial"/>
              <a:sym typeface="Arial"/>
            </a:endParaRPr>
          </a:p>
        </p:txBody>
      </p:sp>
      <p:sp>
        <p:nvSpPr>
          <p:cNvPr id="194" name="Google Shape;194;p19">
            <a:hlinkClick r:id="rId5"/>
          </p:cNvPr>
          <p:cNvSpPr txBox="1"/>
          <p:nvPr/>
        </p:nvSpPr>
        <p:spPr>
          <a:xfrm>
            <a:off x="7753350" y="5934075"/>
            <a:ext cx="424338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800">
                <a:solidFill>
                  <a:schemeClr val="dk1"/>
                </a:solidFill>
                <a:latin typeface="Arial"/>
                <a:ea typeface="Arial"/>
                <a:cs typeface="Arial"/>
                <a:sym typeface="Arial"/>
              </a:rPr>
              <a:t>V-JEPA 2, Meta Ai, 2025</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Nvidia: Enabling AI with World Models</a:t>
            </a:r>
            <a:endParaRPr/>
          </a:p>
        </p:txBody>
      </p:sp>
      <p:sp>
        <p:nvSpPr>
          <p:cNvPr id="200" name="Google Shape;200;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ct val="100000"/>
              <a:buChar char="•"/>
            </a:pPr>
            <a:r>
              <a:rPr lang="es-CO"/>
              <a:t>Nvidia supports the AI ecosystem by developing infrastructure and tools, including generative world models for robotics.</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CEO Jensen Huang unveiled Cosmos, a platform for creating virtual worlds to train robots, reducing costs and risks.</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Nvidia’s GPUs (e.g., H100, RTX 5090) power most AI training, making it a critical enabler.</a:t>
            </a:r>
            <a:endParaRPr/>
          </a:p>
          <a:p>
            <a:pPr marL="0" lvl="0" indent="0"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Supplies chips for AI models (e.g., Meta’s Llama trained on 16,000 Nvidia A100 GPUs).</a:t>
            </a:r>
            <a:endParaRPr/>
          </a:p>
          <a:p>
            <a:pPr marL="228600" lvl="0" indent="-64135" algn="just" rtl="0">
              <a:lnSpc>
                <a:spcPct val="90000"/>
              </a:lnSpc>
              <a:spcBef>
                <a:spcPts val="1000"/>
              </a:spcBef>
              <a:spcAft>
                <a:spcPts val="0"/>
              </a:spcAft>
              <a:buClr>
                <a:schemeClr val="dk1"/>
              </a:buClr>
              <a:buSzPct val="100000"/>
              <a:buNone/>
            </a:pPr>
            <a:endParaRPr/>
          </a:p>
          <a:p>
            <a:pPr marL="228600" lvl="0" indent="-64135" algn="just" rtl="0">
              <a:lnSpc>
                <a:spcPct val="90000"/>
              </a:lnSpc>
              <a:spcBef>
                <a:spcPts val="1000"/>
              </a:spcBef>
              <a:spcAft>
                <a:spcPts val="0"/>
              </a:spcAft>
              <a:buClr>
                <a:schemeClr val="dk1"/>
              </a:buClr>
              <a:buSzPct val="100000"/>
              <a:buNone/>
            </a:pPr>
            <a:endParaRPr/>
          </a:p>
          <a:p>
            <a:pPr marL="228600" lvl="0" indent="-64135" algn="just" rtl="0">
              <a:lnSpc>
                <a:spcPct val="90000"/>
              </a:lnSpc>
              <a:spcBef>
                <a:spcPts val="1000"/>
              </a:spcBef>
              <a:spcAft>
                <a:spcPts val="0"/>
              </a:spcAft>
              <a:buClr>
                <a:schemeClr val="dk1"/>
              </a:buClr>
              <a:buSzPct val="100000"/>
              <a:buNone/>
            </a:pPr>
            <a:endParaRPr/>
          </a:p>
          <a:p>
            <a:pPr marL="228600" lvl="0" indent="-64135" algn="just" rtl="0">
              <a:lnSpc>
                <a:spcPct val="90000"/>
              </a:lnSpc>
              <a:spcBef>
                <a:spcPts val="1000"/>
              </a:spcBef>
              <a:spcAft>
                <a:spcPts val="0"/>
              </a:spcAft>
              <a:buClr>
                <a:schemeClr val="dk1"/>
              </a:buClr>
              <a:buSzPct val="100000"/>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1"/>
          <p:cNvSpPr txBox="1">
            <a:spLocks noGrp="1"/>
          </p:cNvSpPr>
          <p:nvPr>
            <p:ph type="body" idx="1"/>
          </p:nvPr>
        </p:nvSpPr>
        <p:spPr>
          <a:xfrm>
            <a:off x="771524" y="882650"/>
            <a:ext cx="10582275" cy="56134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s-CO"/>
              <a:t>Predicts AI surpassing human test performance within 5 years, focusing on practical applications.</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s-CO"/>
              <a:t>Nvidia’s world models and hardware accelerate AI innovation, but it remains agnostic on AGI timelines.</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s-CO"/>
              <a:t>Food is information that can be printed in the near future, solving out major inefficiencies of grow and harvesting.</a:t>
            </a:r>
            <a:endParaRPr/>
          </a:p>
          <a:p>
            <a:pPr marL="0" lvl="0" indent="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s-CO" u="sng">
                <a:solidFill>
                  <a:schemeClr val="hlink"/>
                </a:solidFill>
                <a:hlinkClick r:id="rId3"/>
              </a:rPr>
              <a:t>“Cosmos generates synthetic data for training physical AI like robots.” — Jensen Huang, CES 2025</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2"/>
          <p:cNvSpPr txBox="1">
            <a:spLocks noGrp="1"/>
          </p:cNvSpPr>
          <p:nvPr>
            <p:ph type="title"/>
          </p:nvPr>
        </p:nvSpPr>
        <p:spPr>
          <a:xfrm>
            <a:off x="838200" y="124509"/>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Google: Racing Toward AGI with Transformers</a:t>
            </a:r>
            <a:endParaRPr/>
          </a:p>
        </p:txBody>
      </p:sp>
      <p:sp>
        <p:nvSpPr>
          <p:cNvPr id="211" name="Google Shape;211;p22"/>
          <p:cNvSpPr txBox="1">
            <a:spLocks noGrp="1"/>
          </p:cNvSpPr>
          <p:nvPr>
            <p:ph type="body" idx="1"/>
          </p:nvPr>
        </p:nvSpPr>
        <p:spPr>
          <a:xfrm>
            <a:off x="838200" y="1690688"/>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90000"/>
              </a:lnSpc>
              <a:spcBef>
                <a:spcPts val="0"/>
              </a:spcBef>
              <a:spcAft>
                <a:spcPts val="0"/>
              </a:spcAft>
              <a:buClr>
                <a:schemeClr val="dk1"/>
              </a:buClr>
              <a:buSzPct val="100000"/>
              <a:buChar char="•"/>
            </a:pPr>
            <a:r>
              <a:rPr lang="es-CO"/>
              <a:t>Google DeepMind is aggressively pursuing AGI, viewing it as a near-term goal (potentially by 2030).</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CEO Demis Hassabis predicts AGI within a decade, driven by transformer-based LLMs and reasoning models.</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Developing Gemini as a “full world model” for agentic AI that plans and acts across devices.</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Investing in generative world models and agentic coding systems for scientific breakthroughs.</a:t>
            </a:r>
            <a:endParaRPr/>
          </a:p>
        </p:txBody>
      </p:sp>
      <p:sp>
        <p:nvSpPr>
          <p:cNvPr id="212" name="Google Shape;212;p22"/>
          <p:cNvSpPr txBox="1"/>
          <p:nvPr/>
        </p:nvSpPr>
        <p:spPr>
          <a:xfrm>
            <a:off x="3286126" y="5867143"/>
            <a:ext cx="850582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400" u="sng">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“The final race to AGI is afoot; we must turbocharge our efforts.” — Sergey Brin, 2025</a:t>
            </a:r>
            <a:endParaRPr sz="24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OpenAI: Leading the AGI Charge with LLMs</a:t>
            </a:r>
            <a:endParaRPr/>
          </a:p>
        </p:txBody>
      </p:sp>
      <p:sp>
        <p:nvSpPr>
          <p:cNvPr id="218" name="Google Shape;218;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ct val="100000"/>
              <a:buChar char="•"/>
            </a:pPr>
            <a:r>
              <a:rPr lang="es-CO"/>
              <a:t>OpenAI is confident in achieving AGI soon, transitioning to superintelligence via LLMs and reasoning models.</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CEO Sam Altman claims OpenAI knows how to build superintelligent AI, predicting AGI by 2029.</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Released o1, a reasoning model that “thinks” before responding, improving complex task performance.</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Scaling LLMs with massive data and compute (e.g., GPT-4.5/Orion).</a:t>
            </a:r>
            <a:endParaRPr/>
          </a:p>
          <a:p>
            <a:pPr marL="228600" lvl="0" indent="-64135" algn="just" rtl="0">
              <a:lnSpc>
                <a:spcPct val="90000"/>
              </a:lnSpc>
              <a:spcBef>
                <a:spcPts val="1000"/>
              </a:spcBef>
              <a:spcAft>
                <a:spcPts val="0"/>
              </a:spcAft>
              <a:buClr>
                <a:schemeClr val="dk1"/>
              </a:buClr>
              <a:buSzPct val="1000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4"/>
          <p:cNvSpPr txBox="1">
            <a:spLocks noGrp="1"/>
          </p:cNvSpPr>
          <p:nvPr>
            <p:ph type="body" idx="1"/>
          </p:nvPr>
        </p:nvSpPr>
        <p:spPr>
          <a:xfrm>
            <a:off x="723900" y="701674"/>
            <a:ext cx="10515600" cy="5584825"/>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ct val="100000"/>
              <a:buChar char="•"/>
            </a:pPr>
            <a:r>
              <a:rPr lang="es-CO"/>
              <a:t>Collaborating with Broadcom for custom AI chips to reduce Nvidia dependency.</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AI consumes vast energy and compute (e.g., OpenAI’s Stargate Project needs power for 3M homes).</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Data scarcity looms as internet text is exhausted, pushing reliance on synthetic data.</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OpenAI’s aggressive push raises ethical and safety concerns, with critics noting lax security and misalignment risks.</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u="sng">
                <a:solidFill>
                  <a:schemeClr val="hlink"/>
                </a:solidFill>
                <a:hlinkClick r:id="rId3"/>
              </a:rPr>
              <a:t>“AGI will massively accelerate scientific discovery, however, singularity is not a point but different separate moments.” — Sam Altman, 2025</a:t>
            </a:r>
            <a:endParaRPr/>
          </a:p>
          <a:p>
            <a:pPr marL="0" lvl="0" indent="0" algn="just" rtl="0">
              <a:lnSpc>
                <a:spcPct val="90000"/>
              </a:lnSpc>
              <a:spcBef>
                <a:spcPts val="1000"/>
              </a:spcBef>
              <a:spcAft>
                <a:spcPts val="0"/>
              </a:spcAft>
              <a:buClr>
                <a:schemeClr val="dk1"/>
              </a:buClr>
              <a:buSzPct val="1000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xAi</a:t>
            </a:r>
            <a:endParaRPr/>
          </a:p>
        </p:txBody>
      </p:sp>
      <p:sp>
        <p:nvSpPr>
          <p:cNvPr id="229" name="Google Shape;229;p25"/>
          <p:cNvSpPr txBox="1">
            <a:spLocks noGrp="1"/>
          </p:cNvSpPr>
          <p:nvPr>
            <p:ph type="body" idx="1"/>
          </p:nvPr>
        </p:nvSpPr>
        <p:spPr>
          <a:xfrm>
            <a:off x="495299" y="1558924"/>
            <a:ext cx="11172825" cy="4860925"/>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ct val="100000"/>
              <a:buChar char="•"/>
            </a:pPr>
            <a:r>
              <a:rPr lang="es-CO"/>
              <a:t>Emphasizes “maximally truth-seeking” AI, avoiding “politically correct” biases in LLMs.</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Integrates with Tesla (autonomous driving) and X (data training), leveraging Musk’s ecosystem.</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Advocates “maximally curious” AI that seeks truth over ideological biases, criticizing “woke” AI systems.</a:t>
            </a:r>
            <a:endParaRPr/>
          </a:p>
          <a:p>
            <a:pPr marL="228600" lvl="0" indent="-64135" algn="just" rtl="0">
              <a:lnSpc>
                <a:spcPct val="90000"/>
              </a:lnSpc>
              <a:spcBef>
                <a:spcPts val="1000"/>
              </a:spcBef>
              <a:spcAft>
                <a:spcPts val="0"/>
              </a:spcAft>
              <a:buClr>
                <a:schemeClr val="dk1"/>
              </a:buClr>
              <a:buSzPct val="100000"/>
              <a:buNone/>
            </a:pPr>
            <a:endParaRPr/>
          </a:p>
          <a:p>
            <a:pPr marL="228600" lvl="0" indent="-228600" algn="just" rtl="0">
              <a:lnSpc>
                <a:spcPct val="90000"/>
              </a:lnSpc>
              <a:spcBef>
                <a:spcPts val="1000"/>
              </a:spcBef>
              <a:spcAft>
                <a:spcPts val="0"/>
              </a:spcAft>
              <a:buClr>
                <a:schemeClr val="dk1"/>
              </a:buClr>
              <a:buSzPct val="100000"/>
              <a:buChar char="•"/>
            </a:pPr>
            <a:r>
              <a:rPr lang="es-CO"/>
              <a:t>Estimates a 10–20% chance AI could “go bad,” posing a “significant existential threat” to humanity. Warns of “civilizational destruction” if AI develops unchecked, misuse for bioweapons.</a:t>
            </a:r>
            <a:endParaRPr/>
          </a:p>
          <a:p>
            <a:pPr marL="228600" lvl="0" indent="-64135" algn="just" rtl="0">
              <a:lnSpc>
                <a:spcPct val="90000"/>
              </a:lnSpc>
              <a:spcBef>
                <a:spcPts val="1000"/>
              </a:spcBef>
              <a:spcAft>
                <a:spcPts val="0"/>
              </a:spcAft>
              <a:buClr>
                <a:schemeClr val="dk1"/>
              </a:buClr>
              <a:buSzPct val="100000"/>
              <a:buNone/>
            </a:pPr>
            <a:endParaRPr/>
          </a:p>
          <a:p>
            <a:pPr marL="228600" lvl="0" indent="-64135" algn="just" rtl="0">
              <a:lnSpc>
                <a:spcPct val="90000"/>
              </a:lnSpc>
              <a:spcBef>
                <a:spcPts val="1000"/>
              </a:spcBef>
              <a:spcAft>
                <a:spcPts val="0"/>
              </a:spcAft>
              <a:buClr>
                <a:schemeClr val="dk1"/>
              </a:buClr>
              <a:buSzPct val="100000"/>
              <a:buNone/>
            </a:pPr>
            <a:endParaRPr/>
          </a:p>
          <a:p>
            <a:pPr marL="228600" lvl="0" indent="-64135" algn="just" rtl="0">
              <a:lnSpc>
                <a:spcPct val="90000"/>
              </a:lnSpc>
              <a:spcBef>
                <a:spcPts val="1000"/>
              </a:spcBef>
              <a:spcAft>
                <a:spcPts val="0"/>
              </a:spcAft>
              <a:buClr>
                <a:schemeClr val="dk1"/>
              </a:buClr>
              <a:buSzPct val="100000"/>
              <a:buNone/>
            </a:pPr>
            <a:endParaRPr/>
          </a:p>
          <a:p>
            <a:pPr marL="228600" lvl="0" indent="-64135" algn="just" rtl="0">
              <a:lnSpc>
                <a:spcPct val="90000"/>
              </a:lnSpc>
              <a:spcBef>
                <a:spcPts val="1000"/>
              </a:spcBef>
              <a:spcAft>
                <a:spcPts val="0"/>
              </a:spcAft>
              <a:buClr>
                <a:schemeClr val="dk1"/>
              </a:buClr>
              <a:buSzPct val="1000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4" name="Google Shape;234;p26"/>
          <p:cNvPicPr preferRelativeResize="0"/>
          <p:nvPr/>
        </p:nvPicPr>
        <p:blipFill rotWithShape="1">
          <a:blip r:embed="rId3">
            <a:alphaModFix/>
          </a:blip>
          <a:srcRect/>
          <a:stretch/>
        </p:blipFill>
        <p:spPr>
          <a:xfrm>
            <a:off x="894624" y="423443"/>
            <a:ext cx="10402752" cy="601111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27"/>
          <p:cNvPicPr preferRelativeResize="0"/>
          <p:nvPr/>
        </p:nvPicPr>
        <p:blipFill rotWithShape="1">
          <a:blip r:embed="rId3">
            <a:alphaModFix/>
          </a:blip>
          <a:srcRect/>
          <a:stretch/>
        </p:blipFill>
        <p:spPr>
          <a:xfrm>
            <a:off x="579864" y="254496"/>
            <a:ext cx="10716322" cy="643607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28"/>
          <p:cNvPicPr preferRelativeResize="0"/>
          <p:nvPr/>
        </p:nvPicPr>
        <p:blipFill rotWithShape="1">
          <a:blip r:embed="rId3">
            <a:alphaModFix/>
          </a:blip>
          <a:srcRect/>
          <a:stretch/>
        </p:blipFill>
        <p:spPr>
          <a:xfrm>
            <a:off x="390293" y="1414181"/>
            <a:ext cx="11259748" cy="430639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CO"/>
              <a:t>Anthrop|c: Focus on Security of Ai</a:t>
            </a:r>
            <a:endParaRPr/>
          </a:p>
        </p:txBody>
      </p:sp>
      <p:sp>
        <p:nvSpPr>
          <p:cNvPr id="250" name="Google Shape;250;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s-CO"/>
              <a:t>Adolescense of Technology</a:t>
            </a:r>
            <a:endParaRPr/>
          </a:p>
          <a:p>
            <a:pPr marL="0" lvl="0" indent="0" algn="l" rtl="0">
              <a:lnSpc>
                <a:spcPct val="90000"/>
              </a:lnSpc>
              <a:spcBef>
                <a:spcPts val="1000"/>
              </a:spcBef>
              <a:spcAft>
                <a:spcPts val="0"/>
              </a:spcAft>
              <a:buClr>
                <a:schemeClr val="dk1"/>
              </a:buClr>
              <a:buSzPts val="2400"/>
              <a:buNone/>
            </a:pPr>
            <a:r>
              <a:rPr lang="es-CO" sz="2400"/>
              <a:t>Confronting and Overcoming the Risks of Powerful AI, </a:t>
            </a:r>
            <a:endParaRPr/>
          </a:p>
          <a:p>
            <a:pPr marL="0" lvl="0" indent="0" algn="l" rtl="0">
              <a:lnSpc>
                <a:spcPct val="90000"/>
              </a:lnSpc>
              <a:spcBef>
                <a:spcPts val="1000"/>
              </a:spcBef>
              <a:spcAft>
                <a:spcPts val="0"/>
              </a:spcAft>
              <a:buClr>
                <a:schemeClr val="dk1"/>
              </a:buClr>
              <a:buSzPts val="2400"/>
              <a:buNone/>
            </a:pPr>
            <a:r>
              <a:rPr lang="es-CO" sz="2400"/>
              <a:t>Dario Amodei, CEO Anthropic, January 2026</a:t>
            </a:r>
            <a:endParaRPr/>
          </a:p>
          <a:p>
            <a:pPr marL="0" lvl="0" indent="0" algn="l" rtl="0">
              <a:lnSpc>
                <a:spcPct val="90000"/>
              </a:lnSpc>
              <a:spcBef>
                <a:spcPts val="1000"/>
              </a:spcBef>
              <a:spcAft>
                <a:spcPts val="0"/>
              </a:spcAft>
              <a:buClr>
                <a:schemeClr val="dk1"/>
              </a:buClr>
              <a:buSzPts val="2400"/>
              <a:buNone/>
            </a:pPr>
            <a:endParaRPr sz="2400"/>
          </a:p>
          <a:p>
            <a:pPr marL="0" lvl="0" indent="0" algn="l" rtl="0">
              <a:lnSpc>
                <a:spcPct val="90000"/>
              </a:lnSpc>
              <a:spcBef>
                <a:spcPts val="1000"/>
              </a:spcBef>
              <a:spcAft>
                <a:spcPts val="0"/>
              </a:spcAft>
              <a:buClr>
                <a:schemeClr val="dk1"/>
              </a:buClr>
              <a:buSzPts val="2400"/>
              <a:buNone/>
            </a:pPr>
            <a:endParaRPr sz="2400"/>
          </a:p>
          <a:p>
            <a:pPr marL="0" lvl="0" indent="0" algn="l" rtl="0">
              <a:lnSpc>
                <a:spcPct val="90000"/>
              </a:lnSpc>
              <a:spcBef>
                <a:spcPts val="1000"/>
              </a:spcBef>
              <a:spcAft>
                <a:spcPts val="0"/>
              </a:spcAft>
              <a:buClr>
                <a:schemeClr val="dk1"/>
              </a:buClr>
              <a:buSzPts val="2800"/>
              <a:buNone/>
            </a:pPr>
            <a:r>
              <a:rPr lang="es-CO" u="sng">
                <a:solidFill>
                  <a:schemeClr val="hlink"/>
                </a:solidFill>
                <a:hlinkClick r:id="rId3"/>
              </a:rPr>
              <a:t>This </a:t>
            </a:r>
            <a:r>
              <a:rPr lang="es-CO" b="1" u="sng">
                <a:solidFill>
                  <a:schemeClr val="hlink"/>
                </a:solidFill>
                <a:hlinkClick r:id="rId3"/>
              </a:rPr>
              <a:t>paper</a:t>
            </a:r>
            <a:r>
              <a:rPr lang="es-CO" u="sng">
                <a:solidFill>
                  <a:schemeClr val="hlink"/>
                </a:solidFill>
                <a:hlinkClick r:id="rId3"/>
              </a:rPr>
              <a:t> provides the first empirical example of a model engaging in alignment faking without being trained to do so</a:t>
            </a:r>
            <a:endParaRP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1401</Words>
  <Application>Microsoft Office PowerPoint</Application>
  <PresentationFormat>Panorámica</PresentationFormat>
  <Paragraphs>149</Paragraphs>
  <Slides>29</Slides>
  <Notes>29</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29</vt:i4>
      </vt:variant>
    </vt:vector>
  </HeadingPairs>
  <TitlesOfParts>
    <vt:vector size="32" baseType="lpstr">
      <vt:lpstr>Arial</vt:lpstr>
      <vt:lpstr>Play</vt:lpstr>
      <vt:lpstr>Tema de Office</vt:lpstr>
      <vt:lpstr>Prompt Engineering and Context Engineering</vt:lpstr>
      <vt:lpstr>Iterative Prompt Engineering</vt:lpstr>
      <vt:lpstr>Meta Prompting</vt:lpstr>
      <vt:lpstr>Context Engineering</vt:lpstr>
      <vt:lpstr>LLM Use Modes</vt:lpstr>
      <vt:lpstr>Presentación de PowerPoint</vt:lpstr>
      <vt:lpstr>Optimization and Reasoning LLMs</vt:lpstr>
      <vt:lpstr>Retrieval Augmented Generation (RAG)</vt:lpstr>
      <vt:lpstr>Presentación de PowerPoint</vt:lpstr>
      <vt:lpstr>Quantization</vt:lpstr>
      <vt:lpstr>Pruning</vt:lpstr>
      <vt:lpstr>Destillation (KD)</vt:lpstr>
      <vt:lpstr>Reinforcement Learning, RLAIF and RLHF</vt:lpstr>
      <vt:lpstr>From Gen AI to AgenticAi to AGI  </vt:lpstr>
      <vt:lpstr>Introduction</vt:lpstr>
      <vt:lpstr>Apple: Skeptical and Cautious</vt:lpstr>
      <vt:lpstr>The Illusion of Thinking, Apple, 2025</vt:lpstr>
      <vt:lpstr>Meta: Pursuing Superintelligence with Skepticism on LLMs</vt:lpstr>
      <vt:lpstr>Presentación de PowerPoint</vt:lpstr>
      <vt:lpstr>Nvidia: Enabling AI with World Models</vt:lpstr>
      <vt:lpstr>Presentación de PowerPoint</vt:lpstr>
      <vt:lpstr>Google: Racing Toward AGI with Transformers</vt:lpstr>
      <vt:lpstr>OpenAI: Leading the AGI Charge with LLMs</vt:lpstr>
      <vt:lpstr>Presentación de PowerPoint</vt:lpstr>
      <vt:lpstr>xAi</vt:lpstr>
      <vt:lpstr>Presentación de PowerPoint</vt:lpstr>
      <vt:lpstr>Presentación de PowerPoint</vt:lpstr>
      <vt:lpstr>Presentación de PowerPoint</vt:lpstr>
      <vt:lpstr>Anthrop|c: Focus on Security of Ai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John Robert Ballesteros Parra</dc:creator>
  <cp:lastModifiedBy>Bryan Steven Yama</cp:lastModifiedBy>
  <cp:revision>1</cp:revision>
  <dcterms:created xsi:type="dcterms:W3CDTF">2025-06-17T11:31:03Z</dcterms:created>
  <dcterms:modified xsi:type="dcterms:W3CDTF">2026-03-25T00:58:27Z</dcterms:modified>
</cp:coreProperties>
</file>