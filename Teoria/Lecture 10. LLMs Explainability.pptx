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0B5E38-D5A5-190A-1810-FFA35E785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27713D-0FFC-D69E-4F4C-5A3502C18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645844-B002-D58A-FB65-B3860670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CD1F26-B5BD-E1B6-184A-16E853E68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50A2BB-1250-5DC6-A542-2C21DB95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987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B6CF9-AE69-8E2B-14C9-23532E05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F329FC-32E4-6AFA-724B-164AD4AAD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AEB2C2-89C8-AA83-8CC3-853394DCB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3ECD52-9679-A658-FF93-E9C0799C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A60956-396C-5ECD-4E9B-99BE8927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3157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613B5-E638-B969-E1BD-DEC5B434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9B59DD-5272-D71E-C820-9D550A503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A69928-1BFF-1744-465F-7CFF3482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40FE5D-21F8-707A-2AB6-D47CB92F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BB37CF-EF35-070D-DA0C-1E25FCF9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53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51E3E-0979-FB74-957A-9E0DECB95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7898F-F457-4FC5-86D7-45D680DF0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1D3AC9-EEDC-8218-B7C5-4F3F85521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200828-93FC-E2C6-126B-76AC8B9C2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BDE1A1-B689-3DAB-53A7-8DACD945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712CE6-04FB-47DA-EFF0-8D1AC1FC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989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96473-7721-4444-9A84-B57B10DDF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1BBD24-4A92-3CDB-1243-A6EC92793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404D65-5031-3EC5-D6E0-A53A1186C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79EFCF-7C2A-01E3-9023-A0B1659A9D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C64507-9494-36C4-95DB-0FD2EEF53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C37038-A1C9-C70F-B18A-CF5997AA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9DE65D7-BE49-06F2-562A-E78439024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C84BED7-77C5-FEEE-1F06-D833CAB0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019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7877B-3BC2-78D3-B429-00AACB99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EF50909-7AC1-77BC-7F66-9A25FEF2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C4C42E9-BBA0-B2CA-5746-66420549D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33D8A9D-F477-CD00-5009-488BEC6F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351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5E70F69-6453-2B73-AF64-BF8E4967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D2FD001-872E-9048-5CEA-7BD61785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926CA3-5988-7227-76BA-11D90E2E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3638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5CA1F-3E0D-8941-11CB-57092E74B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D49FD1-5497-A67A-BC35-934705C4B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A05708-8CD6-BCFB-F820-4595CED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A80270-E164-CAD9-DF24-8DE38111B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BBA09C-925D-CD4C-DF82-431F66205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7D2D66-5320-CAB2-E10B-EC22D4D0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482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74DC2-A0BB-6F8F-97F2-6D50D885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660EDF-27BA-F0B9-6EDA-6D8599CBD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A4BBD2-9102-0FEC-7CA6-26870F94B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07A433-8B0C-535C-B8B8-91080F730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AFA7EE-C9B1-1EB9-1C38-A60338269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502765-131C-9249-D521-83AB5106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1541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AAA52-797C-E7F7-54AA-771B2CB9B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D42674-C614-9F2E-709C-E49FE0AC0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4B82A1-7BA1-5567-2EF2-426EDE7E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05F492-FAC4-7C05-6009-817EFAE8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296087-4300-359E-520A-D911AE6A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143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0561F4-57D9-960B-89BD-B06649AFB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8D5E66-530E-D423-65AB-A1AA250F5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D0A299-EDEA-727F-620E-8FD85C1A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306672-073F-64BC-3F55-945A36CC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A088AA-2FCC-D9AA-183D-69EF89016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367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967EF6-4CC3-9C09-9C7C-1DF2EC9CE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A0A46-E47B-FA6F-E767-5ED384BE6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EC4FDC-739F-E216-3F94-5A3386903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63414-73CD-4C50-9B81-ED55A691ACD8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DBB847-78CC-099C-466D-0F6DF86433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E77DEF-6013-5372-0C68-138E3DACB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D14214-E335-4DB4-9D54-AC6F1919274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0214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7DD37-8D9F-085E-ED43-83EEEF03F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err="1"/>
              <a:t>LLMs</a:t>
            </a:r>
            <a:r>
              <a:rPr lang="es-CO" dirty="0"/>
              <a:t> </a:t>
            </a:r>
            <a:r>
              <a:rPr lang="es-CO" dirty="0" err="1"/>
              <a:t>Explainability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70E0F-39FD-8B8E-F029-F924022BCE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dirty="0" err="1"/>
              <a:t>Unlocking</a:t>
            </a:r>
            <a:r>
              <a:rPr lang="es-MX" b="1" dirty="0"/>
              <a:t> LLM Black Boxes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2984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475A3-06DF-39A0-3E9E-E9ED0C92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Applications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1AB5D4-B3AD-46FE-C6F7-4FEF1BE72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reveal</a:t>
            </a:r>
            <a:r>
              <a:rPr lang="es-MX" dirty="0"/>
              <a:t> </a:t>
            </a:r>
            <a:r>
              <a:rPr lang="es-MX" dirty="0" err="1"/>
              <a:t>algorithms</a:t>
            </a:r>
            <a:r>
              <a:rPr lang="es-MX" dirty="0"/>
              <a:t> </a:t>
            </a:r>
            <a:r>
              <a:rPr lang="es-MX" dirty="0" err="1"/>
              <a:t>behind</a:t>
            </a:r>
            <a:r>
              <a:rPr lang="es-MX" dirty="0"/>
              <a:t> </a:t>
            </a:r>
            <a:r>
              <a:rPr lang="es-MX" dirty="0" err="1"/>
              <a:t>emergent</a:t>
            </a:r>
            <a:r>
              <a:rPr lang="es-MX" dirty="0"/>
              <a:t> </a:t>
            </a:r>
            <a:r>
              <a:rPr lang="es-MX" dirty="0" err="1"/>
              <a:t>behaviors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da-DK" dirty="0"/>
              <a:t>Constitutional AI for safer models.</a:t>
            </a:r>
          </a:p>
          <a:p>
            <a:endParaRPr lang="da-DK" dirty="0"/>
          </a:p>
          <a:p>
            <a:r>
              <a:rPr lang="es-MX" dirty="0" err="1"/>
              <a:t>Identify</a:t>
            </a:r>
            <a:r>
              <a:rPr lang="es-MX" dirty="0"/>
              <a:t> factual </a:t>
            </a:r>
            <a:r>
              <a:rPr lang="es-MX" dirty="0" err="1"/>
              <a:t>recall</a:t>
            </a:r>
            <a:r>
              <a:rPr lang="es-MX" dirty="0"/>
              <a:t>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bias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dirty="0"/>
              <a:t>Energy </a:t>
            </a:r>
            <a:r>
              <a:rPr lang="es-MX" dirty="0" err="1"/>
              <a:t>efficiency</a:t>
            </a:r>
            <a:endParaRPr lang="es-MX" dirty="0"/>
          </a:p>
          <a:p>
            <a:endParaRPr lang="es-MX" dirty="0"/>
          </a:p>
          <a:p>
            <a:r>
              <a:rPr lang="es-MX" dirty="0" err="1"/>
              <a:t>Reducing</a:t>
            </a:r>
            <a:r>
              <a:rPr lang="es-MX" dirty="0"/>
              <a:t> </a:t>
            </a:r>
            <a:r>
              <a:rPr lang="es-MX" dirty="0" err="1"/>
              <a:t>hallucinations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40570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483A2-2C69-B26F-8D2E-2EA1AAEB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Shift in LLM Explainability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E21A16-FC83-9034-640C-6351F8EED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are moving away from guessing why a model said something to </a:t>
            </a:r>
            <a:r>
              <a:rPr lang="en-US" i="1" dirty="0"/>
              <a:t>Mechanistic</a:t>
            </a:r>
            <a:r>
              <a:rPr lang="en-US" dirty="0"/>
              <a:t> explanations, mapping the actual neural circuits.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As models hit trillion-parameter scales, simple heatmaps are no longer sufficient. Explainability is now a safety requirement, not just a feature.</a:t>
            </a:r>
          </a:p>
          <a:p>
            <a:endParaRPr lang="en-US" dirty="0"/>
          </a:p>
          <a:p>
            <a:r>
              <a:rPr lang="en-US" dirty="0"/>
              <a:t>LLMs don't just store facts; they develop functional "circuits" (e.g., an "indirect object identification" circuit).</a:t>
            </a:r>
          </a:p>
          <a:p>
            <a:endParaRPr lang="en-US" dirty="0"/>
          </a:p>
          <a:p>
            <a:r>
              <a:rPr lang="en-US" dirty="0"/>
              <a:t>We can now isolate specific neurons responsible for grammar, math, or even deceptive reasoning.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1817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B38EB-C61E-9B6B-A292-5551F0C4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Feature</a:t>
            </a:r>
            <a:r>
              <a:rPr lang="es-MX" b="1" dirty="0"/>
              <a:t> Discovery: </a:t>
            </a:r>
            <a:r>
              <a:rPr lang="en-US" dirty="0"/>
              <a:t>Mapping the Mind of a Model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C6321-508C-96E4-4582-99515B447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Researchers found that models use "superposition" (one neuron doing many jobs).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By using Sparse Autoencoders, we can "un-mix" these neurons into millions of interpretable "features" (e.g., a feature that only fires for "The Golden Gate Bridge").</a:t>
            </a:r>
          </a:p>
          <a:p>
            <a:endParaRPr lang="en-US" dirty="0"/>
          </a:p>
          <a:p>
            <a:r>
              <a:rPr lang="en-US" dirty="0"/>
              <a:t>Researchers identified that LLMs store facts in specific "Key-Value" pairs within Feed-Forward Networks (FFNs).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83446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0F86D-42E7-FB9D-4737-FD4736EC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CoT</a:t>
            </a:r>
            <a:r>
              <a:rPr lang="es-CO" dirty="0"/>
              <a:t> lie: </a:t>
            </a:r>
            <a:r>
              <a:rPr lang="en-US" dirty="0"/>
              <a:t>to achieve granular control over model output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BA0E78-59FF-317A-B90A-A6DED6151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Research (e.g., Turpin et al.) shows that </a:t>
            </a:r>
            <a:r>
              <a:rPr lang="en-US" dirty="0" err="1"/>
              <a:t>CoT</a:t>
            </a:r>
            <a:r>
              <a:rPr lang="en-US" dirty="0"/>
              <a:t> can be "unfaithful.“</a:t>
            </a:r>
          </a:p>
          <a:p>
            <a:endParaRPr lang="en-US" dirty="0"/>
          </a:p>
          <a:p>
            <a:r>
              <a:rPr lang="en-US" dirty="0"/>
              <a:t> A model might give a correct logical explanation but actually be biased by a hidden prompt or a pattern in the training data.</a:t>
            </a:r>
          </a:p>
          <a:p>
            <a:endParaRPr lang="en-US" dirty="0"/>
          </a:p>
          <a:p>
            <a:r>
              <a:rPr lang="en-US" dirty="0" err="1"/>
              <a:t>CoT</a:t>
            </a:r>
            <a:r>
              <a:rPr lang="en-US" dirty="0"/>
              <a:t> is a </a:t>
            </a:r>
            <a:r>
              <a:rPr lang="en-US" i="1" dirty="0"/>
              <a:t>justification</a:t>
            </a:r>
            <a:r>
              <a:rPr lang="en-US" dirty="0"/>
              <a:t>, not necessarily a </a:t>
            </a:r>
            <a:r>
              <a:rPr lang="en-US" i="1" dirty="0"/>
              <a:t>process</a:t>
            </a:r>
            <a:r>
              <a:rPr lang="en-US" dirty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034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5A592-6556-EE46-8F01-EFF832F3C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 err="1"/>
              <a:t>Influence</a:t>
            </a:r>
            <a:r>
              <a:rPr lang="es-MX" b="1" dirty="0"/>
              <a:t> </a:t>
            </a:r>
            <a:r>
              <a:rPr lang="es-MX" b="1" dirty="0" err="1"/>
              <a:t>Functions</a:t>
            </a:r>
            <a:r>
              <a:rPr lang="es-MX" b="1" dirty="0"/>
              <a:t> &amp; Data </a:t>
            </a:r>
            <a:r>
              <a:rPr lang="es-MX" b="1" dirty="0" err="1"/>
              <a:t>Attribution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82520A-375A-BD4E-0064-C6EFEBFB5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did you learn this?   Tracing model outputs back to specific training documents.</a:t>
            </a:r>
          </a:p>
          <a:p>
            <a:endParaRPr lang="en-US" dirty="0"/>
          </a:p>
          <a:p>
            <a:r>
              <a:rPr lang="en-US" dirty="0"/>
              <a:t>Methods like "Self-Influence Functions" allow us to see which 0.001% of the training data caused a specific hallucination or bias.</a:t>
            </a:r>
          </a:p>
          <a:p>
            <a:endParaRPr lang="en-US" dirty="0"/>
          </a:p>
          <a:p>
            <a:r>
              <a:rPr lang="en-US" dirty="0"/>
              <a:t>Critical for copyright law and "Right to be Forgotten" (deleting specific data influence without retraining).</a:t>
            </a:r>
          </a:p>
          <a:p>
            <a:endParaRPr lang="en-US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33678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001F2-B62E-2B77-8F35-AC618944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Hallucination</a:t>
            </a:r>
            <a:r>
              <a:rPr lang="es-MX" b="1" dirty="0"/>
              <a:t> </a:t>
            </a:r>
            <a:r>
              <a:rPr lang="es-MX" b="1" dirty="0" err="1"/>
              <a:t>Detection</a:t>
            </a:r>
            <a:r>
              <a:rPr lang="es-MX" b="1" dirty="0"/>
              <a:t> </a:t>
            </a:r>
            <a:r>
              <a:rPr lang="es-MX" b="1" dirty="0" err="1"/>
              <a:t>via</a:t>
            </a:r>
            <a:r>
              <a:rPr lang="es-MX" b="1" dirty="0"/>
              <a:t> </a:t>
            </a:r>
            <a:r>
              <a:rPr lang="es-MX" b="1" dirty="0" err="1"/>
              <a:t>Internal</a:t>
            </a:r>
            <a:r>
              <a:rPr lang="es-MX" b="1" dirty="0"/>
              <a:t> </a:t>
            </a:r>
            <a:r>
              <a:rPr lang="es-MX" b="1" dirty="0" err="1"/>
              <a:t>States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EA2A89-F759-8A30-E4CA-4A3AE5CB1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LLMs often "know" they are lying. Internal probes can detect a "truthfulness" signal in the hidden layers before the word is even generated.</a:t>
            </a:r>
          </a:p>
          <a:p>
            <a:endParaRPr lang="en-US" dirty="0"/>
          </a:p>
          <a:p>
            <a:r>
              <a:rPr lang="en-US" dirty="0"/>
              <a:t>If the model's internal entropy is high, the explanation is likely a hallucination.</a:t>
            </a:r>
          </a:p>
          <a:p>
            <a:endParaRPr lang="en-US" dirty="0"/>
          </a:p>
          <a:p>
            <a:r>
              <a:rPr lang="en-US" dirty="0"/>
              <a:t> Instead of retraining, we can "edit" a model's knowledge.</a:t>
            </a:r>
          </a:p>
          <a:p>
            <a:endParaRPr lang="en-US" dirty="0"/>
          </a:p>
          <a:p>
            <a:r>
              <a:rPr lang="en-US" dirty="0"/>
              <a:t>Identifying "Rank-One" updates. We can find the exact spot where a model stores the fact "The Eiffel Tower is in Paris" and change "Paris" to "Rome" without affecting other knowledge.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868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9E0F3-F092-6736-DC71-71B7E38E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Multi modal and Adversarial </a:t>
            </a:r>
            <a:r>
              <a:rPr lang="es-MX" b="1" dirty="0" err="1"/>
              <a:t>Explainability</a:t>
            </a:r>
            <a:r>
              <a:rPr lang="es-MX" b="1" dirty="0"/>
              <a:t> &amp; Safety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5E16B9-ECFD-CEC5-2849-AD1A08F25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2025/26 research is focusing on "Circuit Breaking"—hard-coding safety into the model architecture so it cannot be bypassed by clever prompting.</a:t>
            </a:r>
          </a:p>
          <a:p>
            <a:endParaRPr lang="en-US" dirty="0"/>
          </a:p>
          <a:p>
            <a:r>
              <a:rPr lang="en-US" dirty="0"/>
              <a:t>Models often "hallucinate" visual details based on linguistic stereotypes (e.g., seeing a doctor as male because the text context implies it).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1202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10197-5450-BEAD-154A-60185E321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Research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Law</a:t>
            </a:r>
            <a:r>
              <a:rPr lang="es-MX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862AEF-5D16-7D2A-990F-B7E5F555D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EU AI Act and US Executive Orders.</a:t>
            </a:r>
          </a:p>
          <a:p>
            <a:endParaRPr lang="en-US" dirty="0"/>
          </a:p>
          <a:p>
            <a:r>
              <a:rPr lang="en-US" dirty="0"/>
              <a:t>By 2026, companies deploying AI in "High Risk" sectors (Health, Finance, Hiring) must provide "meaningful explanations" of AI decisions.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06317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FA711-98A7-B97B-39B2-A2F1DE69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Bibliography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D67B68-2C49-2776-1B17-BDC9C9810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Anthropic (2024):</a:t>
            </a:r>
            <a:r>
              <a:rPr lang="en-US" dirty="0"/>
              <a:t> </a:t>
            </a:r>
            <a:r>
              <a:rPr lang="en-US" i="1" dirty="0"/>
              <a:t>"Mapping the Mind of Large Language Models"</a:t>
            </a:r>
            <a:r>
              <a:rPr lang="en-US" dirty="0"/>
              <a:t> (On Sparse Autoencoders).</a:t>
            </a:r>
          </a:p>
          <a:p>
            <a:r>
              <a:rPr lang="en-US" b="1" dirty="0"/>
              <a:t>Turpin et al. (2023):</a:t>
            </a:r>
            <a:r>
              <a:rPr lang="en-US" dirty="0"/>
              <a:t> </a:t>
            </a:r>
            <a:r>
              <a:rPr lang="en-US" i="1" dirty="0"/>
              <a:t>"Language Models Don't Always Say What They Think"</a:t>
            </a:r>
            <a:r>
              <a:rPr lang="en-US" dirty="0"/>
              <a:t> (On </a:t>
            </a:r>
            <a:r>
              <a:rPr lang="en-US" dirty="0" err="1"/>
              <a:t>CoT</a:t>
            </a:r>
            <a:r>
              <a:rPr lang="en-US" dirty="0"/>
              <a:t> unfaithfulness).</a:t>
            </a:r>
          </a:p>
          <a:p>
            <a:r>
              <a:rPr lang="en-US" b="1" dirty="0"/>
              <a:t>Meng et al. (2023):</a:t>
            </a:r>
            <a:r>
              <a:rPr lang="en-US" dirty="0"/>
              <a:t> </a:t>
            </a:r>
            <a:r>
              <a:rPr lang="en-US" i="1" dirty="0"/>
              <a:t>"Mass-Editing Memory in Transformer Models"</a:t>
            </a:r>
            <a:r>
              <a:rPr lang="en-US" dirty="0"/>
              <a:t> (The MEMIT paper).</a:t>
            </a:r>
          </a:p>
          <a:p>
            <a:r>
              <a:rPr lang="en-US" b="1" dirty="0"/>
              <a:t>Gurnee et al. (2024):</a:t>
            </a:r>
            <a:r>
              <a:rPr lang="en-US" dirty="0"/>
              <a:t> </a:t>
            </a:r>
            <a:r>
              <a:rPr lang="en-US" i="1" dirty="0"/>
              <a:t>"Language Models Represent Space and Time"</a:t>
            </a:r>
            <a:r>
              <a:rPr lang="en-US" dirty="0"/>
              <a:t> (On internal world models).</a:t>
            </a:r>
          </a:p>
          <a:p>
            <a:r>
              <a:rPr lang="en-US" b="1" dirty="0"/>
              <a:t>Belrose et al. (2023):</a:t>
            </a:r>
            <a:r>
              <a:rPr lang="en-US" dirty="0"/>
              <a:t> </a:t>
            </a:r>
            <a:r>
              <a:rPr lang="en-US" i="1" dirty="0"/>
              <a:t>"Eliciting Latent Knowledge"</a:t>
            </a:r>
            <a:r>
              <a:rPr lang="en-US" dirty="0"/>
              <a:t> (The "Truthful" signal research).</a:t>
            </a:r>
          </a:p>
        </p:txBody>
      </p:sp>
    </p:spTree>
    <p:extLst>
      <p:ext uri="{BB962C8B-B14F-4D97-AF65-F5344CB8AC3E}">
        <p14:creationId xmlns:p14="http://schemas.microsoft.com/office/powerpoint/2010/main" val="943384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43EC-EC2B-9C35-1926-936BD026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AFCD6-2AA6-A1C1-2DC2-9CFD4B52BC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err="1"/>
              <a:t>LLMs</a:t>
            </a:r>
            <a:r>
              <a:rPr lang="es-CO" dirty="0"/>
              <a:t> Continuos </a:t>
            </a:r>
            <a:r>
              <a:rPr lang="es-CO" dirty="0" err="1"/>
              <a:t>Learning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33FA91-2EEB-62FE-4856-21167CE64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3592513"/>
            <a:ext cx="9144000" cy="1655762"/>
          </a:xfrm>
        </p:spPr>
        <p:txBody>
          <a:bodyPr/>
          <a:lstStyle/>
          <a:p>
            <a:r>
              <a:rPr lang="en-US" b="1" dirty="0"/>
              <a:t>Moving from "Batch Training" to "Online Learning"</a:t>
            </a:r>
          </a:p>
          <a:p>
            <a:endParaRPr lang="es-CO" dirty="0"/>
          </a:p>
          <a:p>
            <a:r>
              <a:rPr lang="es-CO" dirty="0"/>
              <a:t>John Ballesteros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6599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F7D72-9E50-2DA6-0A19-5ABA0C2D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The</a:t>
            </a:r>
            <a:r>
              <a:rPr lang="es-MX" b="1" dirty="0"/>
              <a:t> "</a:t>
            </a:r>
            <a:r>
              <a:rPr lang="es-MX" b="1" dirty="0" err="1"/>
              <a:t>Catastrophic</a:t>
            </a:r>
            <a:r>
              <a:rPr lang="es-MX" b="1" dirty="0"/>
              <a:t> </a:t>
            </a:r>
            <a:r>
              <a:rPr lang="es-MX" b="1" dirty="0" err="1"/>
              <a:t>Forgetting</a:t>
            </a:r>
            <a:r>
              <a:rPr lang="es-MX" b="1" dirty="0"/>
              <a:t>" </a:t>
            </a:r>
            <a:r>
              <a:rPr lang="es-MX" b="1" dirty="0" err="1"/>
              <a:t>Barrier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223D46-A092-ABEE-5A66-BA4C99665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LLMs are "frozen" in time. If you fine-tune them on new data (e.g., 2025 news), they suffer from </a:t>
            </a:r>
            <a:r>
              <a:rPr lang="en-US" b="1" dirty="0"/>
              <a:t>Catastrophic Forgetting</a:t>
            </a:r>
            <a:r>
              <a:rPr lang="en-US" dirty="0"/>
              <a:t>, where the new weights overwrite and destroy the model's original general reasoning capabilities.</a:t>
            </a:r>
          </a:p>
          <a:p>
            <a:endParaRPr lang="en-US" dirty="0"/>
          </a:p>
          <a:p>
            <a:r>
              <a:rPr lang="en-US" dirty="0"/>
              <a:t>Research has proven that "Rehearsal-based" methods (mixing a tiny bit of old data with the new data) is the most effective baseline, but it is not scalable for trillion-parameter models.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3128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79955-7004-85D9-A9B8-F537748B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Parameter-Efficient Continuous Learning (PEFT &amp; </a:t>
            </a:r>
            <a:r>
              <a:rPr lang="en-US" b="1" dirty="0" err="1"/>
              <a:t>LoRA</a:t>
            </a:r>
            <a:r>
              <a:rPr lang="en-US" b="1" dirty="0"/>
              <a:t>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4709EF-4128-605D-FB3A-B30FDF85D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Researchers found that we don't need to update all parameters to learn new tasks. By using </a:t>
            </a:r>
            <a:r>
              <a:rPr lang="en-US" b="1" dirty="0" err="1"/>
              <a:t>LoRA</a:t>
            </a:r>
            <a:r>
              <a:rPr lang="en-US" b="1" dirty="0"/>
              <a:t> (Low-Rank Adaptation)</a:t>
            </a:r>
            <a:r>
              <a:rPr lang="en-US" dirty="0"/>
              <a:t> or </a:t>
            </a:r>
            <a:r>
              <a:rPr lang="en-US" b="1" dirty="0"/>
              <a:t>Adapters</a:t>
            </a:r>
            <a:r>
              <a:rPr lang="en-US" dirty="0"/>
              <a:t>, we can freeze the "base brain" and only train tiny "plug-in" modules for new information.</a:t>
            </a:r>
          </a:p>
          <a:p>
            <a:endParaRPr lang="en-US" dirty="0"/>
          </a:p>
          <a:p>
            <a:r>
              <a:rPr lang="en-US" dirty="0"/>
              <a:t>The model dynamically "plugs in" the relevant knowledge module based on the user's query without ever altering the core model.</a:t>
            </a:r>
          </a:p>
          <a:p>
            <a:endParaRPr lang="en-US" dirty="0"/>
          </a:p>
          <a:p>
            <a:r>
              <a:rPr lang="en-US" dirty="0" err="1"/>
              <a:t>MoE</a:t>
            </a:r>
            <a:r>
              <a:rPr lang="en-US" dirty="0"/>
              <a:t> architectures (GPT-4 and </a:t>
            </a:r>
            <a:r>
              <a:rPr lang="en-US" dirty="0" err="1"/>
              <a:t>Mixtral</a:t>
            </a:r>
            <a:r>
              <a:rPr lang="en-US" dirty="0"/>
              <a:t>) are suited for continuous learning, e.g., adding a "Medical Expert" block in 2025 to a 2023 base model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21314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C30D8-FE06-60E6-3FFE-62B15B42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MEMIT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581E6-6FFE-C5A2-8633-CCBB61FE1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Techniques like </a:t>
            </a:r>
            <a:r>
              <a:rPr lang="en-US" b="1" dirty="0"/>
              <a:t>MEMIT</a:t>
            </a:r>
            <a:r>
              <a:rPr lang="en-US" dirty="0"/>
              <a:t> allow us to "write" new facts directly into the model's weights like a hard drive, without a full training run.</a:t>
            </a:r>
          </a:p>
          <a:p>
            <a:endParaRPr lang="en-US" dirty="0"/>
          </a:p>
          <a:p>
            <a:r>
              <a:rPr lang="en-US" dirty="0"/>
              <a:t>Real-time "Knowledge Patches." When a world event happens, a "patch" is issued and surgically injected into the LLM within minutes, ensuring the model is never out of date.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99823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6144F-5F9C-5E5E-FBE2-EECAAB24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Adaptive "Living" </a:t>
            </a:r>
            <a:r>
              <a:rPr lang="es-MX" b="1" dirty="0" err="1"/>
              <a:t>Models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F3B1C7-F67D-5CEA-1D30-D568824FF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Moving away from retraining and toward </a:t>
            </a:r>
            <a:r>
              <a:rPr lang="en-US" b="1" dirty="0"/>
              <a:t>Long-Context RAG (Retrieval-Augmented Generation)</a:t>
            </a:r>
            <a:r>
              <a:rPr lang="en-US" dirty="0"/>
              <a:t> as a form of "Virtual" Continuous Learning.</a:t>
            </a:r>
          </a:p>
          <a:p>
            <a:endParaRPr lang="en-US" dirty="0"/>
          </a:p>
          <a:p>
            <a:r>
              <a:rPr lang="en-US" dirty="0"/>
              <a:t>models can "learn" by simply keeping the latest data in their active working memory, rather than changing their weights.</a:t>
            </a:r>
          </a:p>
          <a:p>
            <a:endParaRPr lang="en-US" dirty="0"/>
          </a:p>
          <a:p>
            <a:r>
              <a:rPr lang="en-US" dirty="0"/>
              <a:t>Models will have a "Slow Brain" (frozen core weights for reasoning) and a "Fast Brain" (a dynamic, continuously updated database/adapter layer) that syncs daily with the internet.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62271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23DC4-7369-D27C-167F-92B71C7E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References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91DEA3-5625-0F5D-EB24-1A8530824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Wang et al. (2023):</a:t>
            </a:r>
            <a:r>
              <a:rPr lang="en-US" dirty="0"/>
              <a:t> </a:t>
            </a:r>
            <a:r>
              <a:rPr lang="en-US" i="1" dirty="0"/>
              <a:t>"A Comprehensive Survey of Continual Learning in the Era of LLMs."</a:t>
            </a:r>
            <a:endParaRPr lang="en-US" dirty="0"/>
          </a:p>
          <a:p>
            <a:r>
              <a:rPr lang="en-US" b="1" dirty="0"/>
              <a:t>Hu et al. (2023):</a:t>
            </a:r>
            <a:r>
              <a:rPr lang="en-US" dirty="0"/>
              <a:t> </a:t>
            </a:r>
            <a:r>
              <a:rPr lang="en-US" i="1" dirty="0"/>
              <a:t>"</a:t>
            </a:r>
            <a:r>
              <a:rPr lang="en-US" i="1" dirty="0" err="1"/>
              <a:t>LoRA</a:t>
            </a:r>
            <a:r>
              <a:rPr lang="en-US" i="1" dirty="0"/>
              <a:t>: Low-Rank Adaptation of Large Language Models"</a:t>
            </a:r>
            <a:r>
              <a:rPr lang="en-US" dirty="0"/>
              <a:t> (The foundation for modular learning).</a:t>
            </a:r>
          </a:p>
          <a:p>
            <a:r>
              <a:rPr lang="en-US" b="1" dirty="0"/>
              <a:t>Meng et al. (2023/24):</a:t>
            </a:r>
            <a:r>
              <a:rPr lang="en-US" dirty="0"/>
              <a:t> </a:t>
            </a:r>
            <a:r>
              <a:rPr lang="en-US" i="1" dirty="0"/>
              <a:t>"Mass-Editing Memory in Transformer Models"</a:t>
            </a:r>
            <a:r>
              <a:rPr lang="en-US" dirty="0"/>
              <a:t> (The ROME/MEMIT breakthroughs).</a:t>
            </a:r>
          </a:p>
          <a:p>
            <a:r>
              <a:rPr lang="en-US" b="1" dirty="0"/>
              <a:t>Google DeepMind (2024):</a:t>
            </a:r>
            <a:r>
              <a:rPr lang="en-US" dirty="0"/>
              <a:t> </a:t>
            </a:r>
            <a:r>
              <a:rPr lang="en-US" i="1" dirty="0"/>
              <a:t>"Orthogonal Fine-tuning"</a:t>
            </a:r>
            <a:r>
              <a:rPr lang="en-US" dirty="0"/>
              <a:t> (Methods to prevent new knowledge from overlapping with old knowledge).</a:t>
            </a:r>
          </a:p>
          <a:p>
            <a:r>
              <a:rPr lang="en-US" b="1"/>
              <a:t>OpenAI/Anthropic (2025 Forecasts):</a:t>
            </a:r>
            <a:r>
              <a:rPr lang="en-US"/>
              <a:t> On-device continuous adaptation via "Contextual Learning."</a:t>
            </a:r>
          </a:p>
        </p:txBody>
      </p:sp>
    </p:spTree>
    <p:extLst>
      <p:ext uri="{BB962C8B-B14F-4D97-AF65-F5344CB8AC3E}">
        <p14:creationId xmlns:p14="http://schemas.microsoft.com/office/powerpoint/2010/main" val="39004276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1097</Words>
  <Application>Microsoft Office PowerPoint</Application>
  <PresentationFormat>Panorámica</PresentationFormat>
  <Paragraphs>92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LLMs Explainability</vt:lpstr>
      <vt:lpstr>Applications</vt:lpstr>
      <vt:lpstr>The Shift in LLM Explainability</vt:lpstr>
      <vt:lpstr>Feature Discovery: Mapping the Mind of a Model</vt:lpstr>
      <vt:lpstr>The CoT lie: to achieve granular control over model output</vt:lpstr>
      <vt:lpstr>Influence Functions &amp; Data Attribution</vt:lpstr>
      <vt:lpstr>Hallucination Detection via Internal States</vt:lpstr>
      <vt:lpstr>Multi modal and Adversarial Explainability &amp; Safety</vt:lpstr>
      <vt:lpstr>From Research to Law.</vt:lpstr>
      <vt:lpstr>Bibliography</vt:lpstr>
      <vt:lpstr>LLMs Continuos Learning</vt:lpstr>
      <vt:lpstr>The "Catastrophic Forgetting" Barrier</vt:lpstr>
      <vt:lpstr>Parameter-Efficient Continuous Learning (PEFT &amp; LoRA)</vt:lpstr>
      <vt:lpstr>MEMIT</vt:lpstr>
      <vt:lpstr>Adaptive "Living" Models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Bryan Steven Yama</cp:lastModifiedBy>
  <cp:revision>16</cp:revision>
  <dcterms:created xsi:type="dcterms:W3CDTF">2026-03-19T14:46:49Z</dcterms:created>
  <dcterms:modified xsi:type="dcterms:W3CDTF">2026-03-25T01:00:56Z</dcterms:modified>
</cp:coreProperties>
</file>