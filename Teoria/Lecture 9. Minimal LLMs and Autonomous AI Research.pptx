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66" r:id="rId8"/>
    <p:sldId id="267" r:id="rId9"/>
    <p:sldId id="268" r:id="rId10"/>
    <p:sldId id="269" r:id="rId11"/>
    <p:sldId id="270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5" r:id="rId20"/>
    <p:sldId id="264" r:id="rId21"/>
    <p:sldId id="275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4060F-76D9-9270-DBFF-043C3BC23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80FDAB-71C3-FE56-910E-EEFDB61E0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01C078-3D38-F51D-6D99-A42E25CE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7922A9-36F5-B3C4-649F-BCA9B6C4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58F1EA-6A0F-C808-BAEA-64A438E5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438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69FCD-0E9E-9549-E2BA-0501E8A2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1530F6-C91D-04C0-D140-7007E7397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1BF06C-BDF8-BB6E-DDD0-842A463F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C41D20-1D36-6B91-5B0D-61213E3B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B237DE-D74D-E042-B953-8C6B4487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429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98F87-D5F3-C994-613A-FAB71651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91BC0E-15AA-955D-F6D7-76A10893C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D922CE-8D02-A0A5-C9DF-29E20D95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D34ACA-0555-D686-A381-A48065C4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51390D-79B1-22AD-4D0A-06EFBACE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484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CDDD-9F71-7D31-D0C2-30522202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217795-B338-BF7D-DCDD-83A18066E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933D72-A791-06FC-1397-1B6ACA7C3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40293C-E3B5-2520-5EC5-50BAEB19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7F13F0-238A-D96A-208E-C3B68852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A599AF-D437-8332-593A-CA674F8D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536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8328D-2EBE-BC3E-0029-4CF2E29E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5031D5-A0CB-AF1C-8D65-DE083BDD1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9064D3-0BD9-BE10-864C-A949AD8B8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E48B7C-578B-74D8-BF5D-1E78AA7A6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0F7751B-9540-02A7-13FC-8979CF412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3CC0679-CE00-D1DF-B164-24145C0A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CB8C917-49E8-19D7-2FF4-4BA5018C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75A4D5-95EE-24B4-2784-600EC3A4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87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9A96B-0E0A-B4B8-6574-CB2E43CB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2CEFF9-D570-7FC6-B627-FE4554FB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09BC2A-3AAA-B8F9-9894-AD636177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2A94D5-9784-BEE6-B13B-DC885518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722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B1E67F-912A-B75B-E25A-DFA2C6D0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A8B2E4-CBE6-30DE-0159-86F70C60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46D939-8625-4532-CC9F-E518F792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346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012BA-0EA3-8504-49A9-CD0315D5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C4BF2-D735-8AD4-835E-BDC15ABA0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10ACF0-73A6-FE0F-F062-D10A2526C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69F23F-6EB4-8710-D7CE-97945EA6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455CB3-7934-BD80-A23D-1A9A4D85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4D84F4-2B4B-4FC8-E1EF-209E9B975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637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B540F-A9DF-8D1C-3B55-5EC4250D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2E8CFC-0BA7-9924-BAAE-352253890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881C7D-7588-A43A-DCBA-91532E392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273A8E-7FA4-3898-CA64-23C96E89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4252B3-39E0-1513-6C63-F1DA0EBC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19F9B2-E3C9-D86F-5C97-0F3CBF94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451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1E78A-0658-BC1B-A23C-DA157B9E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C4FCFD-8308-A5C6-0C52-E39B3FA8D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CBE9BD-349F-CCD4-C172-5EE71978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AD6E49-CF7E-726B-A847-3D76F5FE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74E739-87BA-813E-9BC2-60955755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055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C62A7F-ADEC-1CED-F839-95A4A660B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DA5A05-0DD3-4970-F0E8-19E0F8D55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18F1F9-EC16-48D2-B372-5F1EDFED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D2469-868A-4755-7A37-27169D49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1E7089-66A9-8F2F-D52A-C1E95C73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646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479AD2-9C14-8ECE-FD57-A2458CA9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5D5ACA-FBEB-2374-D2F3-D0B21DF41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9A14D5-8633-3E64-C296-55035F098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DEA05-61A2-48B5-A25C-18BE9F92E9C4}" type="datetimeFigureOut">
              <a:rPr lang="es-MX" smtClean="0"/>
              <a:t>13/03/2026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380F95-CA01-B779-8EFB-09B406F3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5BBE07-2BC8-CC8A-1300-DFDA54C3A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A0C8B-BE4D-4F69-96E9-61EF00B16A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0319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510.0117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511.2173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abehrouz.github.io/files/NL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81A31-AC10-F220-9292-B05DAE6BCB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Minimal LLMs and Autonomous AI Research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B6C100-BE99-EC6E-EC02-3AC08D339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“Modern AI systems are conceptually simple but engineering-heavy.”  </a:t>
            </a:r>
          </a:p>
          <a:p>
            <a:r>
              <a:rPr lang="en-US" dirty="0"/>
              <a:t>Andrej </a:t>
            </a:r>
            <a:r>
              <a:rPr lang="en-US" dirty="0" err="1"/>
              <a:t>Karpathy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045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58A66-5C6D-D7AF-908E-D4B753F3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Verbalized Sampling: Unlocking LLM Diversity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BBB4F3-7882-D514-13F5-CA4758C49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Large language models often produce </a:t>
            </a:r>
            <a:r>
              <a:rPr lang="en-US" b="1" dirty="0"/>
              <a:t>very similar outputs</a:t>
            </a:r>
            <a:r>
              <a:rPr lang="en-US" dirty="0"/>
              <a:t>, even when many valid answers exist. </a:t>
            </a:r>
            <a:r>
              <a:rPr lang="es-MX" dirty="0" err="1"/>
              <a:t>This</a:t>
            </a:r>
            <a:r>
              <a:rPr lang="es-MX" dirty="0"/>
              <a:t> </a:t>
            </a:r>
            <a:r>
              <a:rPr lang="es-MX" dirty="0" err="1"/>
              <a:t>phenomenon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called</a:t>
            </a:r>
            <a:r>
              <a:rPr lang="es-MX" dirty="0"/>
              <a:t>:</a:t>
            </a:r>
          </a:p>
          <a:p>
            <a:pPr marL="0" indent="0" algn="just">
              <a:buNone/>
            </a:pPr>
            <a:endParaRPr lang="es-MX" b="1" i="1" dirty="0"/>
          </a:p>
          <a:p>
            <a:pPr marL="0" indent="0" algn="just">
              <a:buNone/>
            </a:pPr>
            <a:r>
              <a:rPr lang="es-MX" b="1" i="1" dirty="0" err="1"/>
              <a:t>Mode</a:t>
            </a:r>
            <a:r>
              <a:rPr lang="es-MX" b="1" i="1" dirty="0"/>
              <a:t> </a:t>
            </a:r>
            <a:r>
              <a:rPr lang="es-MX" b="1" i="1" dirty="0" err="1"/>
              <a:t>collapse</a:t>
            </a:r>
            <a:endParaRPr lang="es-MX" b="1" i="1" dirty="0"/>
          </a:p>
          <a:p>
            <a:pPr marL="0" indent="0" algn="just">
              <a:buNone/>
            </a:pPr>
            <a:endParaRPr lang="es-MX" b="1" i="1" dirty="0"/>
          </a:p>
          <a:p>
            <a:pPr marL="0" indent="0" algn="just">
              <a:buNone/>
            </a:pPr>
            <a:r>
              <a:rPr lang="en-US" dirty="0"/>
              <a:t>Alignment methods such as RLHF often push models toward </a:t>
            </a:r>
            <a:r>
              <a:rPr lang="en-US" b="1" dirty="0"/>
              <a:t>safe, familiar responses</a:t>
            </a:r>
            <a:r>
              <a:rPr lang="en-US" dirty="0"/>
              <a:t>, reducing diversity.</a:t>
            </a:r>
          </a:p>
          <a:p>
            <a:pPr marL="0" indent="0" algn="just">
              <a:buNone/>
            </a:pPr>
            <a:endParaRPr lang="en-US" b="1" i="1" dirty="0"/>
          </a:p>
          <a:p>
            <a:pPr marL="0" indent="0" algn="just">
              <a:buNone/>
            </a:pPr>
            <a:r>
              <a:rPr lang="en-US" dirty="0"/>
              <a:t>A method called </a:t>
            </a:r>
            <a:r>
              <a:rPr lang="en-US" b="1" dirty="0"/>
              <a:t>Verbalized Sampling (VS)</a:t>
            </a:r>
            <a:r>
              <a:rPr lang="en-US" dirty="0"/>
              <a:t> increases output diversity </a:t>
            </a:r>
            <a:r>
              <a:rPr lang="en-US" b="1" dirty="0"/>
              <a:t>without retraining the model</a:t>
            </a:r>
            <a:r>
              <a:rPr lang="en-US" dirty="0"/>
              <a:t>. </a:t>
            </a:r>
            <a:endParaRPr lang="es-MX" b="1" i="1" dirty="0"/>
          </a:p>
        </p:txBody>
      </p:sp>
    </p:spTree>
    <p:extLst>
      <p:ext uri="{BB962C8B-B14F-4D97-AF65-F5344CB8AC3E}">
        <p14:creationId xmlns:p14="http://schemas.microsoft.com/office/powerpoint/2010/main" val="209162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45EDF-EFCD-4956-1388-DCE1C6EA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25"/>
            <a:ext cx="10515600" cy="1325563"/>
          </a:xfrm>
        </p:spPr>
        <p:txBody>
          <a:bodyPr/>
          <a:lstStyle/>
          <a:p>
            <a:r>
              <a:rPr lang="es-MX" dirty="0" err="1"/>
              <a:t>Why</a:t>
            </a:r>
            <a:r>
              <a:rPr lang="es-MX" dirty="0"/>
              <a:t> </a:t>
            </a:r>
            <a:r>
              <a:rPr lang="es-MX" dirty="0" err="1"/>
              <a:t>Mode</a:t>
            </a:r>
            <a:r>
              <a:rPr lang="es-MX" dirty="0"/>
              <a:t> </a:t>
            </a:r>
            <a:r>
              <a:rPr lang="es-MX" dirty="0" err="1"/>
              <a:t>Collapse</a:t>
            </a:r>
            <a:r>
              <a:rPr lang="es-MX" dirty="0"/>
              <a:t> </a:t>
            </a:r>
            <a:r>
              <a:rPr lang="es-MX" dirty="0" err="1"/>
              <a:t>Happens</a:t>
            </a:r>
            <a:r>
              <a:rPr lang="es-MX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F433B8-3703-74B9-306C-EB1FD537F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1" y="1452563"/>
            <a:ext cx="11020424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Typicality Bias in human feedback data. </a:t>
            </a:r>
            <a:r>
              <a:rPr lang="en-US" dirty="0"/>
              <a:t>Humans tend to prefer responses that are: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familiar</a:t>
            </a:r>
          </a:p>
          <a:p>
            <a:r>
              <a:rPr lang="en-US" dirty="0"/>
              <a:t>predictable</a:t>
            </a:r>
          </a:p>
          <a:p>
            <a:r>
              <a:rPr lang="en-US" dirty="0"/>
              <a:t>conventional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n-US" dirty="0"/>
              <a:t>RLHF training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models learn "safe answers"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diversity decreases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EF9DE5-DFD0-46BB-EB0F-FA7786ACAF9D}"/>
              </a:ext>
            </a:extLst>
          </p:cNvPr>
          <p:cNvSpPr txBox="1"/>
          <p:nvPr/>
        </p:nvSpPr>
        <p:spPr>
          <a:xfrm>
            <a:off x="3800475" y="5951319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pushes models toward </a:t>
            </a:r>
            <a:r>
              <a:rPr lang="en-US" b="1" dirty="0"/>
              <a:t>high-probability responses</a:t>
            </a:r>
            <a:r>
              <a:rPr lang="en-US" dirty="0"/>
              <a:t>, creating a narrow output distribution.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8530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6B6A4-BF62-7C03-DD7E-743AF641F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Verbalized</a:t>
            </a:r>
            <a:r>
              <a:rPr lang="es-MX" dirty="0"/>
              <a:t> </a:t>
            </a:r>
            <a:r>
              <a:rPr lang="es-MX" dirty="0" err="1"/>
              <a:t>Sampling</a:t>
            </a:r>
            <a:r>
              <a:rPr lang="es-MX" dirty="0"/>
              <a:t> (VS)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72B9CE-64B7-92FB-A520-10D4573F5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49"/>
            <a:ext cx="10515600" cy="49942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Instead of asking for </a:t>
            </a:r>
            <a:r>
              <a:rPr lang="en-US" b="1" dirty="0"/>
              <a:t>one answer</a:t>
            </a:r>
            <a:r>
              <a:rPr lang="en-US" dirty="0"/>
              <a:t>, VS asks the model to:</a:t>
            </a:r>
          </a:p>
          <a:p>
            <a:r>
              <a:rPr lang="en-US" dirty="0"/>
              <a:t>Generate multiple possible responses</a:t>
            </a:r>
          </a:p>
          <a:p>
            <a:r>
              <a:rPr lang="en-US" dirty="0"/>
              <a:t>Assign probabilities to each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prompt:</a:t>
            </a:r>
          </a:p>
          <a:p>
            <a:pPr marL="0" indent="0">
              <a:buNone/>
            </a:pPr>
            <a:r>
              <a:rPr lang="en-US" dirty="0"/>
              <a:t>Generate 5 jokes about coffee. For each joke, provide its probability.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model produces something like:</a:t>
            </a:r>
          </a:p>
          <a:p>
            <a:pPr marL="0" indent="0">
              <a:buNone/>
            </a:pPr>
            <a:r>
              <a:rPr lang="fi-FI" dirty="0"/>
              <a:t>Joke 1 — 0.35</a:t>
            </a:r>
          </a:p>
          <a:p>
            <a:pPr marL="0" indent="0">
              <a:buNone/>
            </a:pPr>
            <a:r>
              <a:rPr lang="fi-FI" dirty="0"/>
              <a:t>Joke 2 — 0.25</a:t>
            </a:r>
          </a:p>
          <a:p>
            <a:pPr marL="0" indent="0">
              <a:buNone/>
            </a:pPr>
            <a:r>
              <a:rPr lang="fi-FI" dirty="0"/>
              <a:t>Joke 3 — 0.20</a:t>
            </a:r>
          </a:p>
          <a:p>
            <a:pPr marL="0" indent="0">
              <a:buNone/>
            </a:pPr>
            <a:r>
              <a:rPr lang="fi-FI" dirty="0"/>
              <a:t>Joke 4 — 0.12</a:t>
            </a:r>
          </a:p>
          <a:p>
            <a:pPr marL="0" indent="0">
              <a:buNone/>
            </a:pPr>
            <a:r>
              <a:rPr lang="fi-FI" dirty="0"/>
              <a:t>Joke 5 — 0.08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1872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7011C-C1D2-2C44-819E-1A357925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Key idea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CF0FDF-CAF4-47C8-60F5-05C8418B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Ask the model to express its own probability distribution. </a:t>
            </a:r>
            <a:r>
              <a:rPr lang="es-MX" b="1" dirty="0" err="1"/>
              <a:t>Sample</a:t>
            </a:r>
            <a:r>
              <a:rPr lang="es-MX" b="1" dirty="0"/>
              <a:t> </a:t>
            </a:r>
            <a:r>
              <a:rPr lang="es-MX" b="1" dirty="0" err="1"/>
              <a:t>from</a:t>
            </a:r>
            <a:r>
              <a:rPr lang="es-MX" b="1" dirty="0"/>
              <a:t> </a:t>
            </a:r>
            <a:r>
              <a:rPr lang="es-MX" b="1" dirty="0" err="1"/>
              <a:t>the</a:t>
            </a:r>
            <a:r>
              <a:rPr lang="es-MX" b="1" dirty="0"/>
              <a:t> LLM </a:t>
            </a:r>
            <a:r>
              <a:rPr lang="es-MX" b="1" dirty="0" err="1"/>
              <a:t>distribution</a:t>
            </a:r>
            <a:r>
              <a:rPr lang="es-MX" b="1" dirty="0"/>
              <a:t> </a:t>
            </a:r>
            <a:r>
              <a:rPr lang="en-US" dirty="0"/>
              <a:t>instead of relying on hidden sampling.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reveals latent diversity</a:t>
            </a:r>
          </a:p>
          <a:p>
            <a:r>
              <a:rPr lang="en-US" dirty="0"/>
              <a:t>encourages exploration of alternative responses</a:t>
            </a:r>
          </a:p>
          <a:p>
            <a:r>
              <a:rPr lang="en-US" dirty="0"/>
              <a:t>improves creativity.</a:t>
            </a:r>
          </a:p>
          <a:p>
            <a:r>
              <a:rPr lang="en-US" b="1" dirty="0"/>
              <a:t>No change of the model weights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35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7DFBF-B0BD-8558-FB92-4D040573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Experimental </a:t>
            </a:r>
            <a:r>
              <a:rPr lang="es-MX" dirty="0" err="1"/>
              <a:t>Results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B8993-4A46-53DD-EA3D-44FB8F715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method was evaluated across multiple tasks:</a:t>
            </a:r>
          </a:p>
          <a:p>
            <a:r>
              <a:rPr lang="en-US" dirty="0"/>
              <a:t>creative writing (stories, poems, jokes)</a:t>
            </a:r>
          </a:p>
          <a:p>
            <a:r>
              <a:rPr lang="es-MX" dirty="0"/>
              <a:t>dialogue </a:t>
            </a:r>
            <a:r>
              <a:rPr lang="es-MX" dirty="0" err="1"/>
              <a:t>simulation</a:t>
            </a:r>
            <a:endParaRPr lang="es-MX" dirty="0"/>
          </a:p>
          <a:p>
            <a:r>
              <a:rPr lang="es-MX" dirty="0"/>
              <a:t>open-</a:t>
            </a:r>
            <a:r>
              <a:rPr lang="es-MX" dirty="0" err="1"/>
              <a:t>ended</a:t>
            </a:r>
            <a:r>
              <a:rPr lang="es-MX" dirty="0"/>
              <a:t> </a:t>
            </a:r>
            <a:r>
              <a:rPr lang="es-MX" dirty="0" err="1"/>
              <a:t>question</a:t>
            </a:r>
            <a:r>
              <a:rPr lang="es-MX" dirty="0"/>
              <a:t> </a:t>
            </a:r>
            <a:r>
              <a:rPr lang="es-MX" dirty="0" err="1"/>
              <a:t>answering</a:t>
            </a:r>
            <a:endParaRPr lang="es-MX" dirty="0"/>
          </a:p>
          <a:p>
            <a:r>
              <a:rPr lang="es-MX" dirty="0" err="1"/>
              <a:t>synthetic</a:t>
            </a:r>
            <a:r>
              <a:rPr lang="es-MX" dirty="0"/>
              <a:t> data </a:t>
            </a:r>
            <a:r>
              <a:rPr lang="es-MX" dirty="0" err="1"/>
              <a:t>generation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Results</a:t>
            </a:r>
            <a:r>
              <a:rPr lang="es-MX" dirty="0"/>
              <a:t>:</a:t>
            </a:r>
            <a:endParaRPr lang="en-US" dirty="0"/>
          </a:p>
          <a:p>
            <a:r>
              <a:rPr lang="en-US" b="1" dirty="0"/>
              <a:t>1.6–2.1× increase in output diversity</a:t>
            </a:r>
            <a:r>
              <a:rPr lang="en-US" dirty="0"/>
              <a:t> in creative tasks.</a:t>
            </a:r>
          </a:p>
          <a:p>
            <a:r>
              <a:rPr lang="en-US" dirty="0"/>
              <a:t>larger models benefit more from VS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893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00ADB-87DC-9ABF-4DCE-9D728F93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linkClick r:id="rId2"/>
              </a:rPr>
              <a:t>Asking LLMs to Verify First is Almost Free Lunch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1A4A7E-7AF9-0EC2-C2ED-F888DD3F3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Goal of the paper:</a:t>
            </a:r>
          </a:p>
          <a:p>
            <a:r>
              <a:rPr lang="en-US" dirty="0"/>
              <a:t>Improve </a:t>
            </a:r>
            <a:r>
              <a:rPr lang="en-US" b="1" dirty="0"/>
              <a:t>reasoning performance of large language models (LLMs)</a:t>
            </a:r>
            <a:r>
              <a:rPr lang="en-US" dirty="0"/>
              <a:t> with a very simple prompting strategy.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idea:</a:t>
            </a:r>
          </a:p>
          <a:p>
            <a:r>
              <a:rPr lang="en-US" dirty="0"/>
              <a:t>Instead of asking the model to </a:t>
            </a:r>
            <a:r>
              <a:rPr lang="en-US" b="1" dirty="0"/>
              <a:t>generate an answer first</a:t>
            </a:r>
            <a:r>
              <a:rPr lang="en-US" dirty="0"/>
              <a:t>, ask it to </a:t>
            </a:r>
            <a:r>
              <a:rPr lang="en-US" b="1" dirty="0"/>
              <a:t>verify a candidate answer before reasoning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method is called:</a:t>
            </a:r>
          </a:p>
          <a:p>
            <a:r>
              <a:rPr lang="en-US" b="1" dirty="0"/>
              <a:t>Verify-First (VF)</a:t>
            </a:r>
            <a:r>
              <a:rPr lang="en-US" dirty="0"/>
              <a:t> prompting.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23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A234B-8CFA-8312-BE74-0E97283D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Motivation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8D3696-A331-E8A3-8886-3E6834154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Many LLM reasoning methods rely on:</a:t>
            </a:r>
          </a:p>
          <a:p>
            <a:r>
              <a:rPr lang="en-US" dirty="0"/>
              <a:t>Chain-of-Thought prompting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Problems:</a:t>
            </a:r>
          </a:p>
          <a:p>
            <a:r>
              <a:rPr lang="en-US" dirty="0"/>
              <a:t>High computation cost</a:t>
            </a:r>
          </a:p>
          <a:p>
            <a:r>
              <a:rPr lang="en-US" dirty="0"/>
              <a:t>Many tokens generated</a:t>
            </a:r>
          </a:p>
          <a:p>
            <a:r>
              <a:rPr lang="en-US" dirty="0"/>
              <a:t>Often redundant reasoning paths.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Observation from the paper:</a:t>
            </a:r>
          </a:p>
          <a:p>
            <a:r>
              <a:rPr lang="en-US" dirty="0"/>
              <a:t>Verification reasoning is often easier than generating a correct answer.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42844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87F88-C70B-BBA2-D532-8350A3AB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Verify-First</a:t>
            </a:r>
            <a:r>
              <a:rPr lang="es-MX" dirty="0"/>
              <a:t> </a:t>
            </a:r>
            <a:r>
              <a:rPr lang="es-MX" dirty="0" err="1"/>
              <a:t>Prompting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EF8970-E8D6-0027-D832-860BB65EC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Start by verifying a candidate answer.</a:t>
            </a:r>
            <a:endParaRPr lang="en-US" dirty="0"/>
          </a:p>
          <a:p>
            <a:r>
              <a:rPr lang="en-US" dirty="0"/>
              <a:t>This gives the model a </a:t>
            </a:r>
            <a:r>
              <a:rPr lang="en-US" b="1" dirty="0"/>
              <a:t>structured reasoning path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+ candidate answer A'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 1: Verify whether A' is correct</a:t>
            </a:r>
            <a:br>
              <a:rPr lang="en-US" dirty="0"/>
            </a:br>
            <a:r>
              <a:rPr lang="en-US" dirty="0"/>
              <a:t>Step 2: Reason step-by-step to find the answer.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470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97B6C-097E-F98E-0504-169EFE9C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23812"/>
            <a:ext cx="10515600" cy="1325563"/>
          </a:xfrm>
        </p:spPr>
        <p:txBody>
          <a:bodyPr/>
          <a:lstStyle/>
          <a:p>
            <a:r>
              <a:rPr lang="es-MX" dirty="0"/>
              <a:t>Experimental </a:t>
            </a:r>
            <a:r>
              <a:rPr lang="es-MX" dirty="0" err="1"/>
              <a:t>Results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34674E-0566-084F-ECE8-A6DBA2214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20775"/>
            <a:ext cx="11201400" cy="52895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method was tested on several reasoning benchmarks:</a:t>
            </a:r>
          </a:p>
          <a:p>
            <a:r>
              <a:rPr lang="en-US" dirty="0"/>
              <a:t>GSM8K (math reasoning)</a:t>
            </a:r>
          </a:p>
          <a:p>
            <a:r>
              <a:rPr lang="en-US" dirty="0"/>
              <a:t>MATH500</a:t>
            </a:r>
          </a:p>
          <a:p>
            <a:r>
              <a:rPr lang="en-US" dirty="0"/>
              <a:t>GPQA</a:t>
            </a:r>
          </a:p>
          <a:p>
            <a:r>
              <a:rPr lang="en-US" dirty="0" err="1"/>
              <a:t>HumanEval</a:t>
            </a:r>
            <a:r>
              <a:rPr lang="en-US" dirty="0"/>
              <a:t> (coding)</a:t>
            </a:r>
          </a:p>
          <a:p>
            <a:r>
              <a:rPr lang="en-US" dirty="0"/>
              <a:t>MBPP</a:t>
            </a:r>
          </a:p>
          <a:p>
            <a:r>
              <a:rPr lang="en-US" dirty="0"/>
              <a:t>API-Bank (tool use tasks)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Results:</a:t>
            </a:r>
          </a:p>
          <a:p>
            <a:r>
              <a:rPr lang="en-US" dirty="0"/>
              <a:t>VF consistently </a:t>
            </a:r>
            <a:r>
              <a:rPr lang="en-US" b="1" dirty="0"/>
              <a:t>outperforms standard Chain-of-Thought prompting</a:t>
            </a:r>
          </a:p>
          <a:p>
            <a:r>
              <a:rPr lang="en-US" dirty="0"/>
              <a:t>Works across models from </a:t>
            </a:r>
            <a:r>
              <a:rPr lang="en-US" b="1" dirty="0"/>
              <a:t>1B to 72B parameters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2885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E64A1-6890-3BB1-0AA4-B0E84F04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Example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29B112-0249-24FE-4AD5-8E71891EA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A. </a:t>
            </a:r>
            <a:r>
              <a:rPr lang="es-MX" dirty="0" err="1"/>
              <a:t>What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37 × 18?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n-US" dirty="0"/>
              <a:t>B. </a:t>
            </a:r>
            <a:r>
              <a:rPr lang="es-MX" dirty="0" err="1"/>
              <a:t>What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37 × 18?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Candidate answer: 666</a:t>
            </a:r>
            <a:br>
              <a:rPr lang="en-US" dirty="0"/>
            </a:br>
            <a:r>
              <a:rPr lang="en-US" dirty="0"/>
              <a:t>Step 1: Verify if 666 is correct.</a:t>
            </a:r>
            <a:br>
              <a:rPr lang="en-US" dirty="0"/>
            </a:br>
            <a:r>
              <a:rPr lang="en-US" dirty="0"/>
              <a:t>Step 2: Show reasoning.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1646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AD2EF-A20E-2182-37D3-797F2116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Recent</a:t>
            </a:r>
            <a:r>
              <a:rPr lang="es-MX" dirty="0"/>
              <a:t> AI </a:t>
            </a:r>
            <a:r>
              <a:rPr lang="es-MX" dirty="0" err="1"/>
              <a:t>research</a:t>
            </a:r>
            <a:r>
              <a:rPr lang="es-MX" dirty="0"/>
              <a:t> </a:t>
            </a:r>
            <a:r>
              <a:rPr lang="es-MX" dirty="0" err="1"/>
              <a:t>trends</a:t>
            </a:r>
            <a:endParaRPr lang="es-MX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8AA2A7-4561-4FD0-46ED-0F8CF29D4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4576"/>
            <a:ext cx="107251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Simplifying</a:t>
            </a:r>
            <a:r>
              <a:rPr kumimoji="0" lang="es-MX" altLang="es-MX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 training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Automating</a:t>
            </a:r>
            <a:r>
              <a:rPr kumimoji="0" lang="es-MX" altLang="es-MX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</a:t>
            </a:r>
            <a:r>
              <a:rPr kumimoji="0" lang="es-MX" altLang="es-MX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es-MX" altLang="es-MX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</a:t>
            </a:r>
            <a:endParaRPr kumimoji="0" lang="es-MX" altLang="es-MX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Agent-driven</a:t>
            </a:r>
            <a:r>
              <a:rPr kumimoji="0" lang="es-MX" altLang="es-MX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experimentation</a:t>
            </a:r>
            <a:endParaRPr kumimoji="0" lang="es-MX" altLang="es-MX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25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3463-BC30-3A66-40B0-04B55D3C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microGPT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801DD9-7756-4A57-7158-16DFC1911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It’s a </a:t>
            </a:r>
            <a:r>
              <a:rPr lang="en-US" b="1" dirty="0"/>
              <a:t>minimal implementation of a GPT language model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Typical components implemented:</a:t>
            </a:r>
          </a:p>
          <a:p>
            <a:r>
              <a:rPr lang="en-US" dirty="0"/>
              <a:t>tokenizer</a:t>
            </a:r>
          </a:p>
          <a:p>
            <a:r>
              <a:rPr lang="en-US" dirty="0"/>
              <a:t>transformer architecture: next token prediction</a:t>
            </a:r>
          </a:p>
          <a:p>
            <a:r>
              <a:rPr lang="en-US" dirty="0"/>
              <a:t>training loop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Optimizer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n-US" dirty="0"/>
              <a:t>The algorithm behind GPT fits in a few hundred lines.</a:t>
            </a:r>
          </a:p>
        </p:txBody>
      </p:sp>
    </p:spTree>
    <p:extLst>
      <p:ext uri="{BB962C8B-B14F-4D97-AF65-F5344CB8AC3E}">
        <p14:creationId xmlns:p14="http://schemas.microsoft.com/office/powerpoint/2010/main" val="4237561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C58FD-EDE6-F8A9-67E4-0B660D28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198437"/>
            <a:ext cx="10515600" cy="1325563"/>
          </a:xfrm>
        </p:spPr>
        <p:txBody>
          <a:bodyPr/>
          <a:lstStyle/>
          <a:p>
            <a:r>
              <a:rPr lang="es-MX" dirty="0" err="1"/>
              <a:t>AutoResearch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4FF1B9-FD57-3FA6-63AC-14C499431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4000"/>
            <a:ext cx="10953750" cy="511492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It’s a </a:t>
            </a:r>
            <a:r>
              <a:rPr lang="en-US" b="1" dirty="0"/>
              <a:t>framework that lets AI agents perform machine learning research autonomously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It allows an AI system to:</a:t>
            </a:r>
          </a:p>
          <a:p>
            <a:pPr algn="just"/>
            <a:r>
              <a:rPr lang="en-US" dirty="0"/>
              <a:t>modify training code</a:t>
            </a:r>
          </a:p>
          <a:p>
            <a:pPr algn="just"/>
            <a:r>
              <a:rPr lang="en-US" dirty="0"/>
              <a:t>run experiments</a:t>
            </a:r>
          </a:p>
          <a:p>
            <a:pPr algn="just"/>
            <a:r>
              <a:rPr lang="en-US" dirty="0"/>
              <a:t>evaluate results</a:t>
            </a:r>
          </a:p>
          <a:p>
            <a:pPr algn="just"/>
            <a:r>
              <a:rPr lang="en-US" dirty="0"/>
              <a:t>iterate improvements automatically.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Goal: Automate the entire research loop.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project is live at </a:t>
            </a:r>
            <a:r>
              <a:rPr lang="en-US" b="1" dirty="0"/>
              <a:t>github.com/</a:t>
            </a:r>
            <a:r>
              <a:rPr lang="en-US" b="1" dirty="0" err="1"/>
              <a:t>karpathy</a:t>
            </a:r>
            <a:r>
              <a:rPr lang="en-US" b="1" dirty="0"/>
              <a:t>/</a:t>
            </a:r>
            <a:r>
              <a:rPr lang="en-US" b="1" dirty="0" err="1"/>
              <a:t>autoresearch</a:t>
            </a:r>
            <a:r>
              <a:rPr lang="en-US" dirty="0"/>
              <a:t> — released just days ago and already has 8,000+ stars.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13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44298-1455-1DA7-59A0-2483BC726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Autonomous</a:t>
            </a:r>
            <a:r>
              <a:rPr lang="es-MX" dirty="0"/>
              <a:t> </a:t>
            </a:r>
            <a:r>
              <a:rPr lang="es-MX" dirty="0" err="1"/>
              <a:t>Research</a:t>
            </a:r>
            <a:r>
              <a:rPr lang="es-MX" dirty="0"/>
              <a:t> </a:t>
            </a:r>
            <a:r>
              <a:rPr lang="es-MX" dirty="0" err="1"/>
              <a:t>Loop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691517-8924-0A95-FF6D-C09F1C5CF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Instead of humans iterating experiments, The </a:t>
            </a:r>
            <a:r>
              <a:rPr lang="en-US" b="1" dirty="0"/>
              <a:t>AI agent performs the loop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Read training code</a:t>
            </a:r>
          </a:p>
          <a:p>
            <a:r>
              <a:rPr lang="en-US" dirty="0"/>
              <a:t>Modify hyperparameters or architecture</a:t>
            </a:r>
          </a:p>
          <a:p>
            <a:r>
              <a:rPr lang="en-US" dirty="0"/>
              <a:t>Run experiment</a:t>
            </a:r>
          </a:p>
          <a:p>
            <a:r>
              <a:rPr lang="en-US" dirty="0"/>
              <a:t>Evaluate metric</a:t>
            </a:r>
          </a:p>
          <a:p>
            <a:r>
              <a:rPr lang="en-US" dirty="0"/>
              <a:t>Keep or discard change</a:t>
            </a:r>
          </a:p>
          <a:p>
            <a:r>
              <a:rPr lang="en-US" dirty="0"/>
              <a:t>Repeat indefinitely.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process can run </a:t>
            </a:r>
            <a:r>
              <a:rPr lang="en-US" b="1" dirty="0"/>
              <a:t>overnight without human supervision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0535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D9EA5-AB2C-E908-5DBF-AB07EF3A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r>
              <a:rPr lang="es-MX" dirty="0"/>
              <a:t>Key </a:t>
            </a:r>
            <a:r>
              <a:rPr lang="es-MX" dirty="0" err="1"/>
              <a:t>Design</a:t>
            </a:r>
            <a:r>
              <a:rPr lang="es-MX" dirty="0"/>
              <a:t> </a:t>
            </a:r>
            <a:r>
              <a:rPr lang="es-MX" dirty="0" err="1"/>
              <a:t>Constraints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CE0BC1-DD85-8DBB-D0D6-7E51F0B4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4937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AutoResearch</a:t>
            </a:r>
            <a:r>
              <a:rPr lang="en-US" sz="2400" dirty="0"/>
              <a:t> works because of strict constraints.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Key rules:</a:t>
            </a:r>
          </a:p>
          <a:p>
            <a:r>
              <a:rPr lang="en-US" sz="2400" b="1" dirty="0"/>
              <a:t>Fixed training time: </a:t>
            </a:r>
            <a:r>
              <a:rPr lang="en-US" sz="2400" dirty="0"/>
              <a:t>each experiment runs ~5 minutes</a:t>
            </a:r>
          </a:p>
          <a:p>
            <a:endParaRPr lang="en-US" sz="2400" dirty="0"/>
          </a:p>
          <a:p>
            <a:r>
              <a:rPr lang="en-US" sz="2400" b="1" dirty="0"/>
              <a:t>Single editable file: </a:t>
            </a:r>
            <a:r>
              <a:rPr lang="en-US" sz="2400" dirty="0"/>
              <a:t>usually train.py</a:t>
            </a:r>
          </a:p>
          <a:p>
            <a:endParaRPr lang="en-US" sz="2400" b="1" dirty="0"/>
          </a:p>
          <a:p>
            <a:r>
              <a:rPr lang="en-US" sz="2400" b="1" dirty="0"/>
              <a:t>Single metric: </a:t>
            </a:r>
            <a:r>
              <a:rPr lang="en-US" sz="2400" dirty="0"/>
              <a:t>validation bits-per-byte</a:t>
            </a:r>
          </a:p>
          <a:p>
            <a:endParaRPr lang="en-US" sz="2400" b="1" dirty="0"/>
          </a:p>
          <a:p>
            <a:r>
              <a:rPr lang="en-US" sz="2400" b="1" dirty="0"/>
              <a:t>Git-based tracking: </a:t>
            </a:r>
            <a:r>
              <a:rPr lang="en-US" sz="2400" dirty="0"/>
              <a:t>improvements committed automatically.</a:t>
            </a:r>
          </a:p>
          <a:p>
            <a:pPr marL="0" indent="0">
              <a:buNone/>
            </a:pPr>
            <a:r>
              <a:rPr lang="en-US" sz="2400" dirty="0"/>
              <a:t>These constraints keep experiments comparable.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901926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04CBF-F429-E065-71C4-F5937DAF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Experiment</a:t>
            </a:r>
            <a:r>
              <a:rPr lang="es-MX" dirty="0"/>
              <a:t> </a:t>
            </a:r>
            <a:r>
              <a:rPr lang="es-MX" dirty="0" err="1"/>
              <a:t>Loop</a:t>
            </a:r>
            <a:r>
              <a:rPr lang="es-MX" dirty="0"/>
              <a:t>, </a:t>
            </a:r>
            <a:r>
              <a:rPr lang="es-MX" dirty="0" err="1"/>
              <a:t>Example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8D4959-89F9-52D4-89B8-954C4AF36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~100 experiments</a:t>
            </a:r>
          </a:p>
          <a:p>
            <a:r>
              <a:rPr lang="en-US" dirty="0"/>
              <a:t>autonomous exploration of hyperparameters</a:t>
            </a:r>
          </a:p>
          <a:p>
            <a:r>
              <a:rPr lang="en-US" dirty="0"/>
              <a:t>architecture tweaks</a:t>
            </a:r>
          </a:p>
          <a:p>
            <a:r>
              <a:rPr lang="en-US" dirty="0"/>
              <a:t>optimizer changes.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Observed results:</a:t>
            </a:r>
          </a:p>
          <a:p>
            <a:r>
              <a:rPr lang="en-US" dirty="0"/>
              <a:t>validation loss improved</a:t>
            </a:r>
          </a:p>
          <a:p>
            <a:r>
              <a:rPr lang="en-US" dirty="0"/>
              <a:t>training efficiency improved.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improvement:</a:t>
            </a:r>
          </a:p>
          <a:p>
            <a:r>
              <a:rPr lang="en-US" dirty="0"/>
              <a:t>training time to GPT-2 level reduced </a:t>
            </a:r>
            <a:r>
              <a:rPr lang="en-US" b="1" dirty="0"/>
              <a:t>11%</a:t>
            </a:r>
            <a:r>
              <a:rPr lang="en-US" dirty="0"/>
              <a:t>.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6802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7C809-FB86-C83A-59A4-5A52B82A1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Architecture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AutoResearch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CE2A99-5D7D-8919-A81C-1E1AF28BB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Typical</a:t>
            </a:r>
            <a:r>
              <a:rPr lang="es-MX" dirty="0"/>
              <a:t> </a:t>
            </a:r>
            <a:r>
              <a:rPr lang="es-MX" dirty="0" err="1"/>
              <a:t>project</a:t>
            </a:r>
            <a:r>
              <a:rPr lang="es-MX" dirty="0"/>
              <a:t> </a:t>
            </a:r>
            <a:r>
              <a:rPr lang="es-MX" dirty="0" err="1"/>
              <a:t>structure</a:t>
            </a:r>
            <a:r>
              <a:rPr lang="es-MX" dirty="0"/>
              <a:t>: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autoresearch</a:t>
            </a:r>
            <a:r>
              <a:rPr lang="es-MX" dirty="0"/>
              <a:t>/</a:t>
            </a:r>
          </a:p>
          <a:p>
            <a:pPr marL="0" indent="0">
              <a:buNone/>
            </a:pPr>
            <a:r>
              <a:rPr lang="es-MX" dirty="0"/>
              <a:t> ├── prepare.py: </a:t>
            </a:r>
            <a:r>
              <a:rPr lang="es-MX" dirty="0" err="1"/>
              <a:t>utilities</a:t>
            </a:r>
            <a:r>
              <a:rPr lang="es-MX" dirty="0"/>
              <a:t> and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dirty="0" err="1"/>
              <a:t>setup</a:t>
            </a:r>
            <a:r>
              <a:rPr lang="es-MX" dirty="0"/>
              <a:t> </a:t>
            </a:r>
            <a:r>
              <a:rPr lang="es-MX" dirty="0" err="1"/>
              <a:t>fixed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 ├── train.py: editable training script </a:t>
            </a:r>
            <a:r>
              <a:rPr lang="es-MX" dirty="0" err="1"/>
              <a:t>by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agent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 ├── program.md: </a:t>
            </a:r>
            <a:r>
              <a:rPr lang="en-US" dirty="0"/>
              <a:t>research instructions for the agent by the human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agent only edits </a:t>
            </a:r>
            <a:r>
              <a:rPr lang="en-US" b="1" dirty="0"/>
              <a:t>train.py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58903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9DC879-F9AB-629C-C32E-FEF1A06A8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30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Human:</a:t>
            </a:r>
          </a:p>
          <a:p>
            <a:r>
              <a:rPr lang="en-US" sz="2400" dirty="0"/>
              <a:t>defines research goal</a:t>
            </a:r>
          </a:p>
          <a:p>
            <a:r>
              <a:rPr lang="en-US" sz="2400" dirty="0"/>
              <a:t>writes strategy instructions</a:t>
            </a:r>
          </a:p>
          <a:p>
            <a:r>
              <a:rPr lang="en-US" sz="2400" dirty="0"/>
              <a:t>defines evaluation metric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AI agent:</a:t>
            </a:r>
          </a:p>
          <a:p>
            <a:r>
              <a:rPr lang="en-US" sz="2400" dirty="0"/>
              <a:t>generates hypotheses</a:t>
            </a:r>
          </a:p>
          <a:p>
            <a:r>
              <a:rPr lang="en-US" sz="2400" dirty="0"/>
              <a:t>edits code</a:t>
            </a:r>
          </a:p>
          <a:p>
            <a:r>
              <a:rPr lang="en-US" sz="2400" dirty="0"/>
              <a:t>runs experiments</a:t>
            </a:r>
          </a:p>
          <a:p>
            <a:r>
              <a:rPr lang="en-US" sz="2400" dirty="0"/>
              <a:t>analyzes results.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changes the role of the ML researcher.</a:t>
            </a:r>
          </a:p>
          <a:p>
            <a:endParaRPr lang="es-MX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343D47-E87A-75C7-FA20-CB20D965ECB5}"/>
              </a:ext>
            </a:extLst>
          </p:cNvPr>
          <p:cNvSpPr txBox="1"/>
          <p:nvPr/>
        </p:nvSpPr>
        <p:spPr>
          <a:xfrm>
            <a:off x="523875" y="310634"/>
            <a:ext cx="113252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AI systems that both build and improve AI systems</a:t>
            </a:r>
            <a:endParaRPr lang="es-MX" sz="4000" dirty="0"/>
          </a:p>
        </p:txBody>
      </p:sp>
    </p:spTree>
    <p:extLst>
      <p:ext uri="{BB962C8B-B14F-4D97-AF65-F5344CB8AC3E}">
        <p14:creationId xmlns:p14="http://schemas.microsoft.com/office/powerpoint/2010/main" val="39824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73578-9E55-DD53-D2B6-B4AD1E4FD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Multi-</a:t>
            </a:r>
            <a:r>
              <a:rPr lang="es-MX" dirty="0" err="1"/>
              <a:t>Agent</a:t>
            </a:r>
            <a:r>
              <a:rPr lang="es-MX" dirty="0"/>
              <a:t> </a:t>
            </a:r>
            <a:r>
              <a:rPr lang="es-MX" dirty="0" err="1"/>
              <a:t>Research</a:t>
            </a:r>
            <a:endParaRPr lang="es-MX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B353D3-C542-3E6F-D93A-D9DC55B82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9612" y="1598351"/>
            <a:ext cx="1077277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 </a:t>
            </a:r>
            <a:r>
              <a:rPr kumimoji="0" lang="es-MX" altLang="es-MX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running in </a:t>
            </a:r>
            <a:r>
              <a:rPr kumimoji="0" lang="es-MX" altLang="es-MX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</a:t>
            </a:r>
            <a:endParaRPr kumimoji="0" lang="es-MX" altLang="es-MX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</a:t>
            </a:r>
            <a:endParaRPr kumimoji="0" lang="es-MX" altLang="es-MX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</a:t>
            </a: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 </a:t>
            </a:r>
            <a:r>
              <a:rPr kumimoji="0" lang="es-MX" altLang="es-MX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branches</a:t>
            </a:r>
            <a:r>
              <a:rPr kumimoji="0" lang="es-MX" altLang="es-MX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MX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MX" sz="3200" dirty="0"/>
              <a:t> </a:t>
            </a:r>
            <a:r>
              <a:rPr lang="es-MX" sz="3200" dirty="0" err="1"/>
              <a:t>Chief</a:t>
            </a:r>
            <a:r>
              <a:rPr lang="es-MX" sz="3200" dirty="0"/>
              <a:t> </a:t>
            </a:r>
            <a:r>
              <a:rPr lang="es-MX" sz="3200" dirty="0" err="1"/>
              <a:t>scientist</a:t>
            </a:r>
            <a:r>
              <a:rPr lang="es-MX" sz="3200" dirty="0"/>
              <a:t> </a:t>
            </a:r>
            <a:r>
              <a:rPr lang="es-MX" sz="3200" dirty="0" err="1"/>
              <a:t>agent</a:t>
            </a:r>
            <a:endParaRPr lang="es-MX" sz="3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s-MX" altLang="es-MX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MX" altLang="es-MX" sz="3200" dirty="0">
                <a:latin typeface="Arial" panose="020B0604020202020204" pitchFamily="34" charset="0"/>
              </a:rPr>
              <a:t> </a:t>
            </a:r>
            <a:r>
              <a:rPr lang="es-MX" sz="3200" dirty="0"/>
              <a:t>Junior </a:t>
            </a:r>
            <a:r>
              <a:rPr lang="es-MX" sz="3200" dirty="0" err="1"/>
              <a:t>researcher</a:t>
            </a:r>
            <a:r>
              <a:rPr lang="es-MX" sz="3200" dirty="0"/>
              <a:t> </a:t>
            </a:r>
            <a:r>
              <a:rPr lang="es-MX" sz="3200" dirty="0" err="1"/>
              <a:t>agents</a:t>
            </a:r>
            <a:r>
              <a:rPr lang="es-MX" sz="3200" dirty="0"/>
              <a:t>.</a:t>
            </a:r>
            <a:endParaRPr kumimoji="0" lang="es-MX" altLang="es-MX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7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CE4CC-60D3-789B-227F-684F359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it — step by step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D508F-5F14-1DEC-A166-7D0ECA1AF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s-MX" b="1" dirty="0"/>
              <a:t>Clone </a:t>
            </a:r>
            <a:r>
              <a:rPr lang="es-MX" b="1" dirty="0" err="1"/>
              <a:t>the</a:t>
            </a:r>
            <a:r>
              <a:rPr lang="es-MX" b="1" dirty="0"/>
              <a:t> repo</a:t>
            </a:r>
          </a:p>
          <a:p>
            <a:pPr marL="0" indent="0">
              <a:buNone/>
            </a:pPr>
            <a:r>
              <a:rPr lang="en-US" dirty="0"/>
              <a:t>git clone https://github.com/karpathy/autoresearch</a:t>
            </a:r>
          </a:p>
          <a:p>
            <a:pPr marL="0" indent="0">
              <a:buNone/>
            </a:pPr>
            <a:r>
              <a:rPr lang="en-US" dirty="0"/>
              <a:t>cd </a:t>
            </a:r>
            <a:r>
              <a:rPr lang="en-US" dirty="0" err="1"/>
              <a:t>autoresearch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pip install torch  # + a few small packages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Run the data prep once</a:t>
            </a:r>
          </a:p>
          <a:p>
            <a:pPr marL="0" indent="0">
              <a:buNone/>
            </a:pPr>
            <a:r>
              <a:rPr lang="es-MX" dirty="0" err="1"/>
              <a:t>python</a:t>
            </a:r>
            <a:r>
              <a:rPr lang="es-MX" dirty="0"/>
              <a:t> prepare.py   # </a:t>
            </a:r>
            <a:r>
              <a:rPr lang="es-MX" dirty="0" err="1"/>
              <a:t>downloads</a:t>
            </a:r>
            <a:r>
              <a:rPr lang="es-MX" dirty="0"/>
              <a:t> </a:t>
            </a:r>
            <a:r>
              <a:rPr lang="es-MX" dirty="0" err="1"/>
              <a:t>dataset</a:t>
            </a:r>
            <a:r>
              <a:rPr lang="es-MX" dirty="0"/>
              <a:t>, </a:t>
            </a:r>
            <a:r>
              <a:rPr lang="es-MX" dirty="0" err="1"/>
              <a:t>trains</a:t>
            </a:r>
            <a:r>
              <a:rPr lang="es-MX" dirty="0"/>
              <a:t> BPE </a:t>
            </a:r>
            <a:r>
              <a:rPr lang="es-MX" dirty="0" err="1"/>
              <a:t>tokenizer</a:t>
            </a:r>
            <a:endParaRPr lang="es-MX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3. Write your program.md</a:t>
            </a:r>
            <a:r>
              <a:rPr lang="en-US" dirty="0"/>
              <a:t> — this is the key human contribution</a:t>
            </a:r>
          </a:p>
          <a:p>
            <a:pPr marL="0" indent="0">
              <a:buNone/>
            </a:pPr>
            <a:r>
              <a:rPr lang="en-US" dirty="0"/>
              <a:t>You're not touching any of the Python files like you normally would as a researcher. Instead, you are programming the program.md Markdown files that provide context to the AI agents and set up your autonomous research org.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9897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4E19D-5D24-54A7-E405-5B49044D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Learning: The Illusion of Deep Learning Architectures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1D287-12BD-DCFC-F327-E9BF97025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Do deep architectures actually create intelligence, or are they mostly an artifact of how we update parameters?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Current deep learning architectures (transformers, CNN, RNN) struggle with: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continual learning</a:t>
            </a:r>
          </a:p>
          <a:p>
            <a:pPr algn="just"/>
            <a:r>
              <a:rPr lang="en-US" dirty="0"/>
              <a:t>fast adaptation</a:t>
            </a:r>
          </a:p>
          <a:p>
            <a:pPr algn="just"/>
            <a:r>
              <a:rPr lang="en-US" dirty="0"/>
              <a:t>generalization outside training data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6878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5E66D-5D0C-ACA8-19E9-0CFD6C5E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Nested Learning introduces </a:t>
            </a:r>
            <a:r>
              <a:rPr lang="en-US" b="1" dirty="0">
                <a:hlinkClick r:id="rId2"/>
              </a:rPr>
              <a:t>multiple time-scale learning updates</a:t>
            </a:r>
            <a:r>
              <a:rPr lang="en-US" dirty="0">
                <a:hlinkClick r:id="rId2"/>
              </a:rPr>
              <a:t> inside a model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56D71-1FCA-F037-4313-212147551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 err="1"/>
              <a:t>Different</a:t>
            </a:r>
            <a:r>
              <a:rPr lang="es-MX" dirty="0"/>
              <a:t> </a:t>
            </a:r>
            <a:r>
              <a:rPr lang="es-MX" dirty="0" err="1"/>
              <a:t>parameters</a:t>
            </a:r>
            <a:r>
              <a:rPr lang="es-MX" dirty="0"/>
              <a:t> </a:t>
            </a:r>
            <a:r>
              <a:rPr lang="es-MX" dirty="0" err="1"/>
              <a:t>update</a:t>
            </a:r>
            <a:r>
              <a:rPr lang="es-MX" dirty="0"/>
              <a:t> at </a:t>
            </a:r>
            <a:r>
              <a:rPr lang="es-MX" b="1" dirty="0" err="1"/>
              <a:t>different</a:t>
            </a:r>
            <a:r>
              <a:rPr lang="es-MX" b="1" dirty="0"/>
              <a:t> </a:t>
            </a:r>
            <a:r>
              <a:rPr lang="es-MX" b="1" dirty="0" err="1"/>
              <a:t>speeds</a:t>
            </a:r>
            <a:r>
              <a:rPr lang="es-MX" b="1" dirty="0"/>
              <a:t> (</a:t>
            </a:r>
            <a:r>
              <a:rPr lang="es-MX" b="1" dirty="0" err="1"/>
              <a:t>from</a:t>
            </a:r>
            <a:r>
              <a:rPr lang="es-MX" b="1" dirty="0"/>
              <a:t> </a:t>
            </a:r>
            <a:r>
              <a:rPr lang="es-MX" b="1" dirty="0" err="1"/>
              <a:t>every</a:t>
            </a:r>
            <a:r>
              <a:rPr lang="es-MX" b="1" dirty="0"/>
              <a:t> step </a:t>
            </a:r>
            <a:r>
              <a:rPr lang="es-MX" b="1" dirty="0" err="1"/>
              <a:t>to</a:t>
            </a:r>
            <a:r>
              <a:rPr lang="es-MX" b="1" dirty="0"/>
              <a:t> </a:t>
            </a:r>
            <a:r>
              <a:rPr lang="es-MX" b="1" dirty="0" err="1"/>
              <a:t>very</a:t>
            </a:r>
            <a:r>
              <a:rPr lang="es-MX" b="1" dirty="0"/>
              <a:t> </a:t>
            </a:r>
            <a:r>
              <a:rPr lang="es-MX" b="1" dirty="0" err="1"/>
              <a:t>rarely</a:t>
            </a:r>
            <a:r>
              <a:rPr lang="es-MX" b="1" dirty="0"/>
              <a:t>)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n-US" dirty="0"/>
              <a:t>This creates a </a:t>
            </a:r>
            <a:r>
              <a:rPr lang="en-US" b="1" dirty="0"/>
              <a:t>nested hierarchy of learning processes</a:t>
            </a:r>
            <a:r>
              <a:rPr lang="en-US" dirty="0"/>
              <a:t>, similar to learning systems in the brain.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current</a:t>
            </a:r>
            <a:r>
              <a:rPr lang="es-MX" dirty="0"/>
              <a:t> </a:t>
            </a:r>
            <a:r>
              <a:rPr lang="es-MX" dirty="0" err="1"/>
              <a:t>assumption</a:t>
            </a:r>
            <a:r>
              <a:rPr lang="es-MX" dirty="0"/>
              <a:t>: More </a:t>
            </a:r>
            <a:r>
              <a:rPr lang="es-MX" dirty="0" err="1"/>
              <a:t>layers</a:t>
            </a:r>
            <a:r>
              <a:rPr lang="es-MX" dirty="0"/>
              <a:t> → more </a:t>
            </a:r>
            <a:r>
              <a:rPr lang="es-MX" dirty="0" err="1"/>
              <a:t>intelligence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Success</a:t>
            </a:r>
            <a:r>
              <a:rPr lang="es-MX" dirty="0"/>
              <a:t> </a:t>
            </a:r>
            <a:r>
              <a:rPr lang="es-MX" dirty="0" err="1"/>
              <a:t>might</a:t>
            </a:r>
            <a:r>
              <a:rPr lang="es-MX" dirty="0"/>
              <a:t> come </a:t>
            </a:r>
            <a:r>
              <a:rPr lang="es-MX" dirty="0" err="1"/>
              <a:t>from</a:t>
            </a:r>
            <a:r>
              <a:rPr lang="es-MX" dirty="0"/>
              <a:t>:</a:t>
            </a:r>
          </a:p>
          <a:p>
            <a:r>
              <a:rPr lang="en-US" dirty="0"/>
              <a:t>optimization dynamics</a:t>
            </a:r>
          </a:p>
          <a:p>
            <a:r>
              <a:rPr lang="en-US" dirty="0"/>
              <a:t>training schedules</a:t>
            </a:r>
          </a:p>
          <a:p>
            <a:r>
              <a:rPr lang="en-US" dirty="0"/>
              <a:t>parameter update rules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6628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9FCFF-D12E-5F57-9497-6BA56D9A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Nested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 Framework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AC4A63-36DB-04F5-ECDC-7E6258C2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b="1" dirty="0"/>
              <a:t>1. </a:t>
            </a:r>
            <a:r>
              <a:rPr lang="es-MX" b="1" dirty="0" err="1"/>
              <a:t>Multi-timescale</a:t>
            </a:r>
            <a:r>
              <a:rPr lang="es-MX" b="1" dirty="0"/>
              <a:t> </a:t>
            </a:r>
            <a:r>
              <a:rPr lang="es-MX" b="1" dirty="0" err="1"/>
              <a:t>learning</a:t>
            </a:r>
            <a:endParaRPr lang="es-MX" b="1" dirty="0"/>
          </a:p>
          <a:p>
            <a:r>
              <a:rPr lang="es-MX" dirty="0" err="1"/>
              <a:t>Different</a:t>
            </a:r>
            <a:r>
              <a:rPr lang="es-MX" dirty="0"/>
              <a:t> modules </a:t>
            </a:r>
            <a:r>
              <a:rPr lang="es-MX" dirty="0" err="1"/>
              <a:t>update</a:t>
            </a:r>
            <a:r>
              <a:rPr lang="es-MX" dirty="0"/>
              <a:t> at </a:t>
            </a:r>
            <a:r>
              <a:rPr lang="es-MX" dirty="0" err="1"/>
              <a:t>different</a:t>
            </a:r>
            <a:r>
              <a:rPr lang="es-MX" dirty="0"/>
              <a:t> </a:t>
            </a:r>
            <a:r>
              <a:rPr lang="es-MX" dirty="0" err="1"/>
              <a:t>frequencies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r>
              <a:rPr lang="es-MX" b="1" dirty="0"/>
              <a:t>2. Reusable </a:t>
            </a:r>
            <a:r>
              <a:rPr lang="es-MX" b="1" dirty="0" err="1"/>
              <a:t>structure</a:t>
            </a:r>
            <a:endParaRPr lang="es-MX" b="1" dirty="0"/>
          </a:p>
          <a:p>
            <a:r>
              <a:rPr lang="es-MX" dirty="0"/>
              <a:t>Modules share </a:t>
            </a:r>
            <a:r>
              <a:rPr lang="es-MX" dirty="0" err="1"/>
              <a:t>representations</a:t>
            </a:r>
            <a:r>
              <a:rPr lang="es-MX" dirty="0"/>
              <a:t> </a:t>
            </a:r>
            <a:r>
              <a:rPr lang="es-MX" dirty="0" err="1"/>
              <a:t>across</a:t>
            </a:r>
            <a:r>
              <a:rPr lang="es-MX" dirty="0"/>
              <a:t> </a:t>
            </a:r>
            <a:r>
              <a:rPr lang="es-MX" dirty="0" err="1"/>
              <a:t>tasks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r>
              <a:rPr lang="es-MX" b="1" dirty="0"/>
              <a:t>3. </a:t>
            </a:r>
            <a:r>
              <a:rPr lang="es-MX" b="1" dirty="0" err="1"/>
              <a:t>Continual</a:t>
            </a:r>
            <a:r>
              <a:rPr lang="es-MX" b="1" dirty="0"/>
              <a:t> </a:t>
            </a:r>
            <a:r>
              <a:rPr lang="es-MX" b="1" dirty="0" err="1"/>
              <a:t>adaptation</a:t>
            </a:r>
            <a:endParaRPr lang="es-MX" b="1" dirty="0"/>
          </a:p>
          <a:p>
            <a:r>
              <a:rPr lang="es-MX" dirty="0" err="1"/>
              <a:t>Slow</a:t>
            </a:r>
            <a:r>
              <a:rPr lang="es-MX" dirty="0"/>
              <a:t> </a:t>
            </a:r>
            <a:r>
              <a:rPr lang="es-MX" dirty="0" err="1"/>
              <a:t>parameters</a:t>
            </a:r>
            <a:r>
              <a:rPr lang="es-MX" dirty="0"/>
              <a:t> store </a:t>
            </a:r>
            <a:r>
              <a:rPr lang="es-MX" dirty="0" err="1"/>
              <a:t>long-term</a:t>
            </a:r>
            <a:r>
              <a:rPr lang="es-MX" dirty="0"/>
              <a:t> </a:t>
            </a:r>
            <a:r>
              <a:rPr lang="es-MX" dirty="0" err="1"/>
              <a:t>knowledge</a:t>
            </a:r>
            <a:r>
              <a:rPr lang="es-MX" dirty="0"/>
              <a:t>, </a:t>
            </a:r>
            <a:r>
              <a:rPr lang="es-MX" dirty="0" err="1"/>
              <a:t>while</a:t>
            </a:r>
            <a:r>
              <a:rPr lang="es-MX" dirty="0"/>
              <a:t> </a:t>
            </a:r>
            <a:r>
              <a:rPr lang="es-MX" dirty="0" err="1"/>
              <a:t>fast</a:t>
            </a:r>
            <a:r>
              <a:rPr lang="es-MX" dirty="0"/>
              <a:t> </a:t>
            </a:r>
            <a:r>
              <a:rPr lang="es-MX" dirty="0" err="1"/>
              <a:t>parameters</a:t>
            </a:r>
            <a:r>
              <a:rPr lang="es-MX" dirty="0"/>
              <a:t> </a:t>
            </a:r>
            <a:r>
              <a:rPr lang="es-MX" dirty="0" err="1"/>
              <a:t>adapt</a:t>
            </a:r>
            <a:r>
              <a:rPr lang="es-MX" dirty="0"/>
              <a:t> </a:t>
            </a:r>
            <a:r>
              <a:rPr lang="es-MX" dirty="0" err="1"/>
              <a:t>quickly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This</a:t>
            </a:r>
            <a:r>
              <a:rPr lang="es-MX" dirty="0"/>
              <a:t> </a:t>
            </a:r>
            <a:r>
              <a:rPr lang="es-MX" dirty="0" err="1"/>
              <a:t>mirrors</a:t>
            </a:r>
            <a:r>
              <a:rPr lang="es-MX" dirty="0"/>
              <a:t> </a:t>
            </a:r>
            <a:r>
              <a:rPr lang="es-MX" b="1" dirty="0" err="1"/>
              <a:t>biological</a:t>
            </a:r>
            <a:r>
              <a:rPr lang="es-MX" b="1" dirty="0"/>
              <a:t> </a:t>
            </a:r>
            <a:r>
              <a:rPr lang="es-MX" b="1" dirty="0" err="1"/>
              <a:t>learning</a:t>
            </a:r>
            <a:r>
              <a:rPr lang="es-MX" b="1" dirty="0"/>
              <a:t> </a:t>
            </a:r>
            <a:r>
              <a:rPr lang="es-MX" b="1" dirty="0" err="1"/>
              <a:t>systems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9390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262CA-B037-7FEE-5874-42328079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Experiments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F19B61-BE62-2E98-80D9-1B1B771A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Test whether the model can </a:t>
            </a:r>
            <a:r>
              <a:rPr lang="en-US" b="1" dirty="0"/>
              <a:t>learn new information without forgetting previous knowledge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retrieve information from long sequences</a:t>
            </a:r>
          </a:p>
          <a:p>
            <a:endParaRPr lang="en-US" dirty="0"/>
          </a:p>
          <a:p>
            <a:r>
              <a:rPr lang="en-US" dirty="0"/>
              <a:t>Model generalize better to new tasks with limited examples.</a:t>
            </a:r>
          </a:p>
          <a:p>
            <a:endParaRPr lang="en-US" dirty="0"/>
          </a:p>
          <a:p>
            <a:r>
              <a:rPr lang="en-US" dirty="0"/>
              <a:t>It shows the </a:t>
            </a:r>
            <a:r>
              <a:rPr lang="en-US" b="1" dirty="0"/>
              <a:t>new paradigm in AI research: improving learning processes rather than only scaling models.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44642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1201</Words>
  <Application>Microsoft Office PowerPoint</Application>
  <PresentationFormat>Panorámica</PresentationFormat>
  <Paragraphs>247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de Office</vt:lpstr>
      <vt:lpstr>Minimal LLMs and Autonomous AI Research</vt:lpstr>
      <vt:lpstr>Verbalized Sampling: Unlocking LLM Diversity</vt:lpstr>
      <vt:lpstr>Why Mode Collapse Happens?</vt:lpstr>
      <vt:lpstr>Verbalized Sampling (VS)</vt:lpstr>
      <vt:lpstr>Key idea</vt:lpstr>
      <vt:lpstr>Experimental Results</vt:lpstr>
      <vt:lpstr>Asking LLMs to Verify First is Almost Free Lunch</vt:lpstr>
      <vt:lpstr>Motivation</vt:lpstr>
      <vt:lpstr>Verify-First Prompting</vt:lpstr>
      <vt:lpstr>Experimental Results</vt:lpstr>
      <vt:lpstr>Example</vt:lpstr>
      <vt:lpstr>Recent AI research trends</vt:lpstr>
      <vt:lpstr>microGPT</vt:lpstr>
      <vt:lpstr>AutoResearch</vt:lpstr>
      <vt:lpstr>Autonomous Research Loop</vt:lpstr>
      <vt:lpstr>Key Design Constraints</vt:lpstr>
      <vt:lpstr>Experiment Loop, Example </vt:lpstr>
      <vt:lpstr>Architecture of AutoResearch</vt:lpstr>
      <vt:lpstr>Presentación de PowerPoint</vt:lpstr>
      <vt:lpstr>Multi-Agent Research</vt:lpstr>
      <vt:lpstr>How to implement it — step by step</vt:lpstr>
      <vt:lpstr>Nested Learning: The Illusion of Deep Learning Architectures</vt:lpstr>
      <vt:lpstr>Nested Learning introduces multiple time-scale learning updates inside a model</vt:lpstr>
      <vt:lpstr>Nested Learning Framework</vt:lpstr>
      <vt:lpstr>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John Robert Ballesteros Parra</cp:lastModifiedBy>
  <cp:revision>25</cp:revision>
  <dcterms:created xsi:type="dcterms:W3CDTF">2026-03-12T20:04:15Z</dcterms:created>
  <dcterms:modified xsi:type="dcterms:W3CDTF">2026-03-13T14:11:35Z</dcterms:modified>
</cp:coreProperties>
</file>