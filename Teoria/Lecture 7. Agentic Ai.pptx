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4" r:id="rId3"/>
    <p:sldId id="275" r:id="rId4"/>
    <p:sldId id="284" r:id="rId5"/>
    <p:sldId id="283" r:id="rId6"/>
    <p:sldId id="276" r:id="rId7"/>
    <p:sldId id="288" r:id="rId8"/>
    <p:sldId id="277" r:id="rId9"/>
    <p:sldId id="278" r:id="rId10"/>
    <p:sldId id="279" r:id="rId11"/>
    <p:sldId id="280" r:id="rId12"/>
    <p:sldId id="282" r:id="rId13"/>
    <p:sldId id="281" r:id="rId14"/>
    <p:sldId id="257" r:id="rId15"/>
    <p:sldId id="258" r:id="rId16"/>
    <p:sldId id="259" r:id="rId17"/>
    <p:sldId id="260" r:id="rId18"/>
    <p:sldId id="285" r:id="rId19"/>
    <p:sldId id="286"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90" r:id="rId34"/>
    <p:sldId id="289" r:id="rId35"/>
    <p:sldId id="291" r:id="rId36"/>
    <p:sldId id="292" r:id="rId37"/>
    <p:sldId id="293" r:id="rId38"/>
    <p:sldId id="294" r:id="rId39"/>
    <p:sldId id="295" r:id="rId40"/>
    <p:sldId id="296" r:id="rId41"/>
    <p:sldId id="297" r:id="rId42"/>
    <p:sldId id="298" r:id="rId43"/>
    <p:sldId id="299" r:id="rId44"/>
    <p:sldId id="287" r:id="rId45"/>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91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D9C9A0-5EE4-BD64-D08E-7C0CA5C2421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6EDCF0A4-6DDD-4781-CE2A-05CC1C6C4E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E6AF0F7D-C514-AE47-7302-C00B175900C7}"/>
              </a:ext>
            </a:extLst>
          </p:cNvPr>
          <p:cNvSpPr>
            <a:spLocks noGrp="1"/>
          </p:cNvSpPr>
          <p:nvPr>
            <p:ph type="dt" sz="half" idx="10"/>
          </p:nvPr>
        </p:nvSpPr>
        <p:spPr/>
        <p:txBody>
          <a:bodyPr/>
          <a:lstStyle/>
          <a:p>
            <a:fld id="{A31B31D0-084E-4A8A-B625-F4865B11303A}" type="datetimeFigureOut">
              <a:rPr lang="es-MX" smtClean="0"/>
              <a:t>24/03/2026</a:t>
            </a:fld>
            <a:endParaRPr lang="es-MX"/>
          </a:p>
        </p:txBody>
      </p:sp>
      <p:sp>
        <p:nvSpPr>
          <p:cNvPr id="5" name="Marcador de pie de página 4">
            <a:extLst>
              <a:ext uri="{FF2B5EF4-FFF2-40B4-BE49-F238E27FC236}">
                <a16:creationId xmlns:a16="http://schemas.microsoft.com/office/drawing/2014/main" id="{0BC89967-076B-2BA7-F7CD-C8C3148D320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40301DD-AC43-4D01-0CC0-FCAA8C67925E}"/>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3567726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CE1A1A-D9A5-643E-4011-5CF4B5DDEC7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7D5DED0-C984-8E47-88BD-BF60712829A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F8C7A1A-1745-624E-BD5E-99EDC8F26C48}"/>
              </a:ext>
            </a:extLst>
          </p:cNvPr>
          <p:cNvSpPr>
            <a:spLocks noGrp="1"/>
          </p:cNvSpPr>
          <p:nvPr>
            <p:ph type="dt" sz="half" idx="10"/>
          </p:nvPr>
        </p:nvSpPr>
        <p:spPr/>
        <p:txBody>
          <a:bodyPr/>
          <a:lstStyle/>
          <a:p>
            <a:fld id="{A31B31D0-084E-4A8A-B625-F4865B11303A}" type="datetimeFigureOut">
              <a:rPr lang="es-MX" smtClean="0"/>
              <a:t>24/03/2026</a:t>
            </a:fld>
            <a:endParaRPr lang="es-MX"/>
          </a:p>
        </p:txBody>
      </p:sp>
      <p:sp>
        <p:nvSpPr>
          <p:cNvPr id="5" name="Marcador de pie de página 4">
            <a:extLst>
              <a:ext uri="{FF2B5EF4-FFF2-40B4-BE49-F238E27FC236}">
                <a16:creationId xmlns:a16="http://schemas.microsoft.com/office/drawing/2014/main" id="{0B6C14E1-EA45-1A08-F238-65A875CD778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9239AB5-A019-C8F8-AC2F-0C534D99D36F}"/>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3576165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389BE0-18A7-B872-0F92-D771AE2F77B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950A586-E6B0-44FC-08D3-DC46B5A8CA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3CF1E91-5937-5AC8-6E7B-9EDDA9C2A66C}"/>
              </a:ext>
            </a:extLst>
          </p:cNvPr>
          <p:cNvSpPr>
            <a:spLocks noGrp="1"/>
          </p:cNvSpPr>
          <p:nvPr>
            <p:ph type="dt" sz="half" idx="10"/>
          </p:nvPr>
        </p:nvSpPr>
        <p:spPr/>
        <p:txBody>
          <a:bodyPr/>
          <a:lstStyle/>
          <a:p>
            <a:fld id="{A31B31D0-084E-4A8A-B625-F4865B11303A}" type="datetimeFigureOut">
              <a:rPr lang="es-MX" smtClean="0"/>
              <a:t>24/03/2026</a:t>
            </a:fld>
            <a:endParaRPr lang="es-MX"/>
          </a:p>
        </p:txBody>
      </p:sp>
      <p:sp>
        <p:nvSpPr>
          <p:cNvPr id="5" name="Marcador de pie de página 4">
            <a:extLst>
              <a:ext uri="{FF2B5EF4-FFF2-40B4-BE49-F238E27FC236}">
                <a16:creationId xmlns:a16="http://schemas.microsoft.com/office/drawing/2014/main" id="{5BFF0BCE-81EF-659E-25EF-90A11262F40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F051640-9659-9A93-C145-5AACE923778A}"/>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1923668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699EC6-C782-95BC-6395-E4A06760BCB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A53C851-152C-2130-31F8-D1646019EDD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71D734E3-070E-45C0-D53C-01FCD9769A8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453C6E6C-676A-D0F8-92E5-4788E74C2499}"/>
              </a:ext>
            </a:extLst>
          </p:cNvPr>
          <p:cNvSpPr>
            <a:spLocks noGrp="1"/>
          </p:cNvSpPr>
          <p:nvPr>
            <p:ph type="dt" sz="half" idx="10"/>
          </p:nvPr>
        </p:nvSpPr>
        <p:spPr/>
        <p:txBody>
          <a:bodyPr/>
          <a:lstStyle/>
          <a:p>
            <a:fld id="{A31B31D0-084E-4A8A-B625-F4865B11303A}" type="datetimeFigureOut">
              <a:rPr lang="es-MX" smtClean="0"/>
              <a:t>24/03/2026</a:t>
            </a:fld>
            <a:endParaRPr lang="es-MX"/>
          </a:p>
        </p:txBody>
      </p:sp>
      <p:sp>
        <p:nvSpPr>
          <p:cNvPr id="6" name="Marcador de pie de página 5">
            <a:extLst>
              <a:ext uri="{FF2B5EF4-FFF2-40B4-BE49-F238E27FC236}">
                <a16:creationId xmlns:a16="http://schemas.microsoft.com/office/drawing/2014/main" id="{BB35B6F2-129B-12C2-51A9-A16EFCAB9744}"/>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EAD47E3-3A31-DC21-39AC-2FC8C3410752}"/>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3619895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A4440E-2313-934E-A384-D23F5AE67C7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C08C1E7-EF8F-35FB-40CC-CF77371653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BE75F1F-E5ED-FF4E-C45A-00D1633C852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A6D9C437-5DFE-F972-22B2-830F093DC9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78DCA5A-A0CA-25C1-DAB4-BA41B45A0C5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05F51364-4C8D-79EC-8400-BBD85CDF6266}"/>
              </a:ext>
            </a:extLst>
          </p:cNvPr>
          <p:cNvSpPr>
            <a:spLocks noGrp="1"/>
          </p:cNvSpPr>
          <p:nvPr>
            <p:ph type="dt" sz="half" idx="10"/>
          </p:nvPr>
        </p:nvSpPr>
        <p:spPr/>
        <p:txBody>
          <a:bodyPr/>
          <a:lstStyle/>
          <a:p>
            <a:fld id="{A31B31D0-084E-4A8A-B625-F4865B11303A}" type="datetimeFigureOut">
              <a:rPr lang="es-MX" smtClean="0"/>
              <a:t>24/03/2026</a:t>
            </a:fld>
            <a:endParaRPr lang="es-MX"/>
          </a:p>
        </p:txBody>
      </p:sp>
      <p:sp>
        <p:nvSpPr>
          <p:cNvPr id="8" name="Marcador de pie de página 7">
            <a:extLst>
              <a:ext uri="{FF2B5EF4-FFF2-40B4-BE49-F238E27FC236}">
                <a16:creationId xmlns:a16="http://schemas.microsoft.com/office/drawing/2014/main" id="{D6B224D2-EBAE-37BD-1B0A-FE51EAB8DEE3}"/>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32677E89-DBE3-C604-46CC-28DD22B5C0E8}"/>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4033189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A808DB-DA66-D2CA-1012-8FFD104A039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7A0DCB8B-734D-96B3-8CA2-AAAC1D9E6C48}"/>
              </a:ext>
            </a:extLst>
          </p:cNvPr>
          <p:cNvSpPr>
            <a:spLocks noGrp="1"/>
          </p:cNvSpPr>
          <p:nvPr>
            <p:ph type="dt" sz="half" idx="10"/>
          </p:nvPr>
        </p:nvSpPr>
        <p:spPr/>
        <p:txBody>
          <a:bodyPr/>
          <a:lstStyle/>
          <a:p>
            <a:fld id="{A31B31D0-084E-4A8A-B625-F4865B11303A}" type="datetimeFigureOut">
              <a:rPr lang="es-MX" smtClean="0"/>
              <a:t>24/03/2026</a:t>
            </a:fld>
            <a:endParaRPr lang="es-MX"/>
          </a:p>
        </p:txBody>
      </p:sp>
      <p:sp>
        <p:nvSpPr>
          <p:cNvPr id="4" name="Marcador de pie de página 3">
            <a:extLst>
              <a:ext uri="{FF2B5EF4-FFF2-40B4-BE49-F238E27FC236}">
                <a16:creationId xmlns:a16="http://schemas.microsoft.com/office/drawing/2014/main" id="{271C3BCE-FBD0-991F-F3C3-1823866B97C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F39A5988-568F-2C96-91A4-B8A371D89FB8}"/>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888716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7D4E2F5-236D-688E-7422-DCB71DBF0ABE}"/>
              </a:ext>
            </a:extLst>
          </p:cNvPr>
          <p:cNvSpPr>
            <a:spLocks noGrp="1"/>
          </p:cNvSpPr>
          <p:nvPr>
            <p:ph type="dt" sz="half" idx="10"/>
          </p:nvPr>
        </p:nvSpPr>
        <p:spPr/>
        <p:txBody>
          <a:bodyPr/>
          <a:lstStyle/>
          <a:p>
            <a:fld id="{A31B31D0-084E-4A8A-B625-F4865B11303A}" type="datetimeFigureOut">
              <a:rPr lang="es-MX" smtClean="0"/>
              <a:t>24/03/2026</a:t>
            </a:fld>
            <a:endParaRPr lang="es-MX"/>
          </a:p>
        </p:txBody>
      </p:sp>
      <p:sp>
        <p:nvSpPr>
          <p:cNvPr id="3" name="Marcador de pie de página 2">
            <a:extLst>
              <a:ext uri="{FF2B5EF4-FFF2-40B4-BE49-F238E27FC236}">
                <a16:creationId xmlns:a16="http://schemas.microsoft.com/office/drawing/2014/main" id="{6E12CB5A-0B5E-86A6-FBA7-211439E832E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78872192-A031-C28B-C18A-FCF7DA49383A}"/>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1508961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EAD5FE-0707-F122-D25B-F359932BD98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A16D269-5BEB-B3C5-FDA8-92D8011141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1D57D41-53C6-CD48-2EFD-4CE4DE54E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A86F10D-0BD7-6EFF-6B9D-5D1078834689}"/>
              </a:ext>
            </a:extLst>
          </p:cNvPr>
          <p:cNvSpPr>
            <a:spLocks noGrp="1"/>
          </p:cNvSpPr>
          <p:nvPr>
            <p:ph type="dt" sz="half" idx="10"/>
          </p:nvPr>
        </p:nvSpPr>
        <p:spPr/>
        <p:txBody>
          <a:bodyPr/>
          <a:lstStyle/>
          <a:p>
            <a:fld id="{A31B31D0-084E-4A8A-B625-F4865B11303A}" type="datetimeFigureOut">
              <a:rPr lang="es-MX" smtClean="0"/>
              <a:t>24/03/2026</a:t>
            </a:fld>
            <a:endParaRPr lang="es-MX"/>
          </a:p>
        </p:txBody>
      </p:sp>
      <p:sp>
        <p:nvSpPr>
          <p:cNvPr id="6" name="Marcador de pie de página 5">
            <a:extLst>
              <a:ext uri="{FF2B5EF4-FFF2-40B4-BE49-F238E27FC236}">
                <a16:creationId xmlns:a16="http://schemas.microsoft.com/office/drawing/2014/main" id="{82D82D4D-58D5-C1D0-22EF-5EFA89094C5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196E1FB-12AA-7EF5-AEFD-625EF89D017E}"/>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3822846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73EFA2-8A5C-50BD-226F-AF4EFA658C1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64C29B08-FED1-762F-8CC9-D4AC6110EB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EE0F74B9-D807-6C43-9752-83F26808D1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C747DD0-4B9F-4944-D5F2-27CF256BE8D9}"/>
              </a:ext>
            </a:extLst>
          </p:cNvPr>
          <p:cNvSpPr>
            <a:spLocks noGrp="1"/>
          </p:cNvSpPr>
          <p:nvPr>
            <p:ph type="dt" sz="half" idx="10"/>
          </p:nvPr>
        </p:nvSpPr>
        <p:spPr/>
        <p:txBody>
          <a:bodyPr/>
          <a:lstStyle/>
          <a:p>
            <a:fld id="{A31B31D0-084E-4A8A-B625-F4865B11303A}" type="datetimeFigureOut">
              <a:rPr lang="es-MX" smtClean="0"/>
              <a:t>24/03/2026</a:t>
            </a:fld>
            <a:endParaRPr lang="es-MX"/>
          </a:p>
        </p:txBody>
      </p:sp>
      <p:sp>
        <p:nvSpPr>
          <p:cNvPr id="6" name="Marcador de pie de página 5">
            <a:extLst>
              <a:ext uri="{FF2B5EF4-FFF2-40B4-BE49-F238E27FC236}">
                <a16:creationId xmlns:a16="http://schemas.microsoft.com/office/drawing/2014/main" id="{F696EACC-68AC-D87C-1548-2E6EEDA199F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480DE2E-3969-CCA9-C5DF-41D17CA193E1}"/>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807992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FAB7A7-F8EE-E1FA-08BB-1CDEFE70DC3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DFCCC51-F82F-77F5-03A1-CFBE7787979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A29F4F9-0EA6-6DFA-F9AD-3C36455848E6}"/>
              </a:ext>
            </a:extLst>
          </p:cNvPr>
          <p:cNvSpPr>
            <a:spLocks noGrp="1"/>
          </p:cNvSpPr>
          <p:nvPr>
            <p:ph type="dt" sz="half" idx="10"/>
          </p:nvPr>
        </p:nvSpPr>
        <p:spPr/>
        <p:txBody>
          <a:bodyPr/>
          <a:lstStyle/>
          <a:p>
            <a:fld id="{A31B31D0-084E-4A8A-B625-F4865B11303A}" type="datetimeFigureOut">
              <a:rPr lang="es-MX" smtClean="0"/>
              <a:t>24/03/2026</a:t>
            </a:fld>
            <a:endParaRPr lang="es-MX"/>
          </a:p>
        </p:txBody>
      </p:sp>
      <p:sp>
        <p:nvSpPr>
          <p:cNvPr id="5" name="Marcador de pie de página 4">
            <a:extLst>
              <a:ext uri="{FF2B5EF4-FFF2-40B4-BE49-F238E27FC236}">
                <a16:creationId xmlns:a16="http://schemas.microsoft.com/office/drawing/2014/main" id="{0F0103CD-1C18-7B61-3B5A-ABD9DFF8587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EA3BF75-46B0-12E3-C3DD-82669B9F68C8}"/>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2136073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6E1C776-16AB-7169-EA32-A85AB6BD2CB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ACEFE148-579B-73F4-A79F-82BAC8B1FF0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74376AA-53DE-4AFC-EFAD-75057420FCAB}"/>
              </a:ext>
            </a:extLst>
          </p:cNvPr>
          <p:cNvSpPr>
            <a:spLocks noGrp="1"/>
          </p:cNvSpPr>
          <p:nvPr>
            <p:ph type="dt" sz="half" idx="10"/>
          </p:nvPr>
        </p:nvSpPr>
        <p:spPr/>
        <p:txBody>
          <a:bodyPr/>
          <a:lstStyle/>
          <a:p>
            <a:fld id="{A31B31D0-084E-4A8A-B625-F4865B11303A}" type="datetimeFigureOut">
              <a:rPr lang="es-MX" smtClean="0"/>
              <a:t>24/03/2026</a:t>
            </a:fld>
            <a:endParaRPr lang="es-MX"/>
          </a:p>
        </p:txBody>
      </p:sp>
      <p:sp>
        <p:nvSpPr>
          <p:cNvPr id="5" name="Marcador de pie de página 4">
            <a:extLst>
              <a:ext uri="{FF2B5EF4-FFF2-40B4-BE49-F238E27FC236}">
                <a16:creationId xmlns:a16="http://schemas.microsoft.com/office/drawing/2014/main" id="{F42B6A9D-7C3E-D549-E6AC-DFEB27DB9CA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2A2B54D-AAC7-277A-FF67-C914D6101B01}"/>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2371889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76E56A2-AC73-F352-5E54-17825097D0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A7B53B5-1183-1E3F-ABB9-FAD931FA2E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8D400BF-B12A-061A-C009-62AE8B437B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31B31D0-084E-4A8A-B625-F4865B11303A}" type="datetimeFigureOut">
              <a:rPr lang="es-MX" smtClean="0"/>
              <a:t>24/03/2026</a:t>
            </a:fld>
            <a:endParaRPr lang="es-MX"/>
          </a:p>
        </p:txBody>
      </p:sp>
      <p:sp>
        <p:nvSpPr>
          <p:cNvPr id="5" name="Marcador de pie de página 4">
            <a:extLst>
              <a:ext uri="{FF2B5EF4-FFF2-40B4-BE49-F238E27FC236}">
                <a16:creationId xmlns:a16="http://schemas.microsoft.com/office/drawing/2014/main" id="{09903042-E008-9216-52C7-FAFD188086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964C5586-14CE-9658-BAFE-60E809E59D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80A926-FDFE-4618-8C7C-675CA3A603D6}" type="slidenum">
              <a:rPr lang="es-MX" smtClean="0"/>
              <a:t>‹Nº›</a:t>
            </a:fld>
            <a:endParaRPr lang="es-MX"/>
          </a:p>
        </p:txBody>
      </p:sp>
    </p:spTree>
    <p:extLst>
      <p:ext uri="{BB962C8B-B14F-4D97-AF65-F5344CB8AC3E}">
        <p14:creationId xmlns:p14="http://schemas.microsoft.com/office/powerpoint/2010/main" val="14072067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arxiv.org/pdf/2505.10468v1"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youtu.be/EDb37y_MhRw?si=t-p1cOpCtQU87W0W"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08D3A9-12E6-8D48-90B3-E16DD2D2C907}"/>
              </a:ext>
            </a:extLst>
          </p:cNvPr>
          <p:cNvSpPr>
            <a:spLocks noGrp="1"/>
          </p:cNvSpPr>
          <p:nvPr>
            <p:ph type="ctrTitle"/>
          </p:nvPr>
        </p:nvSpPr>
        <p:spPr/>
        <p:txBody>
          <a:bodyPr/>
          <a:lstStyle/>
          <a:p>
            <a:r>
              <a:rPr lang="es-CO" dirty="0" err="1"/>
              <a:t>Agents</a:t>
            </a:r>
            <a:r>
              <a:rPr lang="es-CO" dirty="0"/>
              <a:t>, </a:t>
            </a:r>
            <a:r>
              <a:rPr lang="es-CO" dirty="0" err="1"/>
              <a:t>GenAi</a:t>
            </a:r>
            <a:r>
              <a:rPr lang="es-CO" dirty="0"/>
              <a:t> vs </a:t>
            </a:r>
            <a:r>
              <a:rPr lang="es-CO" dirty="0" err="1"/>
              <a:t>Agentic</a:t>
            </a:r>
            <a:r>
              <a:rPr lang="es-CO" dirty="0"/>
              <a:t> </a:t>
            </a:r>
            <a:r>
              <a:rPr lang="es-CO" dirty="0" err="1"/>
              <a:t>Ai</a:t>
            </a:r>
            <a:endParaRPr lang="es-MX" dirty="0"/>
          </a:p>
        </p:txBody>
      </p:sp>
      <p:sp>
        <p:nvSpPr>
          <p:cNvPr id="3" name="Subtítulo 2">
            <a:extLst>
              <a:ext uri="{FF2B5EF4-FFF2-40B4-BE49-F238E27FC236}">
                <a16:creationId xmlns:a16="http://schemas.microsoft.com/office/drawing/2014/main" id="{41A6C57B-5951-65C2-3DB2-791EB5507FD4}"/>
              </a:ext>
            </a:extLst>
          </p:cNvPr>
          <p:cNvSpPr>
            <a:spLocks noGrp="1"/>
          </p:cNvSpPr>
          <p:nvPr>
            <p:ph type="subTitle" idx="1"/>
          </p:nvPr>
        </p:nvSpPr>
        <p:spPr/>
        <p:txBody>
          <a:bodyPr>
            <a:normAutofit/>
          </a:bodyPr>
          <a:lstStyle/>
          <a:p>
            <a:r>
              <a:rPr lang="en-US" sz="2800" b="1" dirty="0"/>
              <a:t>From passive content generation to active goal achievement</a:t>
            </a:r>
            <a:endParaRPr lang="es-CO" sz="2800" b="1" dirty="0"/>
          </a:p>
          <a:p>
            <a:endParaRPr lang="es-CO" dirty="0"/>
          </a:p>
        </p:txBody>
      </p:sp>
    </p:spTree>
    <p:extLst>
      <p:ext uri="{BB962C8B-B14F-4D97-AF65-F5344CB8AC3E}">
        <p14:creationId xmlns:p14="http://schemas.microsoft.com/office/powerpoint/2010/main" val="2455954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96BFE2-DF05-B7B6-2D84-F7765BCC7ADF}"/>
              </a:ext>
            </a:extLst>
          </p:cNvPr>
          <p:cNvSpPr>
            <a:spLocks noGrp="1"/>
          </p:cNvSpPr>
          <p:nvPr>
            <p:ph type="title"/>
          </p:nvPr>
        </p:nvSpPr>
        <p:spPr/>
        <p:txBody>
          <a:bodyPr/>
          <a:lstStyle/>
          <a:p>
            <a:r>
              <a:rPr lang="es-CO" dirty="0" err="1"/>
              <a:t>GenAI</a:t>
            </a:r>
            <a:endParaRPr lang="es-MX" dirty="0"/>
          </a:p>
        </p:txBody>
      </p:sp>
      <p:sp>
        <p:nvSpPr>
          <p:cNvPr id="3" name="Marcador de contenido 2">
            <a:extLst>
              <a:ext uri="{FF2B5EF4-FFF2-40B4-BE49-F238E27FC236}">
                <a16:creationId xmlns:a16="http://schemas.microsoft.com/office/drawing/2014/main" id="{668E3165-14D0-BAC9-C988-9EA03A0005C6}"/>
              </a:ext>
            </a:extLst>
          </p:cNvPr>
          <p:cNvSpPr>
            <a:spLocks noGrp="1"/>
          </p:cNvSpPr>
          <p:nvPr>
            <p:ph idx="1"/>
          </p:nvPr>
        </p:nvSpPr>
        <p:spPr/>
        <p:txBody>
          <a:bodyPr/>
          <a:lstStyle/>
          <a:p>
            <a:pPr marL="0" indent="0" algn="just">
              <a:buNone/>
            </a:pPr>
            <a:endParaRPr lang="en-US" dirty="0"/>
          </a:p>
          <a:p>
            <a:pPr marL="0" indent="0" algn="just">
              <a:buNone/>
            </a:pPr>
            <a:endParaRPr lang="en-US" dirty="0"/>
          </a:p>
          <a:p>
            <a:pPr marL="0" indent="0" algn="just">
              <a:buNone/>
            </a:pPr>
            <a:endParaRPr lang="en-US" dirty="0"/>
          </a:p>
          <a:p>
            <a:pPr marL="0" indent="0" algn="just">
              <a:buNone/>
            </a:pPr>
            <a:r>
              <a:rPr lang="en-US" dirty="0"/>
              <a:t>It’s a one-shot generation task based on a user's prompt.</a:t>
            </a:r>
          </a:p>
          <a:p>
            <a:pPr marL="0" indent="0" algn="just">
              <a:buNone/>
            </a:pPr>
            <a:endParaRPr lang="en-US" dirty="0"/>
          </a:p>
          <a:p>
            <a:pPr marL="0" indent="0" algn="just">
              <a:buNone/>
            </a:pPr>
            <a:endParaRPr lang="es-MX" dirty="0"/>
          </a:p>
        </p:txBody>
      </p:sp>
      <p:sp>
        <p:nvSpPr>
          <p:cNvPr id="5" name="Rectangle 1">
            <a:extLst>
              <a:ext uri="{FF2B5EF4-FFF2-40B4-BE49-F238E27FC236}">
                <a16:creationId xmlns:a16="http://schemas.microsoft.com/office/drawing/2014/main" id="{8D8183EF-1642-C3CC-8789-3C8C41679757}"/>
              </a:ext>
            </a:extLst>
          </p:cNvPr>
          <p:cNvSpPr>
            <a:spLocks noChangeArrowheads="1"/>
          </p:cNvSpPr>
          <p:nvPr/>
        </p:nvSpPr>
        <p:spPr bwMode="auto">
          <a:xfrm>
            <a:off x="838200" y="1977186"/>
            <a:ext cx="90392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400" b="1" i="0" u="none" strike="noStrike" cap="none" normalizeH="0" baseline="0" dirty="0" err="1">
                <a:ln>
                  <a:noFill/>
                </a:ln>
                <a:solidFill>
                  <a:schemeClr val="tx1"/>
                </a:solidFill>
                <a:effectLst/>
                <a:latin typeface="Arial Unicode MS"/>
              </a:rPr>
              <a:t>Prompt</a:t>
            </a:r>
            <a:r>
              <a:rPr kumimoji="0" lang="es-MX" altLang="es-MX" sz="2400" b="1" i="0" u="none" strike="noStrike" cap="none" normalizeH="0" baseline="0" dirty="0">
                <a:ln>
                  <a:noFill/>
                </a:ln>
                <a:solidFill>
                  <a:schemeClr val="tx1"/>
                </a:solidFill>
                <a:effectLst/>
                <a:latin typeface="Arial Unicode MS"/>
              </a:rPr>
              <a:t> -&gt; [Generative AI </a:t>
            </a:r>
            <a:r>
              <a:rPr kumimoji="0" lang="es-MX" altLang="es-MX" sz="2400" b="1" i="0" u="none" strike="noStrike" cap="none" normalizeH="0" baseline="0" dirty="0" err="1">
                <a:ln>
                  <a:noFill/>
                </a:ln>
                <a:solidFill>
                  <a:schemeClr val="tx1"/>
                </a:solidFill>
                <a:effectLst/>
                <a:latin typeface="Arial Unicode MS"/>
              </a:rPr>
              <a:t>Model</a:t>
            </a:r>
            <a:r>
              <a:rPr kumimoji="0" lang="es-MX" altLang="es-MX" sz="2400" b="1" i="0" u="none" strike="noStrike" cap="none" normalizeH="0" baseline="0" dirty="0">
                <a:ln>
                  <a:noFill/>
                </a:ln>
                <a:solidFill>
                  <a:schemeClr val="tx1"/>
                </a:solidFill>
                <a:effectLst/>
                <a:latin typeface="Arial Unicode MS"/>
              </a:rPr>
              <a:t>] -&gt; Output</a:t>
            </a:r>
            <a:endParaRPr kumimoji="0" lang="es-MX" altLang="es-MX"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4800" b="1"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E92DAC70-401D-F94B-FC51-BB353B99B74A}"/>
              </a:ext>
            </a:extLst>
          </p:cNvPr>
          <p:cNvSpPr>
            <a:spLocks noChangeArrowheads="1"/>
          </p:cNvSpPr>
          <p:nvPr/>
        </p:nvSpPr>
        <p:spPr bwMode="auto">
          <a:xfrm>
            <a:off x="923925" y="4529406"/>
            <a:ext cx="858202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a:ln>
                  <a:noFill/>
                </a:ln>
                <a:solidFill>
                  <a:schemeClr val="tx1"/>
                </a:solidFill>
                <a:effectLst/>
                <a:latin typeface="Arial" panose="020B0604020202020204" pitchFamily="34" charset="0"/>
              </a:rPr>
              <a:t> A master </a:t>
            </a:r>
            <a:r>
              <a:rPr kumimoji="0" lang="es-MX" altLang="es-MX" sz="2000" b="0" i="0" u="none" strike="noStrike" cap="none" normalizeH="0" baseline="0" dirty="0" err="1">
                <a:ln>
                  <a:noFill/>
                </a:ln>
                <a:solidFill>
                  <a:schemeClr val="tx1"/>
                </a:solidFill>
                <a:effectLst/>
                <a:latin typeface="Arial" panose="020B0604020202020204" pitchFamily="34" charset="0"/>
              </a:rPr>
              <a:t>painter</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you</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commission</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for</a:t>
            </a:r>
            <a:r>
              <a:rPr kumimoji="0" lang="es-MX" altLang="es-MX" sz="2000" b="0" i="0" u="none" strike="noStrike" cap="none" normalizeH="0" baseline="0" dirty="0">
                <a:ln>
                  <a:noFill/>
                </a:ln>
                <a:solidFill>
                  <a:schemeClr val="tx1"/>
                </a:solidFill>
                <a:effectLst/>
                <a:latin typeface="Arial" panose="020B0604020202020204" pitchFamily="34" charset="0"/>
              </a:rPr>
              <a:t> a </a:t>
            </a:r>
            <a:r>
              <a:rPr kumimoji="0" lang="es-MX" altLang="es-MX" sz="2000" b="0" i="0" u="none" strike="noStrike" cap="none" normalizeH="0" baseline="0" dirty="0" err="1">
                <a:ln>
                  <a:noFill/>
                </a:ln>
                <a:solidFill>
                  <a:schemeClr val="tx1"/>
                </a:solidFill>
                <a:effectLst/>
                <a:latin typeface="Arial" panose="020B0604020202020204" pitchFamily="34" charset="0"/>
              </a:rPr>
              <a:t>portrait</a:t>
            </a:r>
            <a:r>
              <a:rPr kumimoji="0" lang="es-MX" altLang="es-MX"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a:ln>
                  <a:noFill/>
                </a:ln>
                <a:solidFill>
                  <a:schemeClr val="tx1"/>
                </a:solidFill>
                <a:effectLst/>
                <a:latin typeface="Arial" panose="020B0604020202020204" pitchFamily="34" charset="0"/>
              </a:rPr>
              <a:t> A </a:t>
            </a:r>
            <a:r>
              <a:rPr kumimoji="0" lang="es-MX" altLang="es-MX" sz="2000" b="0" i="0" u="none" strike="noStrike" cap="none" normalizeH="0" baseline="0" dirty="0" err="1">
                <a:ln>
                  <a:noFill/>
                </a:ln>
                <a:solidFill>
                  <a:schemeClr val="tx1"/>
                </a:solidFill>
                <a:effectLst/>
                <a:latin typeface="Arial" panose="020B0604020202020204" pitchFamily="34" charset="0"/>
              </a:rPr>
              <a:t>brilliant</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author</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you</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ask</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to</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write</a:t>
            </a:r>
            <a:r>
              <a:rPr kumimoji="0" lang="es-MX" altLang="es-MX" sz="2000" b="0" i="0" u="none" strike="noStrike" cap="none" normalizeH="0" baseline="0" dirty="0">
                <a:ln>
                  <a:noFill/>
                </a:ln>
                <a:solidFill>
                  <a:schemeClr val="tx1"/>
                </a:solidFill>
                <a:effectLst/>
                <a:latin typeface="Arial" panose="020B0604020202020204" pitchFamily="34" charset="0"/>
              </a:rPr>
              <a:t> a </a:t>
            </a:r>
            <a:r>
              <a:rPr kumimoji="0" lang="es-MX" altLang="es-MX" sz="2000" b="0" i="0" u="none" strike="noStrike" cap="none" normalizeH="0" baseline="0" dirty="0" err="1">
                <a:ln>
                  <a:noFill/>
                </a:ln>
                <a:solidFill>
                  <a:schemeClr val="tx1"/>
                </a:solidFill>
                <a:effectLst/>
                <a:latin typeface="Arial" panose="020B0604020202020204" pitchFamily="34" charset="0"/>
              </a:rPr>
              <a:t>poem</a:t>
            </a:r>
            <a:r>
              <a:rPr kumimoji="0" lang="es-MX" altLang="es-MX"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a:ln>
                  <a:noFill/>
                </a:ln>
                <a:solidFill>
                  <a:schemeClr val="tx1"/>
                </a:solidFill>
                <a:effectLst/>
                <a:latin typeface="Arial" panose="020B0604020202020204" pitchFamily="34" charset="0"/>
              </a:rPr>
              <a:t> A </a:t>
            </a:r>
            <a:r>
              <a:rPr kumimoji="0" lang="es-MX" altLang="es-MX" sz="2000" b="0" i="0" u="none" strike="noStrike" cap="none" normalizeH="0" baseline="0" dirty="0" err="1">
                <a:ln>
                  <a:noFill/>
                </a:ln>
                <a:solidFill>
                  <a:schemeClr val="tx1"/>
                </a:solidFill>
                <a:effectLst/>
                <a:latin typeface="Arial" panose="020B0604020202020204" pitchFamily="34" charset="0"/>
              </a:rPr>
              <a:t>talented</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programmer</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you</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ask</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to</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write</a:t>
            </a:r>
            <a:r>
              <a:rPr kumimoji="0" lang="es-MX" altLang="es-MX" sz="2000" b="0" i="0" u="none" strike="noStrike" cap="none" normalizeH="0" baseline="0" dirty="0">
                <a:ln>
                  <a:noFill/>
                </a:ln>
                <a:solidFill>
                  <a:schemeClr val="tx1"/>
                </a:solidFill>
                <a:effectLst/>
                <a:latin typeface="Arial" panose="020B0604020202020204" pitchFamily="34" charset="0"/>
              </a:rPr>
              <a:t> a </a:t>
            </a:r>
            <a:r>
              <a:rPr kumimoji="0" lang="es-MX" altLang="es-MX" sz="2000" b="0" i="0" u="none" strike="noStrike" cap="none" normalizeH="0" baseline="0" dirty="0" err="1">
                <a:ln>
                  <a:noFill/>
                </a:ln>
                <a:solidFill>
                  <a:schemeClr val="tx1"/>
                </a:solidFill>
                <a:effectLst/>
                <a:latin typeface="Arial" panose="020B0604020202020204" pitchFamily="34" charset="0"/>
              </a:rPr>
              <a:t>specific</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function</a:t>
            </a:r>
            <a:r>
              <a:rPr kumimoji="0" lang="es-MX" altLang="es-MX" sz="20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835869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590811-9062-9B7E-57B2-63FB254C8011}"/>
              </a:ext>
            </a:extLst>
          </p:cNvPr>
          <p:cNvSpPr>
            <a:spLocks noGrp="1"/>
          </p:cNvSpPr>
          <p:nvPr>
            <p:ph type="title"/>
          </p:nvPr>
        </p:nvSpPr>
        <p:spPr/>
        <p:txBody>
          <a:bodyPr/>
          <a:lstStyle/>
          <a:p>
            <a:r>
              <a:rPr lang="es-CO" dirty="0" err="1"/>
              <a:t>GenAi</a:t>
            </a:r>
            <a:r>
              <a:rPr lang="es-CO" dirty="0"/>
              <a:t> </a:t>
            </a:r>
            <a:r>
              <a:rPr lang="es-CO" dirty="0" err="1"/>
              <a:t>Limitations</a:t>
            </a:r>
            <a:endParaRPr lang="es-MX" dirty="0"/>
          </a:p>
        </p:txBody>
      </p:sp>
      <p:sp>
        <p:nvSpPr>
          <p:cNvPr id="4" name="Rectangle 1">
            <a:extLst>
              <a:ext uri="{FF2B5EF4-FFF2-40B4-BE49-F238E27FC236}">
                <a16:creationId xmlns:a16="http://schemas.microsoft.com/office/drawing/2014/main" id="{F2740DEF-D431-650F-C27B-46D91D776174}"/>
              </a:ext>
            </a:extLst>
          </p:cNvPr>
          <p:cNvSpPr>
            <a:spLocks noGrp="1" noChangeArrowheads="1"/>
          </p:cNvSpPr>
          <p:nvPr>
            <p:ph idx="1"/>
          </p:nvPr>
        </p:nvSpPr>
        <p:spPr bwMode="auto">
          <a:xfrm>
            <a:off x="596452" y="1810745"/>
            <a:ext cx="10938323"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Passive</a:t>
            </a:r>
            <a:r>
              <a:rPr kumimoji="0" lang="es-MX" altLang="es-MX" sz="2400" b="1" i="0" u="none" strike="noStrike" cap="none" normalizeH="0" baseline="0" dirty="0">
                <a:ln>
                  <a:noFill/>
                </a:ln>
                <a:solidFill>
                  <a:schemeClr val="tx1"/>
                </a:solidFill>
                <a:effectLst/>
                <a:latin typeface="Arial" panose="020B0604020202020204" pitchFamily="34" charset="0"/>
              </a:rPr>
              <a:t> &amp; </a:t>
            </a:r>
            <a:r>
              <a:rPr kumimoji="0" lang="es-MX" altLang="es-MX" sz="2400" b="1" i="0" u="none" strike="noStrike" cap="none" normalizeH="0" baseline="0" dirty="0" err="1">
                <a:ln>
                  <a:noFill/>
                </a:ln>
                <a:solidFill>
                  <a:schemeClr val="tx1"/>
                </a:solidFill>
                <a:effectLst/>
                <a:latin typeface="Arial" panose="020B0604020202020204" pitchFamily="34" charset="0"/>
              </a:rPr>
              <a:t>Stateless</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waits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for</a:t>
            </a:r>
            <a:r>
              <a:rPr kumimoji="0" lang="es-MX" altLang="es-MX" sz="2400" b="0" i="0" u="none" strike="noStrike" cap="none" normalizeH="0" baseline="0" dirty="0">
                <a:ln>
                  <a:noFill/>
                </a:ln>
                <a:solidFill>
                  <a:schemeClr val="tx1"/>
                </a:solidFill>
                <a:effectLst/>
                <a:latin typeface="Arial" panose="020B0604020202020204" pitchFamily="34" charset="0"/>
              </a:rPr>
              <a:t> a </a:t>
            </a:r>
            <a:r>
              <a:rPr kumimoji="0" lang="es-MX" altLang="es-MX" sz="2400" b="0" i="0" u="none" strike="noStrike" cap="none" normalizeH="0" baseline="0" dirty="0" err="1">
                <a:ln>
                  <a:noFill/>
                </a:ln>
                <a:solidFill>
                  <a:schemeClr val="tx1"/>
                </a:solidFill>
                <a:effectLst/>
                <a:latin typeface="Arial" panose="020B0604020202020204" pitchFamily="34" charset="0"/>
              </a:rPr>
              <a:t>prompt</a:t>
            </a:r>
            <a:r>
              <a:rPr kumimoji="0" lang="es-MX" altLang="es-MX" sz="2400" b="0" i="0" u="none" strike="noStrike" cap="none" normalizeH="0" baseline="0" dirty="0">
                <a:ln>
                  <a:noFill/>
                </a:ln>
                <a:solidFill>
                  <a:schemeClr val="tx1"/>
                </a:solidFill>
                <a:effectLst/>
                <a:latin typeface="Arial" panose="020B0604020202020204" pitchFamily="34" charset="0"/>
              </a:rPr>
              <a:t> and has no </a:t>
            </a:r>
            <a:r>
              <a:rPr kumimoji="0" lang="es-MX" altLang="es-MX" sz="2400" b="0" i="0" u="none" strike="noStrike" cap="none" normalizeH="0" baseline="0" dirty="0" err="1">
                <a:ln>
                  <a:noFill/>
                </a:ln>
                <a:solidFill>
                  <a:schemeClr val="tx1"/>
                </a:solidFill>
                <a:effectLst/>
                <a:latin typeface="Arial" panose="020B0604020202020204" pitchFamily="34" charset="0"/>
              </a:rPr>
              <a:t>memory</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of</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past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interactions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by</a:t>
            </a:r>
            <a:r>
              <a:rPr kumimoji="0" lang="es-MX" altLang="es-MX" sz="2400" b="0" i="0" u="none" strike="noStrike" cap="none" normalizeH="0" baseline="0" dirty="0">
                <a:ln>
                  <a:noFill/>
                </a:ln>
                <a:solidFill>
                  <a:schemeClr val="tx1"/>
                </a:solidFill>
                <a:effectLst/>
                <a:latin typeface="Arial" panose="020B0604020202020204" pitchFamily="34" charset="0"/>
              </a:rPr>
              <a:t> default. </a:t>
            </a:r>
            <a:r>
              <a:rPr kumimoji="0" lang="es-MX" altLang="es-MX" sz="2400" b="0" i="0" u="none" strike="noStrike" cap="none" normalizeH="0" baseline="0" dirty="0" err="1">
                <a:ln>
                  <a:noFill/>
                </a:ln>
                <a:solidFill>
                  <a:schemeClr val="tx1"/>
                </a:solidFill>
                <a:effectLst/>
                <a:latin typeface="Arial" panose="020B0604020202020204" pitchFamily="34" charset="0"/>
              </a:rPr>
              <a:t>It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doesn't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initiate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action</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sz="24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Lack</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of</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Autonomy</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cannot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act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on</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its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own</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achieve</a:t>
            </a:r>
            <a:r>
              <a:rPr kumimoji="0" lang="es-MX" altLang="es-MX" sz="2400" b="0" i="0" u="none" strike="noStrike" cap="none" normalizeH="0" baseline="0" dirty="0">
                <a:ln>
                  <a:noFill/>
                </a:ln>
                <a:solidFill>
                  <a:schemeClr val="tx1"/>
                </a:solidFill>
                <a:effectLst/>
                <a:latin typeface="Arial" panose="020B0604020202020204" pitchFamily="34" charset="0"/>
              </a:rPr>
              <a:t> a </a:t>
            </a:r>
            <a:r>
              <a:rPr kumimoji="0" lang="es-MX" altLang="es-MX" sz="2400" b="0" i="0" u="none" strike="noStrike" cap="none" normalizeH="0" baseline="0" dirty="0" err="1">
                <a:ln>
                  <a:noFill/>
                </a:ln>
                <a:solidFill>
                  <a:schemeClr val="tx1"/>
                </a:solidFill>
                <a:effectLst/>
                <a:latin typeface="Arial" panose="020B0604020202020204" pitchFamily="34" charset="0"/>
              </a:rPr>
              <a:t>goal</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It</a:t>
            </a:r>
            <a:r>
              <a:rPr kumimoji="0" lang="es-MX" altLang="es-MX" sz="2400" b="0" i="0" u="none" strike="noStrike" cap="none" normalizeH="0" baseline="0" dirty="0">
                <a:ln>
                  <a:noFill/>
                </a:ln>
                <a:solidFill>
                  <a:schemeClr val="tx1"/>
                </a:solidFill>
                <a:effectLst/>
                <a:latin typeface="Arial" panose="020B0604020202020204" pitchFamily="34" charset="0"/>
              </a:rPr>
              <a:t> completes a</a:t>
            </a:r>
            <a:r>
              <a:rPr lang="es-MX" altLang="es-MX" sz="2400" dirty="0">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given</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task</a:t>
            </a:r>
            <a:r>
              <a:rPr kumimoji="0" lang="es-MX" altLang="es-MX" sz="2400" b="0" i="0" u="none" strike="noStrike" cap="none" normalizeH="0" baseline="0" dirty="0">
                <a:ln>
                  <a:noFill/>
                </a:ln>
                <a:solidFill>
                  <a:schemeClr val="tx1"/>
                </a:solidFill>
                <a:effectLst/>
                <a:latin typeface="Arial" panose="020B0604020202020204" pitchFamily="34" charset="0"/>
              </a:rPr>
              <a:t> and </a:t>
            </a:r>
            <a:r>
              <a:rPr kumimoji="0" lang="es-MX" altLang="es-MX" sz="2400" b="0" i="0" u="none" strike="noStrike" cap="none" normalizeH="0" baseline="0" dirty="0" err="1">
                <a:ln>
                  <a:noFill/>
                </a:ln>
                <a:solidFill>
                  <a:schemeClr val="tx1"/>
                </a:solidFill>
                <a:effectLst/>
                <a:latin typeface="Arial" panose="020B0604020202020204" pitchFamily="34" charset="0"/>
              </a:rPr>
              <a:t>stops</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sz="24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Confined</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Knowledge</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Without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external</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tools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its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knowledge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frozen</a:t>
            </a:r>
            <a:r>
              <a:rPr kumimoji="0" lang="es-MX" altLang="es-MX" sz="2400" b="0" i="0" u="none" strike="noStrike" cap="none" normalizeH="0" baseline="0" dirty="0">
                <a:ln>
                  <a:noFill/>
                </a:ln>
                <a:solidFill>
                  <a:schemeClr val="tx1"/>
                </a:solidFill>
                <a:effectLst/>
                <a:latin typeface="Arial" panose="020B0604020202020204" pitchFamily="34" charset="0"/>
              </a:rPr>
              <a:t>" at </a:t>
            </a:r>
            <a:r>
              <a:rPr kumimoji="0" lang="es-MX" altLang="es-MX" sz="2400" b="0" i="0" u="none" strike="noStrike" cap="none" normalizeH="0" baseline="0" dirty="0" err="1">
                <a:ln>
                  <a:noFill/>
                </a:ln>
                <a:solidFill>
                  <a:schemeClr val="tx1"/>
                </a:solidFill>
                <a:effectLst/>
                <a:latin typeface="Arial" panose="020B0604020202020204" pitchFamily="34" charset="0"/>
              </a:rPr>
              <a:t>the</a:t>
            </a:r>
            <a:r>
              <a:rPr kumimoji="0" lang="es-MX" altLang="es-MX" sz="2400" b="0" i="0" u="none" strike="noStrike" cap="none" normalizeH="0" baseline="0" dirty="0">
                <a:ln>
                  <a:noFill/>
                </a:ln>
                <a:solidFill>
                  <a:schemeClr val="tx1"/>
                </a:solidFill>
                <a:effectLst/>
                <a:latin typeface="Arial" panose="020B0604020202020204" pitchFamily="34" charset="0"/>
              </a:rPr>
              <a:t> time </a:t>
            </a:r>
            <a:r>
              <a:rPr kumimoji="0" lang="es-MX" altLang="es-MX" sz="2400" b="0" i="0" u="none" strike="noStrike" cap="none" normalizeH="0" baseline="0" dirty="0" err="1">
                <a:ln>
                  <a:noFill/>
                </a:ln>
                <a:solidFill>
                  <a:schemeClr val="tx1"/>
                </a:solidFill>
                <a:effectLst/>
                <a:latin typeface="Arial" panose="020B0604020202020204" pitchFamily="34" charset="0"/>
              </a:rPr>
              <a:t>its</a:t>
            </a:r>
            <a:r>
              <a:rPr kumimoji="0" lang="es-MX" altLang="es-MX" sz="2400" b="0" i="0" u="none" strike="noStrike" cap="none" normalizeH="0" baseline="0" dirty="0">
                <a:ln>
                  <a:noFill/>
                </a:ln>
                <a:solidFill>
                  <a:schemeClr val="tx1"/>
                </a:solidFill>
                <a:effectLst/>
                <a:latin typeface="Arial" panose="020B0604020202020204" pitchFamily="34" charset="0"/>
              </a:rPr>
              <a:t> training data </a:t>
            </a:r>
            <a:r>
              <a:rPr kumimoji="0" lang="es-MX" altLang="es-MX" sz="2400" b="0" i="0" u="none" strike="noStrike" cap="none" normalizeH="0" baseline="0" dirty="0" err="1">
                <a:ln>
                  <a:noFill/>
                </a:ln>
                <a:solidFill>
                  <a:schemeClr val="tx1"/>
                </a:solidFill>
                <a:effectLst/>
                <a:latin typeface="Arial" panose="020B0604020202020204" pitchFamily="34" charset="0"/>
              </a:rPr>
              <a:t>was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collected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can't</a:t>
            </a:r>
            <a:r>
              <a:rPr kumimoji="0" lang="es-MX" altLang="es-MX" sz="2400" b="0" i="0" u="none" strike="noStrike" cap="none" normalizeH="0" baseline="0" dirty="0">
                <a:ln>
                  <a:noFill/>
                </a:ln>
                <a:solidFill>
                  <a:schemeClr val="tx1"/>
                </a:solidFill>
                <a:effectLst/>
                <a:latin typeface="Arial" panose="020B0604020202020204" pitchFamily="34" charset="0"/>
              </a:rPr>
              <a:t> look up </a:t>
            </a:r>
            <a:r>
              <a:rPr kumimoji="0" lang="es-MX" altLang="es-MX" sz="2400" b="0" i="0" u="none" strike="noStrike" cap="none" normalizeH="0" baseline="0" dirty="0" err="1">
                <a:ln>
                  <a:noFill/>
                </a:ln>
                <a:solidFill>
                  <a:schemeClr val="tx1"/>
                </a:solidFill>
                <a:effectLst/>
                <a:latin typeface="Arial" panose="020B0604020202020204" pitchFamily="34" charset="0"/>
              </a:rPr>
              <a:t>current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information</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sz="24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lang="es-MX" altLang="es-MX" sz="2400" b="1" dirty="0">
                <a:latin typeface="Arial" panose="020B0604020202020204" pitchFamily="34" charset="0"/>
              </a:rPr>
              <a:t> </a:t>
            </a:r>
            <a:r>
              <a:rPr kumimoji="0" lang="es-MX" altLang="es-MX" sz="2400" b="1" i="0" u="none" strike="noStrike" cap="none" normalizeH="0" baseline="0" dirty="0">
                <a:ln>
                  <a:noFill/>
                </a:ln>
                <a:solidFill>
                  <a:schemeClr val="tx1"/>
                </a:solidFill>
                <a:effectLst/>
                <a:latin typeface="Arial" panose="020B0604020202020204" pitchFamily="34" charset="0"/>
              </a:rPr>
              <a:t>No </a:t>
            </a:r>
            <a:r>
              <a:rPr kumimoji="0" lang="es-MX" altLang="es-MX" sz="2400" b="1" i="0" u="none" strike="noStrike" cap="none" normalizeH="0" baseline="0" dirty="0" err="1">
                <a:ln>
                  <a:noFill/>
                </a:ln>
                <a:solidFill>
                  <a:schemeClr val="tx1"/>
                </a:solidFill>
                <a:effectLst/>
                <a:latin typeface="Arial" panose="020B0604020202020204" pitchFamily="34" charset="0"/>
              </a:rPr>
              <a:t>Interaction</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with</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the</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World</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cannot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browse</a:t>
            </a:r>
            <a:r>
              <a:rPr kumimoji="0" lang="es-MX" altLang="es-MX" sz="2400" b="0" i="0" u="none" strike="noStrike" cap="none" normalizeH="0" baseline="0" dirty="0">
                <a:ln>
                  <a:noFill/>
                </a:ln>
                <a:solidFill>
                  <a:schemeClr val="tx1"/>
                </a:solidFill>
                <a:effectLst/>
                <a:latin typeface="Arial" panose="020B0604020202020204" pitchFamily="34" charset="0"/>
              </a:rPr>
              <a:t> a </a:t>
            </a:r>
            <a:r>
              <a:rPr kumimoji="0" lang="es-MX" altLang="es-MX" sz="2400" b="0" i="0" u="none" strike="noStrike" cap="none" normalizeH="0" baseline="0" dirty="0" err="1">
                <a:ln>
                  <a:noFill/>
                </a:ln>
                <a:solidFill>
                  <a:schemeClr val="tx1"/>
                </a:solidFill>
                <a:effectLst/>
                <a:latin typeface="Arial" panose="020B0604020202020204" pitchFamily="34" charset="0"/>
              </a:rPr>
              <a:t>website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send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an</a:t>
            </a:r>
            <a:r>
              <a:rPr kumimoji="0" lang="es-MX" altLang="es-MX" sz="2400" b="0" i="0" u="none" strike="noStrike" cap="none" normalizeH="0" baseline="0" dirty="0">
                <a:ln>
                  <a:noFill/>
                </a:ln>
                <a:solidFill>
                  <a:schemeClr val="tx1"/>
                </a:solidFill>
                <a:effectLst/>
                <a:latin typeface="Arial" panose="020B0604020202020204" pitchFamily="34" charset="0"/>
              </a:rPr>
              <a:t> email, </a:t>
            </a:r>
            <a:r>
              <a:rPr kumimoji="0" lang="es-MX" altLang="es-MX" sz="2400" b="0" i="0" u="none" strike="noStrike" cap="none" normalizeH="0" baseline="0" dirty="0" err="1">
                <a:ln>
                  <a:noFill/>
                </a:ln>
                <a:solidFill>
                  <a:schemeClr val="tx1"/>
                </a:solidFill>
                <a:effectLst/>
                <a:latin typeface="Arial" panose="020B0604020202020204" pitchFamily="34" charset="0"/>
              </a:rPr>
              <a:t>access</a:t>
            </a:r>
            <a:r>
              <a:rPr kumimoji="0" lang="es-MX" altLang="es-MX" sz="2400" b="0" i="0" u="none" strike="noStrike" cap="none" normalizeH="0" baseline="0" dirty="0">
                <a:ln>
                  <a:noFill/>
                </a:ln>
                <a:solidFill>
                  <a:schemeClr val="tx1"/>
                </a:solidFill>
                <a:effectLst/>
                <a:latin typeface="Arial" panose="020B0604020202020204" pitchFamily="34" charset="0"/>
              </a:rPr>
              <a:t> a </a:t>
            </a:r>
            <a:r>
              <a:rPr kumimoji="0" lang="es-MX" altLang="es-MX" sz="2400" b="0" i="0" u="none" strike="noStrike" cap="none" normalizeH="0" baseline="0" dirty="0" err="1">
                <a:ln>
                  <a:noFill/>
                </a:ln>
                <a:solidFill>
                  <a:schemeClr val="tx1"/>
                </a:solidFill>
                <a:effectLst/>
                <a:latin typeface="Arial" panose="020B0604020202020204" pitchFamily="34" charset="0"/>
              </a:rPr>
              <a:t>database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execute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code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only</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generates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content</a:t>
            </a:r>
            <a:r>
              <a:rPr kumimoji="0" lang="es-MX" altLang="es-MX"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434899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F39118-1EDC-5AF6-3CF1-DEB6D820E0AD}"/>
              </a:ext>
            </a:extLst>
          </p:cNvPr>
          <p:cNvSpPr>
            <a:spLocks noGrp="1"/>
          </p:cNvSpPr>
          <p:nvPr>
            <p:ph type="title"/>
          </p:nvPr>
        </p:nvSpPr>
        <p:spPr/>
        <p:txBody>
          <a:bodyPr/>
          <a:lstStyle/>
          <a:p>
            <a:r>
              <a:rPr lang="es-CO" dirty="0" err="1"/>
              <a:t>Agent</a:t>
            </a:r>
            <a:endParaRPr lang="es-MX" dirty="0"/>
          </a:p>
        </p:txBody>
      </p:sp>
      <p:sp>
        <p:nvSpPr>
          <p:cNvPr id="3" name="Marcador de contenido 2">
            <a:extLst>
              <a:ext uri="{FF2B5EF4-FFF2-40B4-BE49-F238E27FC236}">
                <a16:creationId xmlns:a16="http://schemas.microsoft.com/office/drawing/2014/main" id="{4623ABA1-BF10-EE48-0CC3-EB3FD0AFC2B4}"/>
              </a:ext>
            </a:extLst>
          </p:cNvPr>
          <p:cNvSpPr>
            <a:spLocks noGrp="1"/>
          </p:cNvSpPr>
          <p:nvPr>
            <p:ph idx="1"/>
          </p:nvPr>
        </p:nvSpPr>
        <p:spPr/>
        <p:txBody>
          <a:bodyPr/>
          <a:lstStyle/>
          <a:p>
            <a:pPr marL="0" indent="0" algn="just">
              <a:buNone/>
            </a:pPr>
            <a:r>
              <a:rPr lang="en-US" dirty="0"/>
              <a:t>It’s an entity—either software or physical—that perceives its environment, makes decisions, and takes actions autonomously to achieve specific goals or complete tasks.</a:t>
            </a:r>
          </a:p>
          <a:p>
            <a:pPr marL="0" indent="0" algn="just">
              <a:buNone/>
            </a:pPr>
            <a:endParaRPr lang="en-US" dirty="0"/>
          </a:p>
          <a:p>
            <a:pPr marL="0" indent="0" algn="just">
              <a:buNone/>
            </a:pPr>
            <a:r>
              <a:rPr lang="en-US" dirty="0"/>
              <a:t>Often on behalf of a user or another system</a:t>
            </a:r>
          </a:p>
          <a:p>
            <a:pPr marL="0" indent="0" algn="just">
              <a:buNone/>
            </a:pPr>
            <a:endParaRPr lang="en-US" dirty="0"/>
          </a:p>
          <a:p>
            <a:pPr marL="0" indent="0" algn="just">
              <a:buNone/>
            </a:pPr>
            <a:r>
              <a:rPr lang="en-US" dirty="0"/>
              <a:t>can range from simple automated scripts to highly complex systems like self-driving vehicles or robotic assistants.</a:t>
            </a:r>
            <a:endParaRPr lang="es-MX" dirty="0"/>
          </a:p>
        </p:txBody>
      </p:sp>
    </p:spTree>
    <p:extLst>
      <p:ext uri="{BB962C8B-B14F-4D97-AF65-F5344CB8AC3E}">
        <p14:creationId xmlns:p14="http://schemas.microsoft.com/office/powerpoint/2010/main" val="4173886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F05A8E-81DB-BA79-2F71-B3A1412F26A7}"/>
              </a:ext>
            </a:extLst>
          </p:cNvPr>
          <p:cNvSpPr>
            <a:spLocks noGrp="1"/>
          </p:cNvSpPr>
          <p:nvPr>
            <p:ph type="title"/>
          </p:nvPr>
        </p:nvSpPr>
        <p:spPr/>
        <p:txBody>
          <a:bodyPr/>
          <a:lstStyle/>
          <a:p>
            <a:r>
              <a:rPr lang="es-CO" dirty="0" err="1"/>
              <a:t>Ai</a:t>
            </a:r>
            <a:r>
              <a:rPr lang="es-CO" dirty="0"/>
              <a:t> </a:t>
            </a:r>
            <a:r>
              <a:rPr lang="es-CO" dirty="0" err="1"/>
              <a:t>Agents</a:t>
            </a:r>
            <a:endParaRPr lang="es-MX" dirty="0"/>
          </a:p>
        </p:txBody>
      </p:sp>
      <p:sp>
        <p:nvSpPr>
          <p:cNvPr id="3" name="Marcador de contenido 2">
            <a:extLst>
              <a:ext uri="{FF2B5EF4-FFF2-40B4-BE49-F238E27FC236}">
                <a16:creationId xmlns:a16="http://schemas.microsoft.com/office/drawing/2014/main" id="{4CB7C213-3578-7255-8A01-B79BF58D4602}"/>
              </a:ext>
            </a:extLst>
          </p:cNvPr>
          <p:cNvSpPr>
            <a:spLocks noGrp="1"/>
          </p:cNvSpPr>
          <p:nvPr>
            <p:ph idx="1"/>
          </p:nvPr>
        </p:nvSpPr>
        <p:spPr/>
        <p:txBody>
          <a:bodyPr/>
          <a:lstStyle/>
          <a:p>
            <a:pPr marL="0" indent="0">
              <a:buNone/>
            </a:pPr>
            <a:r>
              <a:rPr lang="es-MX" dirty="0" err="1"/>
              <a:t>An</a:t>
            </a:r>
            <a:r>
              <a:rPr lang="es-MX" dirty="0"/>
              <a:t> </a:t>
            </a:r>
            <a:r>
              <a:rPr lang="es-MX" dirty="0" err="1"/>
              <a:t>application</a:t>
            </a:r>
            <a:r>
              <a:rPr lang="es-MX" dirty="0"/>
              <a:t>, </a:t>
            </a:r>
            <a:r>
              <a:rPr lang="es-MX" dirty="0" err="1"/>
              <a:t>tool</a:t>
            </a:r>
            <a:r>
              <a:rPr lang="es-MX" dirty="0"/>
              <a:t> </a:t>
            </a:r>
            <a:r>
              <a:rPr lang="es-MX" dirty="0" err="1"/>
              <a:t>or</a:t>
            </a:r>
            <a:r>
              <a:rPr lang="es-MX" dirty="0"/>
              <a:t> software </a:t>
            </a:r>
            <a:r>
              <a:rPr lang="es-MX" dirty="0" err="1"/>
              <a:t>program</a:t>
            </a:r>
            <a:r>
              <a:rPr lang="es-MX" dirty="0"/>
              <a:t> </a:t>
            </a:r>
            <a:r>
              <a:rPr lang="es-MX" dirty="0" err="1"/>
              <a:t>that</a:t>
            </a:r>
            <a:r>
              <a:rPr lang="es-MX" dirty="0"/>
              <a:t> </a:t>
            </a:r>
            <a:r>
              <a:rPr lang="es-MX" dirty="0" err="1"/>
              <a:t>is</a:t>
            </a:r>
            <a:r>
              <a:rPr lang="es-MX" dirty="0"/>
              <a:t>:</a:t>
            </a:r>
          </a:p>
          <a:p>
            <a:endParaRPr lang="es-MX" dirty="0"/>
          </a:p>
          <a:p>
            <a:r>
              <a:rPr lang="es-MX" dirty="0"/>
              <a:t>modular, </a:t>
            </a:r>
            <a:r>
              <a:rPr lang="es-MX" dirty="0" err="1"/>
              <a:t>task-specific</a:t>
            </a:r>
            <a:r>
              <a:rPr lang="es-MX" dirty="0"/>
              <a:t>, </a:t>
            </a:r>
            <a:r>
              <a:rPr lang="es-MX" dirty="0" err="1"/>
              <a:t>often</a:t>
            </a:r>
            <a:r>
              <a:rPr lang="es-MX" dirty="0"/>
              <a:t> LLM-</a:t>
            </a:r>
            <a:r>
              <a:rPr lang="es-MX" dirty="0" err="1"/>
              <a:t>driven</a:t>
            </a:r>
            <a:endParaRPr lang="es-MX" dirty="0"/>
          </a:p>
          <a:p>
            <a:endParaRPr lang="es-MX" dirty="0"/>
          </a:p>
          <a:p>
            <a:r>
              <a:rPr lang="es-MX" dirty="0" err="1"/>
              <a:t>tool-augmented</a:t>
            </a:r>
            <a:r>
              <a:rPr lang="es-MX" dirty="0"/>
              <a:t>, single-</a:t>
            </a:r>
            <a:r>
              <a:rPr lang="es-MX" dirty="0" err="1"/>
              <a:t>task</a:t>
            </a:r>
            <a:r>
              <a:rPr lang="es-MX" dirty="0"/>
              <a:t> </a:t>
            </a:r>
            <a:r>
              <a:rPr lang="es-MX" dirty="0" err="1"/>
              <a:t>systems</a:t>
            </a:r>
            <a:endParaRPr lang="es-MX" dirty="0"/>
          </a:p>
          <a:p>
            <a:endParaRPr lang="es-MX" dirty="0"/>
          </a:p>
          <a:p>
            <a:r>
              <a:rPr lang="es-MX" dirty="0"/>
              <a:t>Non </a:t>
            </a:r>
            <a:r>
              <a:rPr lang="es-MX" dirty="0" err="1"/>
              <a:t>scalable</a:t>
            </a:r>
            <a:r>
              <a:rPr lang="es-MX" dirty="0"/>
              <a:t>, concept </a:t>
            </a:r>
            <a:r>
              <a:rPr lang="es-MX" dirty="0" err="1"/>
              <a:t>until</a:t>
            </a:r>
            <a:r>
              <a:rPr lang="es-MX" dirty="0"/>
              <a:t> </a:t>
            </a:r>
            <a:r>
              <a:rPr lang="es-MX" dirty="0" err="1"/>
              <a:t>the</a:t>
            </a:r>
            <a:r>
              <a:rPr lang="es-MX" dirty="0"/>
              <a:t> 2022</a:t>
            </a:r>
          </a:p>
        </p:txBody>
      </p:sp>
    </p:spTree>
    <p:extLst>
      <p:ext uri="{BB962C8B-B14F-4D97-AF65-F5344CB8AC3E}">
        <p14:creationId xmlns:p14="http://schemas.microsoft.com/office/powerpoint/2010/main" val="2664218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E695AA-B23F-4452-9FFE-1BA9D1967523}"/>
              </a:ext>
            </a:extLst>
          </p:cNvPr>
          <p:cNvSpPr>
            <a:spLocks noGrp="1"/>
          </p:cNvSpPr>
          <p:nvPr>
            <p:ph type="title"/>
          </p:nvPr>
        </p:nvSpPr>
        <p:spPr/>
        <p:txBody>
          <a:bodyPr>
            <a:normAutofit/>
          </a:bodyPr>
          <a:lstStyle/>
          <a:p>
            <a:r>
              <a:rPr lang="en-US" sz="4000" dirty="0">
                <a:hlinkClick r:id="rId2"/>
              </a:rPr>
              <a:t>What is Agentic AI?</a:t>
            </a:r>
            <a:br>
              <a:rPr lang="en-US" sz="4000" dirty="0">
                <a:hlinkClick r:id="rId2"/>
              </a:rPr>
            </a:br>
            <a:r>
              <a:rPr lang="en-US" sz="3200" dirty="0">
                <a:hlinkClick r:id="rId2"/>
              </a:rPr>
              <a:t>(The Autonomous Project Manager)</a:t>
            </a:r>
            <a:endParaRPr lang="es-MX" sz="4000" dirty="0">
              <a:hlinkClick r:id="rId2"/>
            </a:endParaRPr>
          </a:p>
        </p:txBody>
      </p:sp>
      <p:sp>
        <p:nvSpPr>
          <p:cNvPr id="3" name="Marcador de contenido 2">
            <a:extLst>
              <a:ext uri="{FF2B5EF4-FFF2-40B4-BE49-F238E27FC236}">
                <a16:creationId xmlns:a16="http://schemas.microsoft.com/office/drawing/2014/main" id="{DB04E002-426F-F6DC-245C-AAFF9D7EECBC}"/>
              </a:ext>
            </a:extLst>
          </p:cNvPr>
          <p:cNvSpPr>
            <a:spLocks noGrp="1"/>
          </p:cNvSpPr>
          <p:nvPr>
            <p:ph idx="1"/>
          </p:nvPr>
        </p:nvSpPr>
        <p:spPr>
          <a:xfrm>
            <a:off x="819150" y="2141537"/>
            <a:ext cx="10515600" cy="4351338"/>
          </a:xfrm>
        </p:spPr>
        <p:txBody>
          <a:bodyPr/>
          <a:lstStyle/>
          <a:p>
            <a:pPr marL="0" indent="0" algn="just">
              <a:buNone/>
            </a:pPr>
            <a:r>
              <a:rPr lang="en-US" dirty="0"/>
              <a:t>A system that uses an AI model (LLM) as its </a:t>
            </a:r>
            <a:r>
              <a:rPr lang="en-US" b="1" dirty="0"/>
              <a:t>reasoning engine</a:t>
            </a:r>
            <a:r>
              <a:rPr lang="en-US" dirty="0"/>
              <a:t> to </a:t>
            </a:r>
            <a:r>
              <a:rPr lang="en-US" b="1" dirty="0"/>
              <a:t>autonomously achieve a goal</a:t>
            </a:r>
            <a:r>
              <a:rPr lang="en-US" dirty="0"/>
              <a:t>.</a:t>
            </a:r>
          </a:p>
          <a:p>
            <a:pPr marL="0" indent="0" algn="just">
              <a:buNone/>
            </a:pPr>
            <a:endParaRPr lang="en-US" dirty="0"/>
          </a:p>
          <a:p>
            <a:pPr marL="0" indent="0" algn="just">
              <a:buNone/>
            </a:pPr>
            <a:r>
              <a:rPr lang="en-US" dirty="0"/>
              <a:t>Can make plans, use tools, and adapt based on new information.</a:t>
            </a:r>
            <a:endParaRPr lang="es-MX" dirty="0"/>
          </a:p>
        </p:txBody>
      </p:sp>
      <p:sp>
        <p:nvSpPr>
          <p:cNvPr id="5" name="CuadroTexto 4">
            <a:extLst>
              <a:ext uri="{FF2B5EF4-FFF2-40B4-BE49-F238E27FC236}">
                <a16:creationId xmlns:a16="http://schemas.microsoft.com/office/drawing/2014/main" id="{8B830498-C500-20FC-141A-5B52BB0298CC}"/>
              </a:ext>
            </a:extLst>
          </p:cNvPr>
          <p:cNvSpPr txBox="1"/>
          <p:nvPr/>
        </p:nvSpPr>
        <p:spPr>
          <a:xfrm>
            <a:off x="838201" y="5163235"/>
            <a:ext cx="10515600" cy="954107"/>
          </a:xfrm>
          <a:prstGeom prst="rect">
            <a:avLst/>
          </a:prstGeom>
          <a:noFill/>
        </p:spPr>
        <p:txBody>
          <a:bodyPr wrap="square">
            <a:spAutoFit/>
          </a:bodyPr>
          <a:lstStyle/>
          <a:p>
            <a:pPr algn="just"/>
            <a:r>
              <a:rPr lang="en-US" sz="2800" dirty="0">
                <a:latin typeface="fkGroteskNeue"/>
              </a:rPr>
              <a:t>A</a:t>
            </a:r>
            <a:r>
              <a:rPr lang="en-US" sz="2800" b="0" i="0" dirty="0">
                <a:effectLst/>
                <a:latin typeface="fkGroteskNeue"/>
              </a:rPr>
              <a:t>utonomous, collaborative, capable of dynamic task decomposition and persistent memory</a:t>
            </a:r>
            <a:endParaRPr lang="es-MX" sz="2800" dirty="0"/>
          </a:p>
        </p:txBody>
      </p:sp>
    </p:spTree>
    <p:extLst>
      <p:ext uri="{BB962C8B-B14F-4D97-AF65-F5344CB8AC3E}">
        <p14:creationId xmlns:p14="http://schemas.microsoft.com/office/powerpoint/2010/main" val="1520395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35CBCE-9593-6062-7F2D-BD6328ABAC56}"/>
              </a:ext>
            </a:extLst>
          </p:cNvPr>
          <p:cNvSpPr>
            <a:spLocks noGrp="1"/>
          </p:cNvSpPr>
          <p:nvPr>
            <p:ph type="title"/>
          </p:nvPr>
        </p:nvSpPr>
        <p:spPr/>
        <p:txBody>
          <a:bodyPr/>
          <a:lstStyle/>
          <a:p>
            <a:r>
              <a:rPr lang="es-MX" dirty="0" err="1"/>
              <a:t>Agents</a:t>
            </a:r>
            <a:r>
              <a:rPr lang="es-MX" dirty="0"/>
              <a:t> </a:t>
            </a:r>
            <a:r>
              <a:rPr lang="es-MX" dirty="0" err="1"/>
              <a:t>Components</a:t>
            </a:r>
            <a:endParaRPr lang="es-MX" dirty="0"/>
          </a:p>
        </p:txBody>
      </p:sp>
      <p:sp>
        <p:nvSpPr>
          <p:cNvPr id="3" name="Marcador de contenido 2">
            <a:extLst>
              <a:ext uri="{FF2B5EF4-FFF2-40B4-BE49-F238E27FC236}">
                <a16:creationId xmlns:a16="http://schemas.microsoft.com/office/drawing/2014/main" id="{7DD68981-28DD-7294-895B-12929B1C44FD}"/>
              </a:ext>
            </a:extLst>
          </p:cNvPr>
          <p:cNvSpPr>
            <a:spLocks noGrp="1"/>
          </p:cNvSpPr>
          <p:nvPr>
            <p:ph idx="1"/>
          </p:nvPr>
        </p:nvSpPr>
        <p:spPr>
          <a:xfrm>
            <a:off x="390525" y="1825625"/>
            <a:ext cx="11382375" cy="4351338"/>
          </a:xfrm>
        </p:spPr>
        <p:txBody>
          <a:bodyPr>
            <a:normAutofit lnSpcReduction="10000"/>
          </a:bodyPr>
          <a:lstStyle/>
          <a:p>
            <a:pPr marL="0" indent="0" algn="just">
              <a:buNone/>
            </a:pPr>
            <a:endParaRPr lang="es-MX" dirty="0"/>
          </a:p>
          <a:p>
            <a:pPr marL="514350" indent="-514350" algn="just">
              <a:buAutoNum type="arabicPeriod"/>
            </a:pPr>
            <a:r>
              <a:rPr lang="es-MX" dirty="0" err="1"/>
              <a:t>Brain</a:t>
            </a:r>
            <a:r>
              <a:rPr lang="es-MX" dirty="0"/>
              <a:t> (LLM): </a:t>
            </a:r>
            <a:r>
              <a:rPr lang="es-MX" dirty="0" err="1"/>
              <a:t>Planing</a:t>
            </a:r>
            <a:r>
              <a:rPr lang="es-MX" dirty="0"/>
              <a:t> and y </a:t>
            </a:r>
            <a:r>
              <a:rPr lang="es-MX" dirty="0" err="1"/>
              <a:t>reasoning</a:t>
            </a:r>
            <a:r>
              <a:rPr lang="es-MX" dirty="0"/>
              <a:t>.</a:t>
            </a:r>
          </a:p>
          <a:p>
            <a:pPr marL="514350" indent="-514350" algn="just">
              <a:buAutoNum type="arabicPeriod"/>
            </a:pPr>
            <a:endParaRPr lang="es-MX" dirty="0"/>
          </a:p>
          <a:p>
            <a:pPr marL="0" indent="0" algn="just">
              <a:buNone/>
            </a:pPr>
            <a:r>
              <a:rPr lang="es-MX" dirty="0"/>
              <a:t>2. </a:t>
            </a:r>
            <a:r>
              <a:rPr lang="es-MX" dirty="0" err="1"/>
              <a:t>Memory</a:t>
            </a:r>
            <a:r>
              <a:rPr lang="es-MX" dirty="0"/>
              <a:t>: </a:t>
            </a:r>
            <a:r>
              <a:rPr lang="es-MX" dirty="0" err="1"/>
              <a:t>Context</a:t>
            </a:r>
            <a:r>
              <a:rPr lang="es-MX" dirty="0"/>
              <a:t> </a:t>
            </a:r>
            <a:r>
              <a:rPr lang="es-MX" dirty="0" err="1"/>
              <a:t>for</a:t>
            </a:r>
            <a:r>
              <a:rPr lang="es-MX" dirty="0"/>
              <a:t> short and </a:t>
            </a:r>
            <a:r>
              <a:rPr lang="es-MX" dirty="0" err="1"/>
              <a:t>long</a:t>
            </a:r>
            <a:r>
              <a:rPr lang="es-MX" dirty="0"/>
              <a:t> </a:t>
            </a:r>
            <a:r>
              <a:rPr lang="es-MX" dirty="0" err="1"/>
              <a:t>range</a:t>
            </a:r>
            <a:r>
              <a:rPr lang="es-MX" dirty="0"/>
              <a:t>.</a:t>
            </a:r>
          </a:p>
          <a:p>
            <a:pPr marL="0" indent="0" algn="just">
              <a:buNone/>
            </a:pPr>
            <a:endParaRPr lang="es-MX" dirty="0"/>
          </a:p>
          <a:p>
            <a:pPr marL="0" indent="0" algn="just">
              <a:buNone/>
            </a:pPr>
            <a:r>
              <a:rPr lang="es-MX" dirty="0"/>
              <a:t>3. Tools: </a:t>
            </a:r>
            <a:r>
              <a:rPr lang="es-MX" dirty="0" err="1"/>
              <a:t>Search</a:t>
            </a:r>
            <a:r>
              <a:rPr lang="es-MX" dirty="0"/>
              <a:t> </a:t>
            </a:r>
            <a:r>
              <a:rPr lang="es-MX" dirty="0" err="1"/>
              <a:t>the</a:t>
            </a:r>
            <a:r>
              <a:rPr lang="es-MX" dirty="0"/>
              <a:t> web, </a:t>
            </a:r>
            <a:r>
              <a:rPr lang="es-MX" dirty="0" err="1"/>
              <a:t>calculators</a:t>
            </a:r>
            <a:r>
              <a:rPr lang="es-MX" dirty="0"/>
              <a:t>, </a:t>
            </a:r>
            <a:r>
              <a:rPr lang="es-MX" dirty="0" err="1"/>
              <a:t>APIs</a:t>
            </a:r>
            <a:r>
              <a:rPr lang="es-MX" dirty="0"/>
              <a:t>, </a:t>
            </a:r>
            <a:r>
              <a:rPr lang="es-MX" dirty="0" err="1"/>
              <a:t>download</a:t>
            </a:r>
            <a:r>
              <a:rPr lang="es-MX" dirty="0"/>
              <a:t> and </a:t>
            </a:r>
            <a:r>
              <a:rPr lang="es-MX" dirty="0" err="1"/>
              <a:t>install</a:t>
            </a:r>
            <a:r>
              <a:rPr lang="es-MX" dirty="0"/>
              <a:t> software.</a:t>
            </a:r>
          </a:p>
          <a:p>
            <a:pPr marL="0" indent="0" algn="just">
              <a:buNone/>
            </a:pPr>
            <a:endParaRPr lang="es-MX" dirty="0"/>
          </a:p>
          <a:p>
            <a:pPr marL="0" indent="0" algn="just">
              <a:buNone/>
            </a:pPr>
            <a:r>
              <a:rPr lang="es-MX" dirty="0"/>
              <a:t>4. </a:t>
            </a:r>
            <a:r>
              <a:rPr lang="es-MX" dirty="0" err="1"/>
              <a:t>Action</a:t>
            </a:r>
            <a:r>
              <a:rPr lang="es-MX" dirty="0"/>
              <a:t>: </a:t>
            </a:r>
            <a:r>
              <a:rPr lang="es-MX" dirty="0" err="1"/>
              <a:t>Make</a:t>
            </a:r>
            <a:r>
              <a:rPr lang="es-MX" dirty="0"/>
              <a:t> </a:t>
            </a:r>
            <a:r>
              <a:rPr lang="es-MX" dirty="0" err="1"/>
              <a:t>changes</a:t>
            </a:r>
            <a:r>
              <a:rPr lang="es-MX" dirty="0"/>
              <a:t> </a:t>
            </a:r>
            <a:r>
              <a:rPr lang="es-MX" dirty="0" err="1"/>
              <a:t>to</a:t>
            </a:r>
            <a:r>
              <a:rPr lang="es-MX" dirty="0"/>
              <a:t> </a:t>
            </a:r>
            <a:r>
              <a:rPr lang="es-MX" dirty="0" err="1"/>
              <a:t>the</a:t>
            </a:r>
            <a:r>
              <a:rPr lang="es-MX" dirty="0"/>
              <a:t> </a:t>
            </a:r>
            <a:r>
              <a:rPr lang="es-MX" dirty="0" err="1"/>
              <a:t>environment</a:t>
            </a:r>
            <a:endParaRPr lang="es-MX" dirty="0"/>
          </a:p>
          <a:p>
            <a:pPr marL="0" indent="0">
              <a:buNone/>
            </a:pPr>
            <a:endParaRPr lang="es-MX" dirty="0"/>
          </a:p>
        </p:txBody>
      </p:sp>
    </p:spTree>
    <p:extLst>
      <p:ext uri="{BB962C8B-B14F-4D97-AF65-F5344CB8AC3E}">
        <p14:creationId xmlns:p14="http://schemas.microsoft.com/office/powerpoint/2010/main" val="4193900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7BAB89-FD71-CA5F-D5D7-460050B660D5}"/>
              </a:ext>
            </a:extLst>
          </p:cNvPr>
          <p:cNvSpPr>
            <a:spLocks noGrp="1"/>
          </p:cNvSpPr>
          <p:nvPr>
            <p:ph type="title"/>
          </p:nvPr>
        </p:nvSpPr>
        <p:spPr/>
        <p:txBody>
          <a:bodyPr/>
          <a:lstStyle/>
          <a:p>
            <a:r>
              <a:rPr lang="en-US" dirty="0"/>
              <a:t>A cyclical, interactive loop (often called a </a:t>
            </a:r>
            <a:r>
              <a:rPr lang="en-US" dirty="0" err="1"/>
              <a:t>ReAct</a:t>
            </a:r>
            <a:r>
              <a:rPr lang="en-US" dirty="0"/>
              <a:t> Loop: </a:t>
            </a:r>
            <a:r>
              <a:rPr lang="en-US" b="1" dirty="0"/>
              <a:t>Re</a:t>
            </a:r>
            <a:r>
              <a:rPr lang="en-US" dirty="0"/>
              <a:t>ason + </a:t>
            </a:r>
            <a:r>
              <a:rPr lang="en-US" b="1" dirty="0"/>
              <a:t>Act</a:t>
            </a:r>
            <a:r>
              <a:rPr lang="en-US" dirty="0"/>
              <a:t>)</a:t>
            </a:r>
            <a:endParaRPr lang="es-MX" dirty="0"/>
          </a:p>
        </p:txBody>
      </p:sp>
      <p:sp>
        <p:nvSpPr>
          <p:cNvPr id="3" name="Marcador de contenido 2">
            <a:extLst>
              <a:ext uri="{FF2B5EF4-FFF2-40B4-BE49-F238E27FC236}">
                <a16:creationId xmlns:a16="http://schemas.microsoft.com/office/drawing/2014/main" id="{61236F48-BD80-80A5-FA9D-B9C1CCDBDCFB}"/>
              </a:ext>
            </a:extLst>
          </p:cNvPr>
          <p:cNvSpPr>
            <a:spLocks noGrp="1"/>
          </p:cNvSpPr>
          <p:nvPr>
            <p:ph idx="1"/>
          </p:nvPr>
        </p:nvSpPr>
        <p:spPr>
          <a:xfrm>
            <a:off x="838200" y="2141537"/>
            <a:ext cx="10515600" cy="4351338"/>
          </a:xfrm>
        </p:spPr>
        <p:txBody>
          <a:bodyPr>
            <a:normAutofit lnSpcReduction="10000"/>
          </a:bodyPr>
          <a:lstStyle/>
          <a:p>
            <a:pPr marL="0" indent="0">
              <a:buNone/>
            </a:pPr>
            <a:r>
              <a:rPr lang="en-US" dirty="0">
                <a:highlight>
                  <a:srgbClr val="C0C0C0"/>
                </a:highlight>
              </a:rPr>
              <a:t>Goal -&gt; Think/Plan -&gt; Use Tool -&gt; Observe Outcome -&gt; Think/Plan (Revise) -&gt; Use Tool -&gt; ... -&gt; Final Goal Achieved</a:t>
            </a:r>
          </a:p>
          <a:p>
            <a:pPr marL="0" indent="0">
              <a:buNone/>
            </a:pPr>
            <a:endParaRPr lang="en-US" dirty="0">
              <a:highlight>
                <a:srgbClr val="C0C0C0"/>
              </a:highlight>
            </a:endParaRPr>
          </a:p>
          <a:p>
            <a:pPr marL="0" indent="0">
              <a:buNone/>
            </a:pPr>
            <a:r>
              <a:rPr lang="en-US" dirty="0"/>
              <a:t>AI is an </a:t>
            </a:r>
            <a:r>
              <a:rPr lang="en-US" b="1" dirty="0"/>
              <a:t>autonomous project manager or a personal assistant</a:t>
            </a:r>
          </a:p>
          <a:p>
            <a:pPr marL="0" indent="0">
              <a:buNone/>
            </a:pPr>
            <a:endParaRPr lang="en-US" b="1" dirty="0">
              <a:highlight>
                <a:srgbClr val="C0C0C0"/>
              </a:highlight>
            </a:endParaRPr>
          </a:p>
          <a:p>
            <a:pPr marL="0" indent="0">
              <a:buNone/>
            </a:pPr>
            <a:r>
              <a:rPr lang="en-US" dirty="0"/>
              <a:t>You don't ask it to </a:t>
            </a:r>
            <a:r>
              <a:rPr lang="en-US" i="1" dirty="0"/>
              <a:t>write a document about the best flights</a:t>
            </a:r>
            <a:r>
              <a:rPr lang="en-US" dirty="0"/>
              <a:t>; you tell it to </a:t>
            </a:r>
            <a:r>
              <a:rPr lang="en-US" i="1" dirty="0"/>
              <a:t>book the best flight to Cartagena for next month</a:t>
            </a:r>
            <a:r>
              <a:rPr lang="en-US" dirty="0"/>
              <a:t>.</a:t>
            </a:r>
          </a:p>
          <a:p>
            <a:pPr marL="0" indent="0">
              <a:buNone/>
            </a:pPr>
            <a:endParaRPr lang="en-US" dirty="0"/>
          </a:p>
          <a:p>
            <a:pPr marL="0" indent="0">
              <a:buNone/>
            </a:pPr>
            <a:r>
              <a:rPr lang="en-US" dirty="0"/>
              <a:t>flight prices (Tool 1: Web Search), compares them based on your criteria (Reasoning), and books the ticket (Tool 2: Booking API).</a:t>
            </a:r>
            <a:endParaRPr lang="es-MX" dirty="0"/>
          </a:p>
        </p:txBody>
      </p:sp>
    </p:spTree>
    <p:extLst>
      <p:ext uri="{BB962C8B-B14F-4D97-AF65-F5344CB8AC3E}">
        <p14:creationId xmlns:p14="http://schemas.microsoft.com/office/powerpoint/2010/main" val="2486778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6C81807-B578-68C7-4B2C-11BB15CCC0F6}"/>
              </a:ext>
            </a:extLst>
          </p:cNvPr>
          <p:cNvSpPr>
            <a:spLocks noGrp="1" noChangeArrowheads="1"/>
          </p:cNvSpPr>
          <p:nvPr>
            <p:ph idx="1"/>
          </p:nvPr>
        </p:nvSpPr>
        <p:spPr bwMode="auto">
          <a:xfrm>
            <a:off x="478606" y="561425"/>
            <a:ext cx="11160944"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00000"/>
              </a:lnSpc>
              <a:spcBef>
                <a:spcPct val="0"/>
              </a:spcBef>
              <a:spcAft>
                <a:spcPct val="0"/>
              </a:spcAft>
              <a:buFontTx/>
              <a:buChar char="•"/>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Goal-Oriented</a:t>
            </a:r>
            <a:r>
              <a:rPr kumimoji="0" lang="es-MX" altLang="es-MX" b="1" i="0" u="none" strike="noStrike" cap="none" normalizeH="0" baseline="0" dirty="0">
                <a:ln>
                  <a:noFill/>
                </a:ln>
                <a:solidFill>
                  <a:schemeClr val="tx1"/>
                </a:solidFill>
                <a:effectLst/>
                <a:latin typeface="Arial" panose="020B0604020202020204" pitchFamily="34" charset="0"/>
              </a:rPr>
              <a:t> &amp; </a:t>
            </a:r>
            <a:r>
              <a:rPr kumimoji="0" lang="es-MX" altLang="es-MX" b="1" i="0" u="none" strike="noStrike" cap="none" normalizeH="0" baseline="0" dirty="0" err="1">
                <a:ln>
                  <a:noFill/>
                </a:ln>
                <a:solidFill>
                  <a:schemeClr val="tx1"/>
                </a:solidFill>
                <a:effectLst/>
                <a:latin typeface="Arial" panose="020B0604020202020204" pitchFamily="34" charset="0"/>
              </a:rPr>
              <a:t>Autonomous</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the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agent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works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on</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its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own</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achieve</a:t>
            </a:r>
            <a:r>
              <a:rPr kumimoji="0" lang="es-MX" altLang="es-MX" b="0" i="0" u="none" strike="noStrike" cap="none" normalizeH="0" baseline="0" dirty="0">
                <a:ln>
                  <a:noFill/>
                </a:ln>
                <a:solidFill>
                  <a:schemeClr val="tx1"/>
                </a:solidFill>
                <a:effectLst/>
                <a:latin typeface="Arial" panose="020B0604020202020204" pitchFamily="34" charset="0"/>
              </a:rPr>
              <a:t> a </a:t>
            </a:r>
            <a:r>
              <a:rPr kumimoji="0" lang="es-MX" altLang="es-MX" b="0" i="0" u="none" strike="noStrike" cap="none" normalizeH="0" baseline="0" dirty="0" err="1">
                <a:ln>
                  <a:noFill/>
                </a:ln>
                <a:solidFill>
                  <a:schemeClr val="tx1"/>
                </a:solidFill>
                <a:effectLst/>
                <a:latin typeface="Arial" panose="020B0604020202020204" pitchFamily="34" charset="0"/>
              </a:rPr>
              <a:t>high-level</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objective</a:t>
            </a:r>
            <a:r>
              <a:rPr kumimoji="0" lang="es-MX" altLang="es-MX"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Interactive &amp; Dynamic:</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interact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with</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external</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environments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websites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APIs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databases</a:t>
            </a:r>
            <a:r>
              <a:rPr kumimoji="0" lang="es-MX" altLang="es-MX" b="0" i="0" u="none" strike="noStrike" cap="none" normalizeH="0" baseline="0" dirty="0">
                <a:ln>
                  <a:noFill/>
                </a:ln>
                <a:solidFill>
                  <a:schemeClr val="tx1"/>
                </a:solidFill>
                <a:effectLst/>
                <a:latin typeface="Arial" panose="020B0604020202020204" pitchFamily="34" charset="0"/>
              </a:rPr>
              <a:t>, local files) </a:t>
            </a:r>
            <a:r>
              <a:rPr kumimoji="0" lang="es-MX" altLang="es-MX" b="0" i="0" u="none" strike="noStrike" cap="none" normalizeH="0" baseline="0" dirty="0" err="1">
                <a:ln>
                  <a:noFill/>
                </a:ln>
                <a:solidFill>
                  <a:schemeClr val="tx1"/>
                </a:solidFill>
                <a:effectLst/>
                <a:latin typeface="Arial" panose="020B0604020202020204" pitchFamily="34" charset="0"/>
              </a:rPr>
              <a:t>using</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its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tools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Overcomes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the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knowledge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cutoff</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problem</a:t>
            </a:r>
            <a:r>
              <a:rPr kumimoji="0" lang="es-MX" altLang="es-MX"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Complex</a:t>
            </a: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Problem</a:t>
            </a: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Solving</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Capable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of</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breaking</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multi-step</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tasks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into</a:t>
            </a:r>
            <a:r>
              <a:rPr kumimoji="0" lang="es-MX" altLang="es-MX" b="0" i="0" u="none" strike="noStrike" cap="none" normalizeH="0" baseline="0" dirty="0">
                <a:ln>
                  <a:noFill/>
                </a:ln>
                <a:solidFill>
                  <a:schemeClr val="tx1"/>
                </a:solidFill>
                <a:effectLst/>
                <a:latin typeface="Arial" panose="020B0604020202020204" pitchFamily="34" charset="0"/>
              </a:rPr>
              <a:t> a </a:t>
            </a:r>
            <a:r>
              <a:rPr kumimoji="0" lang="es-MX" altLang="es-MX" b="0" i="0" u="none" strike="noStrike" cap="none" normalizeH="0" baseline="0" dirty="0" err="1">
                <a:ln>
                  <a:noFill/>
                </a:ln>
                <a:solidFill>
                  <a:schemeClr val="tx1"/>
                </a:solidFill>
                <a:effectLst/>
                <a:latin typeface="Arial" panose="020B0604020202020204" pitchFamily="34" charset="0"/>
              </a:rPr>
              <a:t>sequence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of</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smaller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manageable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actions</a:t>
            </a:r>
            <a:r>
              <a:rPr kumimoji="0" lang="es-MX" altLang="es-MX"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None/>
              <a:tabLst/>
            </a:pPr>
            <a:r>
              <a:rPr kumimoji="0" lang="es-MX" altLang="es-MX" b="1"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Stateful</a:t>
            </a:r>
            <a:r>
              <a:rPr kumimoji="0" lang="es-MX" altLang="es-MX" b="1" i="0" u="none" strike="noStrike" cap="none" normalizeH="0" baseline="0" dirty="0">
                <a:ln>
                  <a:noFill/>
                </a:ln>
                <a:solidFill>
                  <a:schemeClr val="tx1"/>
                </a:solidFill>
                <a:effectLst/>
                <a:latin typeface="Arial" panose="020B0604020202020204" pitchFamily="34" charset="0"/>
              </a:rPr>
              <a:t> &amp; Adaptive: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maintains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an</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internal</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state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memory</a:t>
            </a:r>
            <a:r>
              <a:rPr kumimoji="0" lang="es-MX" altLang="es-MX" b="0" i="0" u="none" strike="noStrike" cap="none" normalizeH="0" baseline="0" dirty="0">
                <a:ln>
                  <a:noFill/>
                </a:ln>
                <a:solidFill>
                  <a:schemeClr val="tx1"/>
                </a:solidFill>
                <a:effectLst/>
                <a:latin typeface="Arial" panose="020B0604020202020204" pitchFamily="34" charset="0"/>
              </a:rPr>
              <a:t>) and can </a:t>
            </a:r>
            <a:r>
              <a:rPr kumimoji="0" lang="es-MX" altLang="es-MX" b="0" i="0" u="none" strike="noStrike" cap="none" normalizeH="0" baseline="0" dirty="0" err="1">
                <a:ln>
                  <a:noFill/>
                </a:ln>
                <a:solidFill>
                  <a:schemeClr val="tx1"/>
                </a:solidFill>
                <a:effectLst/>
                <a:latin typeface="Arial" panose="020B0604020202020204" pitchFamily="34" charset="0"/>
              </a:rPr>
              <a:t>learn</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from</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the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outcomes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of</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its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actions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revise </a:t>
            </a:r>
            <a:r>
              <a:rPr kumimoji="0" lang="es-MX" altLang="es-MX" b="0" i="0" u="none" strike="noStrike" cap="none" normalizeH="0" baseline="0" dirty="0" err="1">
                <a:ln>
                  <a:noFill/>
                </a:ln>
                <a:solidFill>
                  <a:schemeClr val="tx1"/>
                </a:solidFill>
                <a:effectLst/>
                <a:latin typeface="Arial" panose="020B0604020202020204" pitchFamily="34" charset="0"/>
              </a:rPr>
              <a:t>its</a:t>
            </a:r>
            <a:r>
              <a:rPr kumimoji="0" lang="es-MX" altLang="es-MX" b="0" i="0" u="none" strike="noStrike" cap="none" normalizeH="0" baseline="0" dirty="0">
                <a:ln>
                  <a:noFill/>
                </a:ln>
                <a:solidFill>
                  <a:schemeClr val="tx1"/>
                </a:solidFill>
                <a:effectLst/>
                <a:latin typeface="Arial" panose="020B0604020202020204" pitchFamily="34" charset="0"/>
              </a:rPr>
              <a:t> plan. </a:t>
            </a:r>
          </a:p>
        </p:txBody>
      </p:sp>
    </p:spTree>
    <p:extLst>
      <p:ext uri="{BB962C8B-B14F-4D97-AF65-F5344CB8AC3E}">
        <p14:creationId xmlns:p14="http://schemas.microsoft.com/office/powerpoint/2010/main" val="3422876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AC2398-5805-08FE-C7A1-2A0F40A259C3}"/>
              </a:ext>
            </a:extLst>
          </p:cNvPr>
          <p:cNvSpPr>
            <a:spLocks noGrp="1"/>
          </p:cNvSpPr>
          <p:nvPr>
            <p:ph type="title"/>
          </p:nvPr>
        </p:nvSpPr>
        <p:spPr/>
        <p:txBody>
          <a:bodyPr/>
          <a:lstStyle/>
          <a:p>
            <a:r>
              <a:rPr lang="es-MX" dirty="0" err="1"/>
              <a:t>The</a:t>
            </a:r>
            <a:r>
              <a:rPr lang="es-MX" dirty="0"/>
              <a:t> </a:t>
            </a:r>
            <a:r>
              <a:rPr lang="es-MX" dirty="0" err="1"/>
              <a:t>Limitations</a:t>
            </a:r>
            <a:endParaRPr lang="es-MX" dirty="0"/>
          </a:p>
        </p:txBody>
      </p:sp>
      <p:sp>
        <p:nvSpPr>
          <p:cNvPr id="4" name="Rectangle 1">
            <a:extLst>
              <a:ext uri="{FF2B5EF4-FFF2-40B4-BE49-F238E27FC236}">
                <a16:creationId xmlns:a16="http://schemas.microsoft.com/office/drawing/2014/main" id="{8487FE1E-64E2-EDE5-3D19-79800DE49E41}"/>
              </a:ext>
            </a:extLst>
          </p:cNvPr>
          <p:cNvSpPr>
            <a:spLocks noGrp="1" noChangeArrowheads="1"/>
          </p:cNvSpPr>
          <p:nvPr>
            <p:ph idx="1"/>
          </p:nvPr>
        </p:nvSpPr>
        <p:spPr bwMode="auto">
          <a:xfrm>
            <a:off x="671887" y="1690688"/>
            <a:ext cx="1100062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Complexity</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harder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build</a:t>
            </a:r>
            <a:r>
              <a:rPr kumimoji="0" lang="es-MX" altLang="es-MX" sz="2400" b="0" i="0" u="none" strike="noStrike" cap="none" normalizeH="0" baseline="0" dirty="0">
                <a:ln>
                  <a:noFill/>
                </a:ln>
                <a:solidFill>
                  <a:schemeClr val="tx1"/>
                </a:solidFill>
                <a:effectLst/>
                <a:latin typeface="Arial" panose="020B0604020202020204" pitchFamily="34" charset="0"/>
              </a:rPr>
              <a:t> and </a:t>
            </a:r>
            <a:r>
              <a:rPr kumimoji="0" lang="es-MX" altLang="es-MX" sz="2400" b="0" i="0" u="none" strike="noStrike" cap="none" normalizeH="0" baseline="0" dirty="0" err="1">
                <a:ln>
                  <a:noFill/>
                </a:ln>
                <a:solidFill>
                  <a:schemeClr val="tx1"/>
                </a:solidFill>
                <a:effectLst/>
                <a:latin typeface="Arial" panose="020B0604020202020204" pitchFamily="34" charset="0"/>
              </a:rPr>
              <a:t>debug</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They</a:t>
            </a:r>
            <a:r>
              <a:rPr kumimoji="0" lang="es-MX" altLang="es-MX" sz="2400" b="0" i="0" u="none" strike="noStrike" cap="none" normalizeH="0" baseline="0" dirty="0">
                <a:ln>
                  <a:noFill/>
                </a:ln>
                <a:solidFill>
                  <a:schemeClr val="tx1"/>
                </a:solidFill>
                <a:effectLst/>
                <a:latin typeface="Arial" panose="020B0604020202020204" pitchFamily="34" charset="0"/>
              </a:rPr>
              <a:t> can </a:t>
            </a:r>
            <a:r>
              <a:rPr kumimoji="0" lang="es-MX" altLang="es-MX" sz="2400" b="0" i="0" u="none" strike="noStrike" cap="none" normalizeH="0" baseline="0" dirty="0" err="1">
                <a:ln>
                  <a:noFill/>
                </a:ln>
                <a:solidFill>
                  <a:schemeClr val="tx1"/>
                </a:solidFill>
                <a:effectLst/>
                <a:latin typeface="Arial" panose="020B0604020202020204" pitchFamily="34" charset="0"/>
              </a:rPr>
              <a:t>fail</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if</a:t>
            </a:r>
            <a:r>
              <a:rPr kumimoji="0" lang="es-MX" altLang="es-MX" sz="2400" b="0" i="0" u="none" strike="noStrike" cap="none" normalizeH="0" baseline="0" dirty="0">
                <a:ln>
                  <a:noFill/>
                </a:ln>
                <a:solidFill>
                  <a:schemeClr val="tx1"/>
                </a:solidFill>
                <a:effectLst/>
                <a:latin typeface="Arial" panose="020B0604020202020204" pitchFamily="34" charset="0"/>
              </a:rPr>
              <a:t> a </a:t>
            </a:r>
            <a:r>
              <a:rPr kumimoji="0" lang="es-MX" altLang="es-MX" sz="2400" b="0" i="0" u="none" strike="noStrike" cap="none" normalizeH="0" baseline="0" dirty="0" err="1">
                <a:ln>
                  <a:noFill/>
                </a:ln>
                <a:solidFill>
                  <a:schemeClr val="tx1"/>
                </a:solidFill>
                <a:effectLst/>
                <a:latin typeface="Arial" panose="020B0604020202020204" pitchFamily="34" charset="0"/>
              </a:rPr>
              <a:t>tool</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returns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an</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unexpected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result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if</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their</a:t>
            </a:r>
            <a:r>
              <a:rPr kumimoji="0" lang="es-MX" altLang="es-MX" sz="2400" b="0" i="0" u="none" strike="noStrike" cap="none" normalizeH="0" baseline="0" dirty="0">
                <a:ln>
                  <a:noFill/>
                </a:ln>
                <a:solidFill>
                  <a:schemeClr val="tx1"/>
                </a:solidFill>
                <a:effectLst/>
                <a:latin typeface="Arial" panose="020B0604020202020204" pitchFamily="34" charset="0"/>
              </a:rPr>
              <a:t> plan </a:t>
            </a:r>
            <a:r>
              <a:rPr kumimoji="0" lang="es-MX" altLang="es-MX" sz="2400" b="0" i="0" u="none" strike="noStrike" cap="none" normalizeH="0" baseline="0" dirty="0" err="1">
                <a:ln>
                  <a:noFill/>
                </a:ln>
                <a:solidFill>
                  <a:schemeClr val="tx1"/>
                </a:solidFill>
                <a:effectLst/>
                <a:latin typeface="Arial" panose="020B0604020202020204" pitchFamily="34" charset="0"/>
              </a:rPr>
              <a:t>is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flawed</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None/>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Security &amp; Safety </a:t>
            </a:r>
            <a:r>
              <a:rPr kumimoji="0" lang="es-MX" altLang="es-MX" sz="2400" b="1" i="0" u="none" strike="noStrike" cap="none" normalizeH="0" baseline="0" dirty="0" err="1">
                <a:ln>
                  <a:noFill/>
                </a:ln>
                <a:solidFill>
                  <a:schemeClr val="tx1"/>
                </a:solidFill>
                <a:effectLst/>
                <a:latin typeface="Arial" panose="020B0604020202020204" pitchFamily="34" charset="0"/>
              </a:rPr>
              <a:t>Risks</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AI </a:t>
            </a:r>
            <a:r>
              <a:rPr kumimoji="0" lang="es-MX" altLang="es-MX" sz="2400" b="0" i="0" u="none" strike="noStrike" cap="none" normalizeH="0" baseline="0" dirty="0" err="1">
                <a:ln>
                  <a:noFill/>
                </a:ln>
                <a:solidFill>
                  <a:schemeClr val="tx1"/>
                </a:solidFill>
                <a:effectLst/>
                <a:latin typeface="Arial" panose="020B0604020202020204" pitchFamily="34" charset="0"/>
              </a:rPr>
              <a:t>autonomy</a:t>
            </a:r>
            <a:r>
              <a:rPr kumimoji="0" lang="es-MX" altLang="es-MX" sz="2400" b="0" i="0" u="none" strike="noStrike" cap="none" normalizeH="0" baseline="0" dirty="0">
                <a:ln>
                  <a:noFill/>
                </a:ln>
                <a:solidFill>
                  <a:schemeClr val="tx1"/>
                </a:solidFill>
                <a:effectLst/>
                <a:latin typeface="Arial" panose="020B0604020202020204" pitchFamily="34" charset="0"/>
              </a:rPr>
              <a:t> and </a:t>
            </a:r>
            <a:r>
              <a:rPr kumimoji="0" lang="es-MX" altLang="es-MX" sz="2400" b="0" i="0" u="none" strike="noStrike" cap="none" normalizeH="0" baseline="0" dirty="0" err="1">
                <a:ln>
                  <a:noFill/>
                </a:ln>
                <a:solidFill>
                  <a:schemeClr val="tx1"/>
                </a:solidFill>
                <a:effectLst/>
                <a:latin typeface="Arial" panose="020B0604020202020204" pitchFamily="34" charset="0"/>
              </a:rPr>
              <a:t>access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tools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inherently</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risky</a:t>
            </a:r>
            <a:r>
              <a:rPr kumimoji="0" lang="es-MX" altLang="es-MX" sz="2400" b="0" i="0" u="none" strike="noStrike" cap="none" normalizeH="0" baseline="0" dirty="0">
                <a:ln>
                  <a:noFill/>
                </a:ln>
                <a:solidFill>
                  <a:schemeClr val="tx1"/>
                </a:solidFill>
                <a:effectLst/>
                <a:latin typeface="Arial" panose="020B0604020202020204" pitchFamily="34" charset="0"/>
              </a:rPr>
              <a:t>. A </a:t>
            </a:r>
            <a:r>
              <a:rPr kumimoji="0" lang="es-MX" altLang="es-MX" sz="2400" b="0" i="0" u="none" strike="noStrike" cap="none" normalizeH="0" baseline="0" dirty="0" err="1">
                <a:ln>
                  <a:noFill/>
                </a:ln>
                <a:solidFill>
                  <a:schemeClr val="tx1"/>
                </a:solidFill>
                <a:effectLst/>
                <a:latin typeface="Arial" panose="020B0604020202020204" pitchFamily="34" charset="0"/>
              </a:rPr>
              <a:t>poorly</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designed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agent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could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delete</a:t>
            </a:r>
            <a:r>
              <a:rPr kumimoji="0" lang="es-MX" altLang="es-MX" sz="2400" b="0" i="0" u="none" strike="noStrike" cap="none" normalizeH="0" baseline="0" dirty="0">
                <a:ln>
                  <a:noFill/>
                </a:ln>
                <a:solidFill>
                  <a:schemeClr val="tx1"/>
                </a:solidFill>
                <a:effectLst/>
                <a:latin typeface="Arial" panose="020B0604020202020204" pitchFamily="34" charset="0"/>
              </a:rPr>
              <a:t> files, </a:t>
            </a:r>
            <a:r>
              <a:rPr kumimoji="0" lang="es-MX" altLang="es-MX" sz="2400" b="0" i="0" u="none" strike="noStrike" cap="none" normalizeH="0" baseline="0" dirty="0" err="1">
                <a:ln>
                  <a:noFill/>
                </a:ln>
                <a:solidFill>
                  <a:schemeClr val="tx1"/>
                </a:solidFill>
                <a:effectLst/>
                <a:latin typeface="Arial" panose="020B0604020202020204" pitchFamily="34" charset="0"/>
              </a:rPr>
              <a:t>spend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money</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leak</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private</a:t>
            </a:r>
            <a:r>
              <a:rPr kumimoji="0" lang="es-MX" altLang="es-MX" sz="2400" b="0" i="0" u="none" strike="noStrike" cap="none" normalizeH="0" baseline="0" dirty="0">
                <a:ln>
                  <a:noFill/>
                </a:ln>
                <a:solidFill>
                  <a:schemeClr val="tx1"/>
                </a:solidFill>
                <a:effectLst/>
                <a:latin typeface="Arial" panose="020B0604020202020204" pitchFamily="34" charset="0"/>
              </a:rPr>
              <a:t> data. </a:t>
            </a:r>
            <a:r>
              <a:rPr kumimoji="0" lang="es-MX" altLang="es-MX" sz="2400" b="0" i="0" u="none" strike="noStrike" cap="none" normalizeH="0" baseline="0" dirty="0" err="1">
                <a:ln>
                  <a:noFill/>
                </a:ln>
                <a:solidFill>
                  <a:schemeClr val="tx1"/>
                </a:solidFill>
                <a:effectLst/>
                <a:latin typeface="Arial" panose="020B0604020202020204" pitchFamily="34" charset="0"/>
              </a:rPr>
              <a:t>Robust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sandboxing</a:t>
            </a:r>
            <a:r>
              <a:rPr kumimoji="0" lang="es-MX" altLang="es-MX" sz="2400" b="0" i="0" u="none" strike="noStrike" cap="none" normalizeH="0" baseline="0" dirty="0">
                <a:ln>
                  <a:noFill/>
                </a:ln>
                <a:solidFill>
                  <a:schemeClr val="tx1"/>
                </a:solidFill>
                <a:effectLst/>
                <a:latin typeface="Arial" panose="020B0604020202020204" pitchFamily="34" charset="0"/>
              </a:rPr>
              <a:t> and </a:t>
            </a:r>
            <a:r>
              <a:rPr kumimoji="0" lang="es-MX" altLang="es-MX" sz="2400" b="0" i="0" u="none" strike="noStrike" cap="none" normalizeH="0" baseline="0" dirty="0" err="1">
                <a:ln>
                  <a:noFill/>
                </a:ln>
                <a:solidFill>
                  <a:schemeClr val="tx1"/>
                </a:solidFill>
                <a:effectLst/>
                <a:latin typeface="Arial" panose="020B0604020202020204" pitchFamily="34" charset="0"/>
              </a:rPr>
              <a:t>permissions</a:t>
            </a:r>
            <a:r>
              <a:rPr kumimoji="0" lang="es-MX" altLang="es-MX" sz="2400" b="0" i="0" u="none" strike="noStrike" cap="none" normalizeH="0" baseline="0" dirty="0">
                <a:ln>
                  <a:noFill/>
                </a:ln>
                <a:solidFill>
                  <a:schemeClr val="tx1"/>
                </a:solidFill>
                <a:effectLst/>
                <a:latin typeface="Arial" panose="020B0604020202020204" pitchFamily="34" charset="0"/>
              </a:rPr>
              <a:t> are </a:t>
            </a:r>
            <a:r>
              <a:rPr kumimoji="0" lang="es-MX" altLang="es-MX" sz="2400" b="0" i="0" u="none" strike="noStrike" cap="none" normalizeH="0" baseline="0" dirty="0" err="1">
                <a:ln>
                  <a:noFill/>
                </a:ln>
                <a:solidFill>
                  <a:schemeClr val="tx1"/>
                </a:solidFill>
                <a:effectLst/>
                <a:latin typeface="Arial" panose="020B0604020202020204" pitchFamily="34" charset="0"/>
              </a:rPr>
              <a:t>critical</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sz="24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lang="es-MX" altLang="es-MX" sz="2400" b="1" dirty="0">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Cost</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 single </a:t>
            </a:r>
            <a:r>
              <a:rPr kumimoji="0" lang="es-MX" altLang="es-MX" sz="2400" b="0" i="0" u="none" strike="noStrike" cap="none" normalizeH="0" baseline="0" dirty="0" err="1">
                <a:ln>
                  <a:noFill/>
                </a:ln>
                <a:solidFill>
                  <a:schemeClr val="tx1"/>
                </a:solidFill>
                <a:effectLst/>
                <a:latin typeface="Arial" panose="020B0604020202020204" pitchFamily="34" charset="0"/>
              </a:rPr>
              <a:t>goal</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might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require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dozens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of</a:t>
            </a:r>
            <a:r>
              <a:rPr kumimoji="0" lang="es-MX" altLang="es-MX" sz="2400" b="0" i="0" u="none" strike="noStrike" cap="none" normalizeH="0" baseline="0" dirty="0">
                <a:ln>
                  <a:noFill/>
                </a:ln>
                <a:solidFill>
                  <a:schemeClr val="tx1"/>
                </a:solidFill>
                <a:effectLst/>
                <a:latin typeface="Arial" panose="020B0604020202020204" pitchFamily="34" charset="0"/>
              </a:rPr>
              <a:t> LLM </a:t>
            </a:r>
            <a:r>
              <a:rPr kumimoji="0" lang="es-MX" altLang="es-MX" sz="2400" b="0" i="0" u="none" strike="noStrike" cap="none" normalizeH="0" baseline="0" dirty="0" err="1">
                <a:ln>
                  <a:noFill/>
                </a:ln>
                <a:solidFill>
                  <a:schemeClr val="tx1"/>
                </a:solidFill>
                <a:effectLst/>
                <a:latin typeface="Arial" panose="020B0604020202020204" pitchFamily="34" charset="0"/>
              </a:rPr>
              <a:t>calls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for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planning</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reasoning</a:t>
            </a:r>
            <a:r>
              <a:rPr kumimoji="0" lang="es-MX" altLang="es-MX" sz="2400" b="0" i="0" u="none" strike="noStrike" cap="none" normalizeH="0" baseline="0" dirty="0">
                <a:ln>
                  <a:noFill/>
                </a:ln>
                <a:solidFill>
                  <a:schemeClr val="tx1"/>
                </a:solidFill>
                <a:effectLst/>
                <a:latin typeface="Arial" panose="020B0604020202020204" pitchFamily="34" charset="0"/>
              </a:rPr>
              <a:t>, and </a:t>
            </a:r>
            <a:r>
              <a:rPr kumimoji="0" lang="es-MX" altLang="es-MX" sz="2400" b="0" i="0" u="none" strike="noStrike" cap="none" normalizeH="0" baseline="0" dirty="0" err="1">
                <a:ln>
                  <a:noFill/>
                </a:ln>
                <a:solidFill>
                  <a:schemeClr val="tx1"/>
                </a:solidFill>
                <a:effectLst/>
                <a:latin typeface="Arial" panose="020B0604020202020204" pitchFamily="34" charset="0"/>
              </a:rPr>
              <a:t>tool</a:t>
            </a:r>
            <a:r>
              <a:rPr kumimoji="0" lang="es-MX" altLang="es-MX" sz="2400" b="0" i="0" u="none" strike="noStrike" cap="none" normalizeH="0" baseline="0" dirty="0">
                <a:ln>
                  <a:noFill/>
                </a:ln>
                <a:solidFill>
                  <a:schemeClr val="tx1"/>
                </a:solidFill>
                <a:effectLst/>
                <a:latin typeface="Arial" panose="020B0604020202020204" pitchFamily="34" charset="0"/>
              </a:rPr>
              <a:t> use, more </a:t>
            </a:r>
            <a:r>
              <a:rPr kumimoji="0" lang="es-MX" altLang="es-MX" sz="2400" b="0" i="0" u="none" strike="noStrike" cap="none" normalizeH="0" baseline="0" dirty="0" err="1">
                <a:ln>
                  <a:noFill/>
                </a:ln>
                <a:solidFill>
                  <a:schemeClr val="tx1"/>
                </a:solidFill>
                <a:effectLst/>
                <a:latin typeface="Arial" panose="020B0604020202020204" pitchFamily="34" charset="0"/>
              </a:rPr>
              <a:t>expensive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than</a:t>
            </a:r>
            <a:r>
              <a:rPr kumimoji="0" lang="es-MX" altLang="es-MX" sz="2400" b="0" i="0" u="none" strike="noStrike" cap="none" normalizeH="0" baseline="0" dirty="0">
                <a:ln>
                  <a:noFill/>
                </a:ln>
                <a:solidFill>
                  <a:schemeClr val="tx1"/>
                </a:solidFill>
                <a:effectLst/>
                <a:latin typeface="Arial" panose="020B0604020202020204" pitchFamily="34" charset="0"/>
              </a:rPr>
              <a:t> a single </a:t>
            </a:r>
            <a:r>
              <a:rPr kumimoji="0" lang="es-MX" altLang="es-MX" sz="2400" b="0" i="0" u="none" strike="noStrike" cap="none" normalizeH="0" baseline="0" dirty="0" err="1">
                <a:ln>
                  <a:noFill/>
                </a:ln>
                <a:solidFill>
                  <a:schemeClr val="tx1"/>
                </a:solidFill>
                <a:effectLst/>
                <a:latin typeface="Arial" panose="020B0604020202020204" pitchFamily="34" charset="0"/>
              </a:rPr>
              <a:t>GenAI</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prompt</a:t>
            </a:r>
            <a:r>
              <a:rPr kumimoji="0" lang="es-MX" altLang="es-MX" sz="24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None/>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Unpredictability</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Can </a:t>
            </a:r>
            <a:r>
              <a:rPr kumimoji="0" lang="es-MX" altLang="es-MX" sz="2400" b="0" i="0" u="none" strike="noStrike" cap="none" normalizeH="0" baseline="0" dirty="0" err="1">
                <a:ln>
                  <a:noFill/>
                </a:ln>
                <a:solidFill>
                  <a:schemeClr val="tx1"/>
                </a:solidFill>
                <a:effectLst/>
                <a:latin typeface="Arial" panose="020B0604020202020204" pitchFamily="34" charset="0"/>
              </a:rPr>
              <a:t>get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stuck</a:t>
            </a:r>
            <a:r>
              <a:rPr kumimoji="0" lang="es-MX" altLang="es-MX" sz="2400" b="0" i="0" u="none" strike="noStrike" cap="none" normalizeH="0" baseline="0" dirty="0">
                <a:ln>
                  <a:noFill/>
                </a:ln>
                <a:solidFill>
                  <a:schemeClr val="tx1"/>
                </a:solidFill>
                <a:effectLst/>
                <a:latin typeface="Arial" panose="020B0604020202020204" pitchFamily="34" charset="0"/>
              </a:rPr>
              <a:t> in </a:t>
            </a:r>
            <a:r>
              <a:rPr kumimoji="0" lang="es-MX" altLang="es-MX" sz="2400" b="0" i="0" u="none" strike="noStrike" cap="none" normalizeH="0" baseline="0" dirty="0" err="1">
                <a:ln>
                  <a:noFill/>
                </a:ln>
                <a:solidFill>
                  <a:schemeClr val="tx1"/>
                </a:solidFill>
                <a:effectLst/>
                <a:latin typeface="Arial" panose="020B0604020202020204" pitchFamily="34" charset="0"/>
              </a:rPr>
              <a:t>loops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go</a:t>
            </a:r>
            <a:r>
              <a:rPr kumimoji="0" lang="es-MX" altLang="es-MX" sz="2400" b="0" i="0" u="none" strike="noStrike" cap="none" normalizeH="0" baseline="0" dirty="0">
                <a:ln>
                  <a:noFill/>
                </a:ln>
                <a:solidFill>
                  <a:schemeClr val="tx1"/>
                </a:solidFill>
                <a:effectLst/>
                <a:latin typeface="Arial" panose="020B0604020202020204" pitchFamily="34" charset="0"/>
              </a:rPr>
              <a:t> "off-</a:t>
            </a:r>
            <a:r>
              <a:rPr kumimoji="0" lang="es-MX" altLang="es-MX" sz="2400" b="0" i="0" u="none" strike="noStrike" cap="none" normalizeH="0" baseline="0" dirty="0" err="1">
                <a:ln>
                  <a:noFill/>
                </a:ln>
                <a:solidFill>
                  <a:schemeClr val="tx1"/>
                </a:solidFill>
                <a:effectLst/>
                <a:latin typeface="Arial" panose="020B0604020202020204" pitchFamily="34" charset="0"/>
              </a:rPr>
              <a:t>track</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pursue</a:t>
            </a:r>
            <a:r>
              <a:rPr kumimoji="0" lang="es-MX" altLang="es-MX" sz="2400" b="0" i="0" u="none" strike="noStrike" cap="none" normalizeH="0" baseline="0" dirty="0">
                <a:ln>
                  <a:noFill/>
                </a:ln>
                <a:solidFill>
                  <a:schemeClr val="tx1"/>
                </a:solidFill>
                <a:effectLst/>
                <a:latin typeface="Arial" panose="020B0604020202020204" pitchFamily="34" charset="0"/>
              </a:rPr>
              <a:t> a </a:t>
            </a:r>
            <a:r>
              <a:rPr kumimoji="0" lang="es-MX" altLang="es-MX" sz="2400" b="0" i="0" u="none" strike="noStrike" cap="none" normalizeH="0" baseline="0" dirty="0" err="1">
                <a:ln>
                  <a:noFill/>
                </a:ln>
                <a:solidFill>
                  <a:schemeClr val="tx1"/>
                </a:solidFill>
                <a:effectLst/>
                <a:latin typeface="Arial" panose="020B0604020202020204" pitchFamily="34" charset="0"/>
              </a:rPr>
              <a:t>goal</a:t>
            </a:r>
            <a:r>
              <a:rPr kumimoji="0" lang="es-MX" altLang="es-MX" sz="2400" b="0" i="0" u="none" strike="noStrike" cap="none" normalizeH="0" baseline="0" dirty="0">
                <a:ln>
                  <a:noFill/>
                </a:ln>
                <a:solidFill>
                  <a:schemeClr val="tx1"/>
                </a:solidFill>
                <a:effectLst/>
                <a:latin typeface="Arial" panose="020B0604020202020204" pitchFamily="34" charset="0"/>
              </a:rPr>
              <a:t> in </a:t>
            </a:r>
            <a:r>
              <a:rPr kumimoji="0" lang="es-MX" altLang="es-MX" sz="2400" b="0" i="0" u="none" strike="noStrike" cap="none" normalizeH="0" baseline="0" dirty="0" err="1">
                <a:ln>
                  <a:noFill/>
                </a:ln>
                <a:solidFill>
                  <a:schemeClr val="tx1"/>
                </a:solidFill>
                <a:effectLst/>
                <a:latin typeface="Arial" panose="020B0604020202020204" pitchFamily="34" charset="0"/>
              </a:rPr>
              <a:t>an</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inefficient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undesirable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way</a:t>
            </a:r>
            <a:r>
              <a:rPr kumimoji="0" lang="es-MX" altLang="es-MX"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835115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C154F5D-C785-3B33-A23B-A87861C6B24D}"/>
              </a:ext>
            </a:extLst>
          </p:cNvPr>
          <p:cNvPicPr>
            <a:picLocks noChangeAspect="1"/>
          </p:cNvPicPr>
          <p:nvPr/>
        </p:nvPicPr>
        <p:blipFill>
          <a:blip r:embed="rId2"/>
          <a:stretch>
            <a:fillRect/>
          </a:stretch>
        </p:blipFill>
        <p:spPr>
          <a:xfrm>
            <a:off x="367146" y="390525"/>
            <a:ext cx="11405753" cy="6049395"/>
          </a:xfrm>
          <a:prstGeom prst="rect">
            <a:avLst/>
          </a:prstGeom>
        </p:spPr>
      </p:pic>
    </p:spTree>
    <p:extLst>
      <p:ext uri="{BB962C8B-B14F-4D97-AF65-F5344CB8AC3E}">
        <p14:creationId xmlns:p14="http://schemas.microsoft.com/office/powerpoint/2010/main" val="3532691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E27F1A9-8CB3-FC74-DC82-8B3340C9C0B6}"/>
              </a:ext>
            </a:extLst>
          </p:cNvPr>
          <p:cNvPicPr>
            <a:picLocks noChangeAspect="1"/>
          </p:cNvPicPr>
          <p:nvPr/>
        </p:nvPicPr>
        <p:blipFill>
          <a:blip r:embed="rId2"/>
          <a:stretch>
            <a:fillRect/>
          </a:stretch>
        </p:blipFill>
        <p:spPr>
          <a:xfrm>
            <a:off x="2851500" y="0"/>
            <a:ext cx="6489000" cy="6858000"/>
          </a:xfrm>
          <a:prstGeom prst="rect">
            <a:avLst/>
          </a:prstGeom>
        </p:spPr>
      </p:pic>
    </p:spTree>
    <p:extLst>
      <p:ext uri="{BB962C8B-B14F-4D97-AF65-F5344CB8AC3E}">
        <p14:creationId xmlns:p14="http://schemas.microsoft.com/office/powerpoint/2010/main" val="1362498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D8C18D-10AE-5C1F-E597-518DB6A1F80A}"/>
              </a:ext>
            </a:extLst>
          </p:cNvPr>
          <p:cNvSpPr>
            <a:spLocks noGrp="1"/>
          </p:cNvSpPr>
          <p:nvPr>
            <p:ph type="title"/>
          </p:nvPr>
        </p:nvSpPr>
        <p:spPr/>
        <p:txBody>
          <a:bodyPr/>
          <a:lstStyle/>
          <a:p>
            <a:r>
              <a:rPr lang="es-MX" dirty="0" err="1">
                <a:hlinkClick r:id="rId2"/>
              </a:rPr>
              <a:t>The</a:t>
            </a:r>
            <a:r>
              <a:rPr lang="es-MX" dirty="0">
                <a:hlinkClick r:id="rId2"/>
              </a:rPr>
              <a:t> Future </a:t>
            </a:r>
            <a:r>
              <a:rPr lang="es-MX" dirty="0" err="1">
                <a:hlinkClick r:id="rId2"/>
              </a:rPr>
              <a:t>is</a:t>
            </a:r>
            <a:r>
              <a:rPr lang="es-MX" dirty="0">
                <a:hlinkClick r:id="rId2"/>
              </a:rPr>
              <a:t> </a:t>
            </a:r>
            <a:r>
              <a:rPr lang="es-MX" dirty="0" err="1">
                <a:hlinkClick r:id="rId2"/>
              </a:rPr>
              <a:t>Agentic</a:t>
            </a:r>
            <a:endParaRPr lang="es-MX" dirty="0">
              <a:hlinkClick r:id="rId2"/>
            </a:endParaRPr>
          </a:p>
        </p:txBody>
      </p:sp>
      <p:sp>
        <p:nvSpPr>
          <p:cNvPr id="3" name="Marcador de contenido 2">
            <a:extLst>
              <a:ext uri="{FF2B5EF4-FFF2-40B4-BE49-F238E27FC236}">
                <a16:creationId xmlns:a16="http://schemas.microsoft.com/office/drawing/2014/main" id="{ADD0F7D8-C6DF-511A-762E-C763AFD32610}"/>
              </a:ext>
            </a:extLst>
          </p:cNvPr>
          <p:cNvSpPr>
            <a:spLocks noGrp="1"/>
          </p:cNvSpPr>
          <p:nvPr>
            <p:ph idx="1"/>
          </p:nvPr>
        </p:nvSpPr>
        <p:spPr/>
        <p:txBody>
          <a:bodyPr/>
          <a:lstStyle/>
          <a:p>
            <a:pPr marL="0" indent="0" algn="just">
              <a:buNone/>
            </a:pPr>
            <a:r>
              <a:rPr lang="en-US" dirty="0"/>
              <a:t>The industry is rapidly moving beyond simple chatbots.</a:t>
            </a:r>
          </a:p>
          <a:p>
            <a:pPr marL="0" indent="0" algn="just">
              <a:buNone/>
            </a:pPr>
            <a:endParaRPr lang="en-US" dirty="0"/>
          </a:p>
          <a:p>
            <a:pPr marL="0" indent="0" algn="just">
              <a:buNone/>
            </a:pPr>
            <a:r>
              <a:rPr lang="en-US" dirty="0"/>
              <a:t>The next frontier is building systems of autonomous agents that can automate complex business processes, manage personal tasks, and conduct scientific research with minimal human intervention.</a:t>
            </a:r>
          </a:p>
          <a:p>
            <a:pPr marL="0" indent="0" algn="just">
              <a:buNone/>
            </a:pPr>
            <a:endParaRPr lang="en-US" dirty="0"/>
          </a:p>
          <a:p>
            <a:pPr marL="0" indent="0" algn="just">
              <a:buNone/>
            </a:pPr>
            <a:r>
              <a:rPr lang="en-US" dirty="0"/>
              <a:t> Understanding the shift from passive generation to autonomous action is key to understanding where the entire field of AI is headed.</a:t>
            </a:r>
            <a:endParaRPr lang="es-MX" dirty="0"/>
          </a:p>
        </p:txBody>
      </p:sp>
    </p:spTree>
    <p:extLst>
      <p:ext uri="{BB962C8B-B14F-4D97-AF65-F5344CB8AC3E}">
        <p14:creationId xmlns:p14="http://schemas.microsoft.com/office/powerpoint/2010/main" val="2019022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52530D-B11C-403E-654A-831324002966}"/>
              </a:ext>
            </a:extLst>
          </p:cNvPr>
          <p:cNvSpPr>
            <a:spLocks noGrp="1"/>
          </p:cNvSpPr>
          <p:nvPr>
            <p:ph type="title"/>
          </p:nvPr>
        </p:nvSpPr>
        <p:spPr/>
        <p:txBody>
          <a:bodyPr/>
          <a:lstStyle/>
          <a:p>
            <a:r>
              <a:rPr lang="en-US" dirty="0"/>
              <a:t>Some Agent Frameworks</a:t>
            </a:r>
            <a:endParaRPr lang="es-MX" dirty="0"/>
          </a:p>
        </p:txBody>
      </p:sp>
      <p:sp>
        <p:nvSpPr>
          <p:cNvPr id="4" name="Rectangle 1">
            <a:extLst>
              <a:ext uri="{FF2B5EF4-FFF2-40B4-BE49-F238E27FC236}">
                <a16:creationId xmlns:a16="http://schemas.microsoft.com/office/drawing/2014/main" id="{3FBE00B9-17F2-3263-E1F6-9B13B1211B3E}"/>
              </a:ext>
            </a:extLst>
          </p:cNvPr>
          <p:cNvSpPr>
            <a:spLocks noGrp="1" noChangeArrowheads="1"/>
          </p:cNvSpPr>
          <p:nvPr>
            <p:ph idx="1"/>
          </p:nvPr>
        </p:nvSpPr>
        <p:spPr bwMode="auto">
          <a:xfrm>
            <a:off x="845778" y="1585254"/>
            <a:ext cx="10298472"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i="0" u="none" strike="noStrike" cap="none" normalizeH="0" baseline="0" dirty="0">
                <a:ln>
                  <a:noFill/>
                </a:ln>
                <a:solidFill>
                  <a:schemeClr val="tx1"/>
                </a:solidFill>
                <a:effectLst/>
                <a:latin typeface="Arial" panose="020B0604020202020204" pitchFamily="34" charset="0"/>
              </a:rPr>
              <a:t> </a:t>
            </a:r>
            <a:r>
              <a:rPr kumimoji="0" lang="es-MX" altLang="es-MX" i="0" u="none" strike="noStrike" cap="none" normalizeH="0" baseline="0" dirty="0" err="1">
                <a:ln>
                  <a:noFill/>
                </a:ln>
                <a:solidFill>
                  <a:schemeClr val="tx1"/>
                </a:solidFill>
                <a:effectLst/>
                <a:latin typeface="Arial" panose="020B0604020202020204" pitchFamily="34" charset="0"/>
              </a:rPr>
              <a:t>LangChain</a:t>
            </a:r>
            <a:endParaRPr kumimoji="0" lang="es-MX" altLang="es-MX"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s-MX" altLang="es-MX"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lang="es-MX" altLang="es-MX" dirty="0">
                <a:latin typeface="Arial" panose="020B0604020202020204" pitchFamily="34" charset="0"/>
              </a:rPr>
              <a:t> </a:t>
            </a:r>
            <a:r>
              <a:rPr lang="es-MX" altLang="es-MX" dirty="0" err="1">
                <a:latin typeface="Arial" panose="020B0604020202020204" pitchFamily="34" charset="0"/>
              </a:rPr>
              <a:t>Langraph</a:t>
            </a:r>
            <a:endParaRPr lang="es-MX" altLang="es-MX"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i="0" u="none" strike="noStrike" cap="none" normalizeH="0" baseline="0" dirty="0">
                <a:ln>
                  <a:noFill/>
                </a:ln>
                <a:solidFill>
                  <a:schemeClr val="tx1"/>
                </a:solidFill>
                <a:effectLst/>
                <a:latin typeface="Arial" panose="020B0604020202020204" pitchFamily="34" charset="0"/>
              </a:rPr>
              <a:t> </a:t>
            </a:r>
            <a:r>
              <a:rPr kumimoji="0" lang="es-MX" altLang="es-MX" i="0" u="none" strike="noStrike" cap="none" normalizeH="0" baseline="0" dirty="0" err="1">
                <a:ln>
                  <a:noFill/>
                </a:ln>
                <a:solidFill>
                  <a:schemeClr val="tx1"/>
                </a:solidFill>
                <a:effectLst/>
                <a:latin typeface="Arial" panose="020B0604020202020204" pitchFamily="34" charset="0"/>
              </a:rPr>
              <a:t>LlamaIndex</a:t>
            </a:r>
            <a:endParaRPr lang="es-MX" altLang="es-MX"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i="0" u="none" strike="noStrike" cap="none" normalizeH="0" baseline="0" dirty="0">
                <a:ln>
                  <a:noFill/>
                </a:ln>
                <a:solidFill>
                  <a:schemeClr val="tx1"/>
                </a:solidFill>
                <a:effectLst/>
                <a:latin typeface="Arial" panose="020B0604020202020204" pitchFamily="34" charset="0"/>
              </a:rPr>
              <a:t> </a:t>
            </a:r>
            <a:r>
              <a:rPr kumimoji="0" lang="es-MX" altLang="es-MX" i="0" u="none" strike="noStrike" cap="none" normalizeH="0" baseline="0" dirty="0" err="1">
                <a:ln>
                  <a:noFill/>
                </a:ln>
                <a:solidFill>
                  <a:schemeClr val="tx1"/>
                </a:solidFill>
                <a:effectLst/>
                <a:latin typeface="Arial" panose="020B0604020202020204" pitchFamily="34" charset="0"/>
              </a:rPr>
              <a:t>CrewAI</a:t>
            </a:r>
            <a:endParaRPr lang="es-MX" altLang="es-MX"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i="0" u="none" strike="noStrike" cap="none" normalizeH="0" baseline="0" dirty="0">
                <a:ln>
                  <a:noFill/>
                </a:ln>
                <a:solidFill>
                  <a:schemeClr val="tx1"/>
                </a:solidFill>
                <a:effectLst/>
                <a:latin typeface="Arial" panose="020B0604020202020204" pitchFamily="34" charset="0"/>
              </a:rPr>
              <a:t> </a:t>
            </a:r>
            <a:r>
              <a:rPr kumimoji="0" lang="es-MX" altLang="es-MX" i="0" u="none" strike="noStrike" cap="none" normalizeH="0" baseline="0" dirty="0" err="1">
                <a:ln>
                  <a:noFill/>
                </a:ln>
                <a:solidFill>
                  <a:schemeClr val="tx1"/>
                </a:solidFill>
                <a:effectLst/>
                <a:latin typeface="Arial" panose="020B0604020202020204" pitchFamily="34" charset="0"/>
              </a:rPr>
              <a:t>AutoGen</a:t>
            </a:r>
            <a:r>
              <a:rPr kumimoji="0" lang="es-MX" altLang="es-MX" i="0" u="none" strike="noStrike" cap="none" normalizeH="0" baseline="0" dirty="0">
                <a:ln>
                  <a:noFill/>
                </a:ln>
                <a:solidFill>
                  <a:schemeClr val="tx1"/>
                </a:solidFill>
                <a:effectLst/>
                <a:latin typeface="Arial" panose="020B0604020202020204" pitchFamily="34" charset="0"/>
              </a:rPr>
              <a:t> (Microsoft)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i="0" u="none" strike="noStrike" cap="none" normalizeH="0" baseline="0" dirty="0">
                <a:ln>
                  <a:noFill/>
                </a:ln>
                <a:solidFill>
                  <a:schemeClr val="tx1"/>
                </a:solidFill>
                <a:effectLst/>
                <a:latin typeface="Arial" panose="020B0604020202020204" pitchFamily="34" charset="0"/>
              </a:rPr>
              <a:t> </a:t>
            </a:r>
            <a:r>
              <a:rPr kumimoji="0" lang="es-MX" altLang="es-MX" i="0" u="none" strike="noStrike" cap="none" normalizeH="0" baseline="0" dirty="0" err="1">
                <a:ln>
                  <a:noFill/>
                </a:ln>
                <a:solidFill>
                  <a:schemeClr val="tx1"/>
                </a:solidFill>
                <a:effectLst/>
                <a:latin typeface="Arial" panose="020B0604020202020204" pitchFamily="34" charset="0"/>
              </a:rPr>
              <a:t>Haystack</a:t>
            </a:r>
            <a:r>
              <a:rPr kumimoji="0" lang="es-MX" altLang="es-MX"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159569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56F448-9387-EA14-CCF6-2F3C66B058AB}"/>
              </a:ext>
            </a:extLst>
          </p:cNvPr>
          <p:cNvSpPr>
            <a:spLocks noGrp="1"/>
          </p:cNvSpPr>
          <p:nvPr>
            <p:ph type="title"/>
          </p:nvPr>
        </p:nvSpPr>
        <p:spPr/>
        <p:txBody>
          <a:bodyPr/>
          <a:lstStyle/>
          <a:p>
            <a:r>
              <a:rPr lang="es-CO" dirty="0" err="1"/>
              <a:t>LangChain</a:t>
            </a:r>
            <a:endParaRPr lang="es-MX" dirty="0"/>
          </a:p>
        </p:txBody>
      </p:sp>
      <p:sp>
        <p:nvSpPr>
          <p:cNvPr id="3" name="Marcador de contenido 2">
            <a:extLst>
              <a:ext uri="{FF2B5EF4-FFF2-40B4-BE49-F238E27FC236}">
                <a16:creationId xmlns:a16="http://schemas.microsoft.com/office/drawing/2014/main" id="{8306452D-45A8-9B13-BDF1-E0CC540B0CAC}"/>
              </a:ext>
            </a:extLst>
          </p:cNvPr>
          <p:cNvSpPr>
            <a:spLocks noGrp="1"/>
          </p:cNvSpPr>
          <p:nvPr>
            <p:ph idx="1"/>
          </p:nvPr>
        </p:nvSpPr>
        <p:spPr/>
        <p:txBody>
          <a:bodyPr>
            <a:normAutofit fontScale="92500"/>
          </a:bodyPr>
          <a:lstStyle/>
          <a:p>
            <a:pPr marL="0" indent="0" algn="just">
              <a:buNone/>
            </a:pPr>
            <a:r>
              <a:rPr lang="en-US" dirty="0"/>
              <a:t>It’s the most popular and comprehensive framework for developing applications with LLMs.</a:t>
            </a:r>
          </a:p>
          <a:p>
            <a:pPr marL="0" indent="0" algn="just">
              <a:buNone/>
            </a:pPr>
            <a:endParaRPr lang="en-US" dirty="0"/>
          </a:p>
          <a:p>
            <a:pPr marL="0" indent="0" algn="just">
              <a:buNone/>
            </a:pPr>
            <a:r>
              <a:rPr lang="en-US" dirty="0"/>
              <a:t>It's a general-purpose </a:t>
            </a:r>
          </a:p>
          <a:p>
            <a:pPr marL="0" indent="0" algn="just">
              <a:buNone/>
            </a:pPr>
            <a:endParaRPr lang="en-US" dirty="0"/>
          </a:p>
          <a:p>
            <a:pPr marL="0" indent="0" algn="just">
              <a:buNone/>
            </a:pPr>
            <a:r>
              <a:rPr lang="en-US" dirty="0"/>
              <a:t>Provides a vast set of building blocks to create from simple LLM chains to complex, autonomous agents that can interact with their environment. </a:t>
            </a:r>
          </a:p>
          <a:p>
            <a:pPr marL="0" indent="0" algn="just">
              <a:buNone/>
            </a:pPr>
            <a:endParaRPr lang="en-US" dirty="0"/>
          </a:p>
          <a:p>
            <a:pPr marL="0" indent="0" algn="just">
              <a:buNone/>
            </a:pPr>
            <a:r>
              <a:rPr lang="en-US" dirty="0"/>
              <a:t>"chain" together different components to create advanced applications.</a:t>
            </a:r>
            <a:endParaRPr lang="es-MX" dirty="0"/>
          </a:p>
        </p:txBody>
      </p:sp>
    </p:spTree>
    <p:extLst>
      <p:ext uri="{BB962C8B-B14F-4D97-AF65-F5344CB8AC3E}">
        <p14:creationId xmlns:p14="http://schemas.microsoft.com/office/powerpoint/2010/main" val="828240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95FB417-4BE4-DDC4-FD38-D0EDFFBE59F9}"/>
              </a:ext>
            </a:extLst>
          </p:cNvPr>
          <p:cNvSpPr>
            <a:spLocks noGrp="1" noChangeArrowheads="1"/>
          </p:cNvSpPr>
          <p:nvPr>
            <p:ph idx="1"/>
          </p:nvPr>
        </p:nvSpPr>
        <p:spPr bwMode="auto">
          <a:xfrm>
            <a:off x="307285" y="151180"/>
            <a:ext cx="11577430"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Components</a:t>
            </a:r>
            <a:r>
              <a:rPr kumimoji="0" lang="es-MX" altLang="es-MX" b="1" i="0" u="none" strike="noStrike" cap="none" normalizeH="0" baseline="0" dirty="0">
                <a:ln>
                  <a:noFill/>
                </a:ln>
                <a:solidFill>
                  <a:schemeClr val="tx1"/>
                </a:solidFill>
                <a:effectLst/>
                <a:latin typeface="Arial" panose="020B0604020202020204" pitchFamily="34" charset="0"/>
              </a:rPr>
              <a:t> &amp; </a:t>
            </a:r>
            <a:r>
              <a:rPr kumimoji="0" lang="es-MX" altLang="es-MX" b="1" i="0" u="none" strike="noStrike" cap="none" normalizeH="0" baseline="0" dirty="0" err="1">
                <a:ln>
                  <a:noFill/>
                </a:ln>
                <a:solidFill>
                  <a:schemeClr val="tx1"/>
                </a:solidFill>
                <a:effectLst/>
                <a:latin typeface="Arial" panose="020B0604020202020204" pitchFamily="34" charset="0"/>
              </a:rPr>
              <a:t>Integrations</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Offers</a:t>
            </a:r>
            <a:r>
              <a:rPr kumimoji="0" lang="es-MX" altLang="es-MX" b="0" i="0" u="none" strike="noStrike" cap="none" normalizeH="0" baseline="0" dirty="0">
                <a:ln>
                  <a:noFill/>
                </a:ln>
                <a:solidFill>
                  <a:schemeClr val="tx1"/>
                </a:solidFill>
                <a:effectLst/>
                <a:latin typeface="Arial" panose="020B0604020202020204" pitchFamily="34" charset="0"/>
              </a:rPr>
              <a:t> 700 </a:t>
            </a:r>
            <a:r>
              <a:rPr kumimoji="0" lang="es-MX" altLang="es-MX" b="0" i="0" u="none" strike="noStrike" cap="none" normalizeH="0" baseline="0" dirty="0" err="1">
                <a:ln>
                  <a:noFill/>
                </a:ln>
                <a:solidFill>
                  <a:schemeClr val="tx1"/>
                </a:solidFill>
                <a:effectLst/>
                <a:latin typeface="Arial" panose="020B0604020202020204" pitchFamily="34" charset="0"/>
              </a:rPr>
              <a:t>LLMs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document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loaders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text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embedding</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models</a:t>
            </a:r>
            <a:r>
              <a:rPr kumimoji="0" lang="es-MX" altLang="es-MX" b="0" i="0" u="none" strike="noStrike" cap="none" normalizeH="0" baseline="0" dirty="0">
                <a:ln>
                  <a:noFill/>
                </a:ln>
                <a:solidFill>
                  <a:schemeClr val="tx1"/>
                </a:solidFill>
                <a:effectLst/>
                <a:latin typeface="Arial" panose="020B0604020202020204" pitchFamily="34" charset="0"/>
              </a:rPr>
              <a:t>, and vector DB.</a:t>
            </a:r>
          </a:p>
          <a:p>
            <a:pPr marL="0" marR="0" lvl="0" indent="0" algn="just" defTabSz="914400" rtl="0" eaLnBrk="0" fontAlgn="base" latinLnBrk="0" hangingPunct="0">
              <a:lnSpc>
                <a:spcPct val="100000"/>
              </a:lnSpc>
              <a:spcBef>
                <a:spcPct val="0"/>
              </a:spcBef>
              <a:spcAft>
                <a:spcPct val="0"/>
              </a:spcAft>
              <a:buClrTx/>
              <a:buSzTx/>
              <a:buNone/>
              <a:tabLst/>
            </a:pPr>
            <a:r>
              <a:rPr kumimoji="0" lang="es-MX" altLang="es-MX"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Chains</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combine </a:t>
            </a:r>
            <a:r>
              <a:rPr kumimoji="0" lang="es-MX" altLang="es-MX" b="0" i="0" u="none" strike="noStrike" cap="none" normalizeH="0" baseline="0" dirty="0" err="1">
                <a:ln>
                  <a:noFill/>
                </a:ln>
                <a:solidFill>
                  <a:schemeClr val="tx1"/>
                </a:solidFill>
                <a:effectLst/>
                <a:latin typeface="Arial" panose="020B0604020202020204" pitchFamily="34" charset="0"/>
              </a:rPr>
              <a:t>an</a:t>
            </a:r>
            <a:r>
              <a:rPr kumimoji="0" lang="es-MX" altLang="es-MX" b="0" i="0" u="none" strike="noStrike" cap="none" normalizeH="0" baseline="0" dirty="0">
                <a:ln>
                  <a:noFill/>
                </a:ln>
                <a:solidFill>
                  <a:schemeClr val="tx1"/>
                </a:solidFill>
                <a:effectLst/>
                <a:latin typeface="Arial" panose="020B0604020202020204" pitchFamily="34" charset="0"/>
              </a:rPr>
              <a:t> LLM </a:t>
            </a:r>
            <a:r>
              <a:rPr kumimoji="0" lang="es-MX" altLang="es-MX" b="0" i="0" u="none" strike="noStrike" cap="none" normalizeH="0" baseline="0" dirty="0" err="1">
                <a:ln>
                  <a:noFill/>
                </a:ln>
                <a:solidFill>
                  <a:schemeClr val="tx1"/>
                </a:solidFill>
                <a:effectLst/>
                <a:latin typeface="Arial" panose="020B0604020202020204" pitchFamily="34" charset="0"/>
              </a:rPr>
              <a:t>with</a:t>
            </a:r>
            <a:r>
              <a:rPr kumimoji="0" lang="es-MX" altLang="es-MX" b="0" i="0" u="none" strike="noStrike" cap="none" normalizeH="0" baseline="0" dirty="0">
                <a:ln>
                  <a:noFill/>
                </a:ln>
                <a:solidFill>
                  <a:schemeClr val="tx1"/>
                </a:solidFill>
                <a:effectLst/>
                <a:latin typeface="Arial" panose="020B0604020202020204" pitchFamily="34" charset="0"/>
              </a:rPr>
              <a:t> a </a:t>
            </a:r>
            <a:r>
              <a:rPr kumimoji="0" lang="es-MX" altLang="es-MX" b="0" i="0" u="none" strike="noStrike" cap="none" normalizeH="0" baseline="0" dirty="0" err="1">
                <a:ln>
                  <a:noFill/>
                </a:ln>
                <a:solidFill>
                  <a:schemeClr val="tx1"/>
                </a:solidFill>
                <a:effectLst/>
                <a:latin typeface="Arial" panose="020B0604020202020204" pitchFamily="34" charset="0"/>
              </a:rPr>
              <a:t>prompt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create</a:t>
            </a:r>
            <a:r>
              <a:rPr kumimoji="0" lang="es-MX" altLang="es-MX" b="0" i="0" u="none" strike="noStrike" cap="none" normalizeH="0" baseline="0" dirty="0">
                <a:ln>
                  <a:noFill/>
                </a:ln>
                <a:solidFill>
                  <a:schemeClr val="tx1"/>
                </a:solidFill>
                <a:effectLst/>
                <a:latin typeface="Arial" panose="020B0604020202020204" pitchFamily="34" charset="0"/>
              </a:rPr>
              <a:t> simple </a:t>
            </a:r>
            <a:r>
              <a:rPr kumimoji="0" lang="es-MX" altLang="es-MX" b="0" i="0" u="none" strike="noStrike" cap="none" normalizeH="0" baseline="0" dirty="0" err="1">
                <a:ln>
                  <a:noFill/>
                </a:ln>
                <a:solidFill>
                  <a:schemeClr val="tx1"/>
                </a:solidFill>
                <a:effectLst/>
                <a:latin typeface="Arial" panose="020B0604020202020204" pitchFamily="34" charset="0"/>
              </a:rPr>
              <a:t>chains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sequence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multiple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chains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for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complex</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workflows</a:t>
            </a:r>
            <a:r>
              <a:rPr kumimoji="0" lang="es-MX" altLang="es-MX"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None/>
              <a:tabLst/>
            </a:pPr>
            <a:r>
              <a:rPr kumimoji="0" lang="es-MX" altLang="es-MX"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Agents</a:t>
            </a:r>
            <a:r>
              <a:rPr kumimoji="0" lang="es-MX" altLang="es-MX" b="1" i="0" u="none" strike="noStrike" cap="none" normalizeH="0" baseline="0" dirty="0">
                <a:ln>
                  <a:noFill/>
                </a:ln>
                <a:solidFill>
                  <a:schemeClr val="tx1"/>
                </a:solidFill>
                <a:effectLst/>
                <a:latin typeface="Arial" panose="020B0604020202020204" pitchFamily="34" charset="0"/>
              </a:rPr>
              <a:t> and Tools:</a:t>
            </a:r>
            <a:r>
              <a:rPr kumimoji="0" lang="es-MX" altLang="es-MX" b="0" i="0" u="none" strike="noStrike" cap="none" normalizeH="0" baseline="0" dirty="0">
                <a:ln>
                  <a:noFill/>
                </a:ln>
                <a:solidFill>
                  <a:schemeClr val="tx1"/>
                </a:solidFill>
                <a:effectLst/>
                <a:latin typeface="Arial" panose="020B0604020202020204" pitchFamily="34" charset="0"/>
              </a:rPr>
              <a:t> uses </a:t>
            </a:r>
            <a:r>
              <a:rPr kumimoji="0" lang="es-MX" altLang="es-MX" b="0" i="0" u="none" strike="noStrike" cap="none" normalizeH="0" baseline="0" dirty="0" err="1">
                <a:ln>
                  <a:noFill/>
                </a:ln>
                <a:solidFill>
                  <a:schemeClr val="tx1"/>
                </a:solidFill>
                <a:effectLst/>
                <a:latin typeface="Arial" panose="020B0604020202020204" pitchFamily="34" charset="0"/>
              </a:rPr>
              <a:t>an</a:t>
            </a:r>
            <a:r>
              <a:rPr kumimoji="0" lang="es-MX" altLang="es-MX" b="0" i="0" u="none" strike="noStrike" cap="none" normalizeH="0" baseline="0" dirty="0">
                <a:ln>
                  <a:noFill/>
                </a:ln>
                <a:solidFill>
                  <a:schemeClr val="tx1"/>
                </a:solidFill>
                <a:effectLst/>
                <a:latin typeface="Arial" panose="020B0604020202020204" pitchFamily="34" charset="0"/>
              </a:rPr>
              <a:t> LLM </a:t>
            </a:r>
            <a:r>
              <a:rPr kumimoji="0" lang="es-MX" altLang="es-MX" b="0" i="0" u="none" strike="noStrike" cap="none" normalizeH="0" baseline="0" dirty="0" err="1">
                <a:ln>
                  <a:noFill/>
                </a:ln>
                <a:solidFill>
                  <a:schemeClr val="tx1"/>
                </a:solidFill>
                <a:effectLst/>
                <a:latin typeface="Arial" panose="020B0604020202020204" pitchFamily="34" charset="0"/>
              </a:rPr>
              <a:t>executor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decide </a:t>
            </a:r>
            <a:r>
              <a:rPr kumimoji="0" lang="es-MX" altLang="es-MX" b="0" i="0" u="none" strike="noStrike" cap="none" normalizeH="0" baseline="0" dirty="0" err="1">
                <a:ln>
                  <a:noFill/>
                </a:ln>
                <a:solidFill>
                  <a:schemeClr val="tx1"/>
                </a:solidFill>
                <a:effectLst/>
                <a:latin typeface="Arial" panose="020B0604020202020204" pitchFamily="34" charset="0"/>
              </a:rPr>
              <a:t>which</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tools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e.g</a:t>
            </a:r>
            <a:r>
              <a:rPr kumimoji="0" lang="es-MX" altLang="es-MX" b="0" i="0" u="none" strike="noStrike" cap="none" normalizeH="0" baseline="0" dirty="0">
                <a:ln>
                  <a:noFill/>
                </a:ln>
                <a:solidFill>
                  <a:schemeClr val="tx1"/>
                </a:solidFill>
                <a:effectLst/>
                <a:latin typeface="Arial" panose="020B0604020202020204" pitchFamily="34" charset="0"/>
              </a:rPr>
              <a:t>., a Google </a:t>
            </a:r>
            <a:r>
              <a:rPr kumimoji="0" lang="es-MX" altLang="es-MX" b="0" i="0" u="none" strike="noStrike" cap="none" normalizeH="0" baseline="0" dirty="0" err="1">
                <a:ln>
                  <a:noFill/>
                </a:ln>
                <a:solidFill>
                  <a:schemeClr val="tx1"/>
                </a:solidFill>
                <a:effectLst/>
                <a:latin typeface="Arial" panose="020B0604020202020204" pitchFamily="34" charset="0"/>
              </a:rPr>
              <a:t>Search</a:t>
            </a:r>
            <a:r>
              <a:rPr kumimoji="0" lang="es-MX" altLang="es-MX" b="0" i="0" u="none" strike="noStrike" cap="none" normalizeH="0" baseline="0" dirty="0">
                <a:ln>
                  <a:noFill/>
                </a:ln>
                <a:solidFill>
                  <a:schemeClr val="tx1"/>
                </a:solidFill>
                <a:effectLst/>
                <a:latin typeface="Arial" panose="020B0604020202020204" pitchFamily="34" charset="0"/>
              </a:rPr>
              <a:t> API, a Python REPL, a </a:t>
            </a:r>
            <a:r>
              <a:rPr kumimoji="0" lang="es-MX" altLang="es-MX" b="0" i="0" u="none" strike="noStrike" cap="none" normalizeH="0" baseline="0" dirty="0" err="1">
                <a:ln>
                  <a:noFill/>
                </a:ln>
                <a:solidFill>
                  <a:schemeClr val="tx1"/>
                </a:solidFill>
                <a:effectLst/>
                <a:latin typeface="Arial" panose="020B0604020202020204" pitchFamily="34" charset="0"/>
              </a:rPr>
              <a:t>calculator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accomplish</a:t>
            </a:r>
            <a:r>
              <a:rPr kumimoji="0" lang="es-MX" altLang="es-MX" b="0" i="0" u="none" strike="noStrike" cap="none" normalizeH="0" baseline="0" dirty="0">
                <a:ln>
                  <a:noFill/>
                </a:ln>
                <a:solidFill>
                  <a:schemeClr val="tx1"/>
                </a:solidFill>
                <a:effectLst/>
                <a:latin typeface="Arial" panose="020B0604020202020204" pitchFamily="34" charset="0"/>
              </a:rPr>
              <a:t> a </a:t>
            </a:r>
            <a:r>
              <a:rPr kumimoji="0" lang="es-MX" altLang="es-MX" b="0" i="0" u="none" strike="noStrike" cap="none" normalizeH="0" baseline="0" dirty="0" err="1">
                <a:ln>
                  <a:noFill/>
                </a:ln>
                <a:solidFill>
                  <a:schemeClr val="tx1"/>
                </a:solidFill>
                <a:effectLst/>
                <a:latin typeface="Arial" panose="020B0604020202020204" pitchFamily="34" charset="0"/>
              </a:rPr>
              <a:t>goal</a:t>
            </a:r>
            <a:r>
              <a:rPr kumimoji="0" lang="es-MX" altLang="es-MX"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Memory</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Includes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built</a:t>
            </a:r>
            <a:r>
              <a:rPr kumimoji="0" lang="es-MX" altLang="es-MX" b="0" i="0" u="none" strike="noStrike" cap="none" normalizeH="0" baseline="0" dirty="0">
                <a:ln>
                  <a:noFill/>
                </a:ln>
                <a:solidFill>
                  <a:schemeClr val="tx1"/>
                </a:solidFill>
                <a:effectLst/>
                <a:latin typeface="Arial" panose="020B0604020202020204" pitchFamily="34" charset="0"/>
              </a:rPr>
              <a:t>-in </a:t>
            </a:r>
            <a:r>
              <a:rPr kumimoji="0" lang="es-MX" altLang="es-MX" b="0" i="0" u="none" strike="noStrike" cap="none" normalizeH="0" baseline="0" dirty="0" err="1">
                <a:ln>
                  <a:noFill/>
                </a:ln>
                <a:solidFill>
                  <a:schemeClr val="tx1"/>
                </a:solidFill>
                <a:effectLst/>
                <a:latin typeface="Arial" panose="020B0604020202020204" pitchFamily="34" charset="0"/>
              </a:rPr>
              <a:t>memory</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your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applications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allowing</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agents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remember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past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interactions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within</a:t>
            </a:r>
            <a:r>
              <a:rPr kumimoji="0" lang="es-MX" altLang="es-MX" b="0" i="0" u="none" strike="noStrike" cap="none" normalizeH="0" baseline="0" dirty="0">
                <a:ln>
                  <a:noFill/>
                </a:ln>
                <a:solidFill>
                  <a:schemeClr val="tx1"/>
                </a:solidFill>
                <a:effectLst/>
                <a:latin typeface="Arial" panose="020B0604020202020204" pitchFamily="34" charset="0"/>
              </a:rPr>
              <a:t> a </a:t>
            </a:r>
            <a:r>
              <a:rPr kumimoji="0" lang="es-MX" altLang="es-MX" b="0" i="0" u="none" strike="noStrike" cap="none" normalizeH="0" baseline="0" dirty="0" err="1">
                <a:ln>
                  <a:noFill/>
                </a:ln>
                <a:solidFill>
                  <a:schemeClr val="tx1"/>
                </a:solidFill>
                <a:effectLst/>
                <a:latin typeface="Arial" panose="020B0604020202020204" pitchFamily="34" charset="0"/>
              </a:rPr>
              <a:t>conversation</a:t>
            </a:r>
            <a:r>
              <a:rPr kumimoji="0" lang="es-MX" altLang="es-MX"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None/>
              <a:tabLst/>
            </a:pP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LangSmith</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A </a:t>
            </a:r>
            <a:r>
              <a:rPr kumimoji="0" lang="es-MX" altLang="es-MX" b="0" i="0" u="none" strike="noStrike" cap="none" normalizeH="0" baseline="0" dirty="0" err="1">
                <a:ln>
                  <a:noFill/>
                </a:ln>
                <a:solidFill>
                  <a:schemeClr val="tx1"/>
                </a:solidFill>
                <a:effectLst/>
                <a:latin typeface="Arial" panose="020B0604020202020204" pitchFamily="34" charset="0"/>
              </a:rPr>
              <a:t>tool</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for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debugging</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tracing</a:t>
            </a:r>
            <a:r>
              <a:rPr kumimoji="0" lang="es-MX" altLang="es-MX" b="0" i="0" u="none" strike="noStrike" cap="none" normalizeH="0" baseline="0" dirty="0">
                <a:ln>
                  <a:noFill/>
                </a:ln>
                <a:solidFill>
                  <a:schemeClr val="tx1"/>
                </a:solidFill>
                <a:effectLst/>
                <a:latin typeface="Arial" panose="020B0604020202020204" pitchFamily="34" charset="0"/>
              </a:rPr>
              <a:t>, and </a:t>
            </a:r>
            <a:r>
              <a:rPr kumimoji="0" lang="es-MX" altLang="es-MX" b="0" i="0" u="none" strike="noStrike" cap="none" normalizeH="0" baseline="0" dirty="0" err="1">
                <a:ln>
                  <a:noFill/>
                </a:ln>
                <a:solidFill>
                  <a:schemeClr val="tx1"/>
                </a:solidFill>
                <a:effectLst/>
                <a:latin typeface="Arial" panose="020B0604020202020204" pitchFamily="34" charset="0"/>
              </a:rPr>
              <a:t>monitoring</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your</a:t>
            </a:r>
            <a:r>
              <a:rPr kumimoji="0" lang="es-MX" altLang="es-MX" b="0" i="0" u="none" strike="noStrike" cap="none" normalizeH="0" baseline="0" dirty="0">
                <a:ln>
                  <a:noFill/>
                </a:ln>
                <a:solidFill>
                  <a:schemeClr val="tx1"/>
                </a:solidFill>
                <a:effectLst/>
                <a:latin typeface="Arial" panose="020B0604020202020204" pitchFamily="34" charset="0"/>
              </a:rPr>
              <a:t> LLM </a:t>
            </a:r>
            <a:r>
              <a:rPr kumimoji="0" lang="es-MX" altLang="es-MX" b="0" i="0" u="none" strike="noStrike" cap="none" normalizeH="0" baseline="0" dirty="0" err="1">
                <a:ln>
                  <a:noFill/>
                </a:ln>
                <a:solidFill>
                  <a:schemeClr val="tx1"/>
                </a:solidFill>
                <a:effectLst/>
                <a:latin typeface="Arial" panose="020B0604020202020204" pitchFamily="34" charset="0"/>
              </a:rPr>
              <a:t>applications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making</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easier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see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what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an</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agent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doing</a:t>
            </a:r>
            <a:r>
              <a:rPr kumimoji="0" lang="es-MX" altLang="es-MX"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996544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533886-5295-1749-4F76-07858618B6AF}"/>
              </a:ext>
            </a:extLst>
          </p:cNvPr>
          <p:cNvSpPr>
            <a:spLocks noGrp="1"/>
          </p:cNvSpPr>
          <p:nvPr>
            <p:ph type="title"/>
          </p:nvPr>
        </p:nvSpPr>
        <p:spPr/>
        <p:txBody>
          <a:bodyPr/>
          <a:lstStyle/>
          <a:p>
            <a:r>
              <a:rPr lang="es-CO" dirty="0" err="1"/>
              <a:t>Limitations</a:t>
            </a:r>
            <a:endParaRPr lang="es-MX" dirty="0"/>
          </a:p>
        </p:txBody>
      </p:sp>
      <p:sp>
        <p:nvSpPr>
          <p:cNvPr id="4" name="Rectangle 1">
            <a:extLst>
              <a:ext uri="{FF2B5EF4-FFF2-40B4-BE49-F238E27FC236}">
                <a16:creationId xmlns:a16="http://schemas.microsoft.com/office/drawing/2014/main" id="{45A32C2E-378F-0B35-7B67-91406547D9E4}"/>
              </a:ext>
            </a:extLst>
          </p:cNvPr>
          <p:cNvSpPr>
            <a:spLocks noGrp="1" noChangeArrowheads="1"/>
          </p:cNvSpPr>
          <p:nvPr>
            <p:ph idx="1"/>
          </p:nvPr>
        </p:nvSpPr>
        <p:spPr bwMode="auto">
          <a:xfrm>
            <a:off x="695325" y="1760523"/>
            <a:ext cx="107442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LangChain</a:t>
            </a:r>
            <a:r>
              <a:rPr kumimoji="0" lang="es-MX" altLang="es-MX" b="1" i="0" u="none" strike="noStrike" cap="none" normalizeH="0" baseline="0" dirty="0">
                <a:ln>
                  <a:noFill/>
                </a:ln>
                <a:solidFill>
                  <a:schemeClr val="tx1"/>
                </a:solidFill>
                <a:effectLst/>
                <a:latin typeface="Arial" panose="020B0604020202020204" pitchFamily="34" charset="0"/>
              </a:rPr>
              <a:t> Spaghetti":</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Its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high</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level</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of</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abstraction</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make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applications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difficult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debug</a:t>
            </a:r>
            <a:r>
              <a:rPr kumimoji="0" lang="es-MX" altLang="es-MX" b="0" i="0" u="none" strike="noStrike" cap="none" normalizeH="0" baseline="0" dirty="0">
                <a:ln>
                  <a:noFill/>
                </a:ln>
                <a:solidFill>
                  <a:schemeClr val="tx1"/>
                </a:solidFill>
                <a:effectLst/>
                <a:latin typeface="Arial" panose="020B0604020202020204" pitchFamily="34" charset="0"/>
              </a:rPr>
              <a:t> and </a:t>
            </a:r>
            <a:r>
              <a:rPr kumimoji="0" lang="es-MX" altLang="es-MX" b="0" i="0" u="none" strike="noStrike" cap="none" normalizeH="0" baseline="0" dirty="0" err="1">
                <a:ln>
                  <a:noFill/>
                </a:ln>
                <a:solidFill>
                  <a:schemeClr val="tx1"/>
                </a:solidFill>
                <a:effectLst/>
                <a:latin typeface="Arial" panose="020B0604020202020204" pitchFamily="34" charset="0"/>
              </a:rPr>
              <a:t>understand</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The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flow</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of</a:t>
            </a:r>
            <a:r>
              <a:rPr kumimoji="0" lang="es-MX" altLang="es-MX" b="0" i="0" u="none" strike="noStrike" cap="none" normalizeH="0" baseline="0" dirty="0">
                <a:ln>
                  <a:noFill/>
                </a:ln>
                <a:solidFill>
                  <a:schemeClr val="tx1"/>
                </a:solidFill>
                <a:effectLst/>
                <a:latin typeface="Arial" panose="020B0604020202020204" pitchFamily="34" charset="0"/>
              </a:rPr>
              <a:t> data </a:t>
            </a:r>
            <a:r>
              <a:rPr kumimoji="0" lang="es-MX" altLang="es-MX" b="0" i="0" u="none" strike="noStrike" cap="none" normalizeH="0" baseline="0" dirty="0" err="1">
                <a:ln>
                  <a:noFill/>
                </a:ln>
                <a:solidFill>
                  <a:schemeClr val="tx1"/>
                </a:solidFill>
                <a:effectLst/>
                <a:latin typeface="Arial" panose="020B0604020202020204" pitchFamily="34" charset="0"/>
              </a:rPr>
              <a:t>through</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many</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layers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of</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chains</a:t>
            </a:r>
            <a:r>
              <a:rPr kumimoji="0" lang="es-MX" altLang="es-MX" b="0" i="0" u="none" strike="noStrike" cap="none" normalizeH="0" baseline="0" dirty="0">
                <a:ln>
                  <a:noFill/>
                </a:ln>
                <a:solidFill>
                  <a:schemeClr val="tx1"/>
                </a:solidFill>
                <a:effectLst/>
                <a:latin typeface="Arial" panose="020B0604020202020204" pitchFamily="34" charset="0"/>
              </a:rPr>
              <a:t> and </a:t>
            </a:r>
            <a:r>
              <a:rPr kumimoji="0" lang="es-MX" altLang="es-MX" b="0" i="0" u="none" strike="noStrike" cap="none" normalizeH="0" baseline="0" dirty="0" err="1">
                <a:ln>
                  <a:noFill/>
                </a:ln>
                <a:solidFill>
                  <a:schemeClr val="tx1"/>
                </a:solidFill>
                <a:effectLst/>
                <a:latin typeface="Arial" panose="020B0604020202020204" pitchFamily="34" charset="0"/>
              </a:rPr>
              <a:t>agents</a:t>
            </a:r>
            <a:r>
              <a:rPr kumimoji="0" lang="es-MX" altLang="es-MX" b="0" i="0" u="none" strike="noStrike" cap="none" normalizeH="0" baseline="0" dirty="0">
                <a:ln>
                  <a:noFill/>
                </a:ln>
                <a:solidFill>
                  <a:schemeClr val="tx1"/>
                </a:solidFill>
                <a:effectLst/>
                <a:latin typeface="Arial" panose="020B0604020202020204" pitchFamily="34" charset="0"/>
              </a:rPr>
              <a:t> can </a:t>
            </a:r>
            <a:r>
              <a:rPr kumimoji="0" lang="es-MX" altLang="es-MX" b="0" i="0" u="none" strike="noStrike" cap="none" normalizeH="0" baseline="0" dirty="0" err="1">
                <a:ln>
                  <a:noFill/>
                </a:ln>
                <a:solidFill>
                  <a:schemeClr val="tx1"/>
                </a:solidFill>
                <a:effectLst/>
                <a:latin typeface="Arial" panose="020B0604020202020204" pitchFamily="34" charset="0"/>
              </a:rPr>
              <a:t>become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convoluted</a:t>
            </a:r>
            <a:r>
              <a:rPr kumimoji="0" lang="es-MX" altLang="es-MX"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Steep</a:t>
            </a: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Learning</a:t>
            </a:r>
            <a:r>
              <a:rPr kumimoji="0" lang="es-MX" altLang="es-MX" b="1" i="0" u="none" strike="noStrike" cap="none" normalizeH="0" baseline="0" dirty="0">
                <a:ln>
                  <a:noFill/>
                </a:ln>
                <a:solidFill>
                  <a:schemeClr val="tx1"/>
                </a:solidFill>
                <a:effectLst/>
                <a:latin typeface="Arial" panose="020B0604020202020204" pitchFamily="34" charset="0"/>
              </a:rPr>
              <a:t> Curve: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The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sheer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number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of</a:t>
            </a:r>
            <a:r>
              <a:rPr kumimoji="0" lang="es-MX" altLang="es-MX" b="0" i="0" u="none" strike="noStrike" cap="none" normalizeH="0" baseline="0" dirty="0">
                <a:ln>
                  <a:noFill/>
                </a:ln>
                <a:solidFill>
                  <a:schemeClr val="tx1"/>
                </a:solidFill>
                <a:effectLst/>
                <a:latin typeface="Arial" panose="020B0604020202020204" pitchFamily="34" charset="0"/>
              </a:rPr>
              <a:t> modules and </a:t>
            </a:r>
            <a:r>
              <a:rPr kumimoji="0" lang="es-MX" altLang="es-MX" b="0" i="0" u="none" strike="noStrike" cap="none" normalizeH="0" baseline="0" dirty="0" err="1">
                <a:ln>
                  <a:noFill/>
                </a:ln>
                <a:solidFill>
                  <a:schemeClr val="tx1"/>
                </a:solidFill>
                <a:effectLst/>
                <a:latin typeface="Arial" panose="020B0604020202020204" pitchFamily="34" charset="0"/>
              </a:rPr>
              <a:t>concepts</a:t>
            </a:r>
            <a:r>
              <a:rPr kumimoji="0" lang="es-MX" altLang="es-MX" b="0" i="0" u="none" strike="noStrike" cap="none" normalizeH="0" baseline="0" dirty="0">
                <a:ln>
                  <a:noFill/>
                </a:ln>
                <a:solidFill>
                  <a:schemeClr val="tx1"/>
                </a:solidFill>
                <a:effectLst/>
                <a:latin typeface="Arial" panose="020B0604020202020204" pitchFamily="34" charset="0"/>
              </a:rPr>
              <a:t> can be </a:t>
            </a:r>
            <a:r>
              <a:rPr kumimoji="0" lang="es-MX" altLang="es-MX" b="0" i="0" u="none" strike="noStrike" cap="none" normalizeH="0" baseline="0" dirty="0" err="1">
                <a:ln>
                  <a:noFill/>
                </a:ln>
                <a:solidFill>
                  <a:schemeClr val="tx1"/>
                </a:solidFill>
                <a:effectLst/>
                <a:latin typeface="Arial" panose="020B0604020202020204" pitchFamily="34" charset="0"/>
              </a:rPr>
              <a:t>overwhelming</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for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beginners</a:t>
            </a:r>
            <a:r>
              <a:rPr kumimoji="0" lang="es-MX" altLang="es-MX"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None/>
              <a:tabLst/>
            </a:pP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Opinionated</a:t>
            </a: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Design</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its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abstractions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feel</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rigid</a:t>
            </a:r>
            <a:r>
              <a:rPr kumimoji="0" lang="es-MX" altLang="es-MX" b="0" i="0" u="none" strike="noStrike" cap="none" normalizeH="0" baseline="0" dirty="0">
                <a:ln>
                  <a:noFill/>
                </a:ln>
                <a:solidFill>
                  <a:schemeClr val="tx1"/>
                </a:solidFill>
                <a:effectLst/>
                <a:latin typeface="Arial" panose="020B0604020202020204" pitchFamily="34" charset="0"/>
              </a:rPr>
              <a:t>, and </a:t>
            </a:r>
            <a:r>
              <a:rPr kumimoji="0" lang="es-MX" altLang="es-MX" b="0" i="0" u="none" strike="noStrike" cap="none" normalizeH="0" baseline="0" dirty="0" err="1">
                <a:ln>
                  <a:noFill/>
                </a:ln>
                <a:solidFill>
                  <a:schemeClr val="tx1"/>
                </a:solidFill>
                <a:effectLst/>
                <a:latin typeface="Arial" panose="020B0604020202020204" pitchFamily="34" charset="0"/>
              </a:rPr>
              <a:t>developers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might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fight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the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framework</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implement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custom</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logic</a:t>
            </a:r>
            <a:r>
              <a:rPr kumimoji="0" lang="es-MX" altLang="es-MX"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287983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A094D0-0C9A-DD33-3A57-E46E5BDBBCD2}"/>
              </a:ext>
            </a:extLst>
          </p:cNvPr>
          <p:cNvSpPr>
            <a:spLocks noGrp="1"/>
          </p:cNvSpPr>
          <p:nvPr>
            <p:ph type="title"/>
          </p:nvPr>
        </p:nvSpPr>
        <p:spPr/>
        <p:txBody>
          <a:bodyPr/>
          <a:lstStyle/>
          <a:p>
            <a:r>
              <a:rPr lang="es-CO" dirty="0" err="1"/>
              <a:t>LangGraph</a:t>
            </a:r>
            <a:endParaRPr lang="es-MX" dirty="0"/>
          </a:p>
        </p:txBody>
      </p:sp>
      <p:sp>
        <p:nvSpPr>
          <p:cNvPr id="3" name="Marcador de contenido 2">
            <a:extLst>
              <a:ext uri="{FF2B5EF4-FFF2-40B4-BE49-F238E27FC236}">
                <a16:creationId xmlns:a16="http://schemas.microsoft.com/office/drawing/2014/main" id="{CA54B9DC-916A-9211-53EB-C868D60235A1}"/>
              </a:ext>
            </a:extLst>
          </p:cNvPr>
          <p:cNvSpPr>
            <a:spLocks noGrp="1"/>
          </p:cNvSpPr>
          <p:nvPr>
            <p:ph idx="1"/>
          </p:nvPr>
        </p:nvSpPr>
        <p:spPr/>
        <p:txBody>
          <a:bodyPr>
            <a:normAutofit fontScale="92500" lnSpcReduction="10000"/>
          </a:bodyPr>
          <a:lstStyle/>
          <a:p>
            <a:pPr marL="0" indent="0" algn="just">
              <a:buNone/>
            </a:pPr>
            <a:r>
              <a:rPr lang="es-MX" dirty="0"/>
              <a:t>Works </a:t>
            </a:r>
            <a:r>
              <a:rPr lang="es-MX" dirty="0" err="1"/>
              <a:t>within</a:t>
            </a:r>
            <a:r>
              <a:rPr lang="es-MX" dirty="0"/>
              <a:t> </a:t>
            </a:r>
            <a:r>
              <a:rPr lang="es-MX" dirty="0" err="1"/>
              <a:t>the</a:t>
            </a:r>
            <a:r>
              <a:rPr lang="es-MX" dirty="0"/>
              <a:t> </a:t>
            </a:r>
            <a:r>
              <a:rPr lang="es-MX" dirty="0" err="1"/>
              <a:t>LangChain</a:t>
            </a:r>
            <a:r>
              <a:rPr lang="es-MX" dirty="0"/>
              <a:t> </a:t>
            </a:r>
            <a:r>
              <a:rPr lang="es-MX" dirty="0" err="1"/>
              <a:t>ecosystem</a:t>
            </a:r>
            <a:r>
              <a:rPr lang="es-MX" dirty="0"/>
              <a:t> (</a:t>
            </a:r>
            <a:r>
              <a:rPr lang="es-MX" dirty="0" err="1"/>
              <a:t>dependent</a:t>
            </a:r>
            <a:r>
              <a:rPr lang="es-MX"/>
              <a:t>)</a:t>
            </a:r>
            <a:endParaRPr lang="es-MX" dirty="0"/>
          </a:p>
          <a:p>
            <a:pPr marL="0" indent="0" algn="just">
              <a:buNone/>
            </a:pPr>
            <a:endParaRPr lang="es-MX" dirty="0"/>
          </a:p>
          <a:p>
            <a:pPr marL="0" indent="0" algn="just">
              <a:buNone/>
            </a:pPr>
            <a:r>
              <a:rPr lang="en-US" dirty="0"/>
              <a:t>Graph-based workflows, nodes represent tasks (e.g., LLM calls, tool executions) and edges define the flow of data and execution.</a:t>
            </a:r>
          </a:p>
          <a:p>
            <a:pPr marL="0" indent="0" algn="just">
              <a:buNone/>
            </a:pPr>
            <a:endParaRPr lang="en-US" dirty="0"/>
          </a:p>
          <a:p>
            <a:pPr marL="0" indent="0" algn="just">
              <a:buNone/>
            </a:pPr>
            <a:r>
              <a:rPr lang="en-US" dirty="0"/>
              <a:t>For agents capable of dynamic decision-making, state persistence, and tool integration, offering control over workflows for sophisticated agentic applications.</a:t>
            </a:r>
          </a:p>
          <a:p>
            <a:pPr marL="0" indent="0" algn="just">
              <a:buNone/>
            </a:pPr>
            <a:endParaRPr lang="en-US" dirty="0"/>
          </a:p>
          <a:p>
            <a:pPr marL="0" indent="0" algn="just">
              <a:buNone/>
            </a:pPr>
            <a:r>
              <a:rPr lang="en-US" dirty="0"/>
              <a:t>Human oversight by allowing breakpoints for human review or intervention, enhancing reliability for sensitive tasks.</a:t>
            </a:r>
          </a:p>
          <a:p>
            <a:pPr marL="0" indent="0" algn="just">
              <a:buNone/>
            </a:pPr>
            <a:endParaRPr lang="es-MX" dirty="0"/>
          </a:p>
          <a:p>
            <a:pPr marL="0" indent="0" algn="just">
              <a:buNone/>
            </a:pPr>
            <a:endParaRPr lang="es-MX" dirty="0"/>
          </a:p>
        </p:txBody>
      </p:sp>
    </p:spTree>
    <p:extLst>
      <p:ext uri="{BB962C8B-B14F-4D97-AF65-F5344CB8AC3E}">
        <p14:creationId xmlns:p14="http://schemas.microsoft.com/office/powerpoint/2010/main" val="4208353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1517295-372C-1C6A-F214-5C44C6381BD0}"/>
              </a:ext>
            </a:extLst>
          </p:cNvPr>
          <p:cNvSpPr>
            <a:spLocks noGrp="1"/>
          </p:cNvSpPr>
          <p:nvPr>
            <p:ph idx="1"/>
          </p:nvPr>
        </p:nvSpPr>
        <p:spPr>
          <a:xfrm>
            <a:off x="838200" y="409575"/>
            <a:ext cx="10515600" cy="5767388"/>
          </a:xfrm>
        </p:spPr>
        <p:txBody>
          <a:bodyPr>
            <a:normAutofit/>
          </a:bodyPr>
          <a:lstStyle/>
          <a:p>
            <a:pPr algn="just"/>
            <a:r>
              <a:rPr lang="es-MX" dirty="0" err="1"/>
              <a:t>Customer</a:t>
            </a:r>
            <a:r>
              <a:rPr lang="es-MX" dirty="0"/>
              <a:t> </a:t>
            </a:r>
            <a:r>
              <a:rPr lang="es-MX" dirty="0" err="1"/>
              <a:t>Support</a:t>
            </a:r>
            <a:r>
              <a:rPr lang="es-MX" dirty="0"/>
              <a:t> AI </a:t>
            </a:r>
            <a:r>
              <a:rPr lang="es-MX" dirty="0" err="1"/>
              <a:t>Agents</a:t>
            </a:r>
            <a:endParaRPr lang="es-MX" dirty="0"/>
          </a:p>
          <a:p>
            <a:pPr algn="just"/>
            <a:endParaRPr lang="es-MX" dirty="0"/>
          </a:p>
          <a:p>
            <a:pPr algn="just"/>
            <a:r>
              <a:rPr lang="en-US" dirty="0"/>
              <a:t>Agentic Retrieval-Augmented Generation (RAG) Systems</a:t>
            </a:r>
          </a:p>
          <a:p>
            <a:pPr algn="just"/>
            <a:endParaRPr lang="en-US" dirty="0"/>
          </a:p>
          <a:p>
            <a:pPr algn="just"/>
            <a:r>
              <a:rPr lang="en-US" dirty="0"/>
              <a:t>Research and Data Analysis Agents</a:t>
            </a:r>
          </a:p>
          <a:p>
            <a:pPr algn="just"/>
            <a:endParaRPr lang="es-MX" dirty="0"/>
          </a:p>
          <a:p>
            <a:pPr algn="just"/>
            <a:r>
              <a:rPr lang="es-MX" dirty="0" err="1"/>
              <a:t>Travel</a:t>
            </a:r>
            <a:r>
              <a:rPr lang="es-MX" dirty="0"/>
              <a:t> and </a:t>
            </a:r>
            <a:r>
              <a:rPr lang="es-MX" dirty="0" err="1"/>
              <a:t>Logistics</a:t>
            </a:r>
            <a:r>
              <a:rPr lang="es-MX" dirty="0"/>
              <a:t> </a:t>
            </a:r>
            <a:r>
              <a:rPr lang="es-MX" dirty="0" err="1"/>
              <a:t>Planning</a:t>
            </a:r>
            <a:endParaRPr lang="es-MX" dirty="0"/>
          </a:p>
          <a:p>
            <a:pPr algn="just"/>
            <a:endParaRPr lang="es-MX" dirty="0"/>
          </a:p>
          <a:p>
            <a:pPr algn="just"/>
            <a:r>
              <a:rPr lang="es-MX" dirty="0"/>
              <a:t>Enterprise </a:t>
            </a:r>
            <a:r>
              <a:rPr lang="es-MX" dirty="0" err="1"/>
              <a:t>Workflow</a:t>
            </a:r>
            <a:r>
              <a:rPr lang="es-MX" dirty="0"/>
              <a:t> </a:t>
            </a:r>
            <a:r>
              <a:rPr lang="es-MX" dirty="0" err="1"/>
              <a:t>Automation</a:t>
            </a:r>
            <a:endParaRPr lang="es-MX" dirty="0"/>
          </a:p>
          <a:p>
            <a:pPr algn="just"/>
            <a:endParaRPr lang="es-MX" dirty="0"/>
          </a:p>
          <a:p>
            <a:pPr algn="just"/>
            <a:r>
              <a:rPr lang="es-MX" dirty="0" err="1"/>
              <a:t>Conversational</a:t>
            </a:r>
            <a:r>
              <a:rPr lang="es-MX" dirty="0"/>
              <a:t> AI </a:t>
            </a:r>
            <a:r>
              <a:rPr lang="es-MX" dirty="0" err="1"/>
              <a:t>with</a:t>
            </a:r>
            <a:r>
              <a:rPr lang="es-MX" dirty="0"/>
              <a:t> </a:t>
            </a:r>
            <a:r>
              <a:rPr lang="es-MX" dirty="0" err="1"/>
              <a:t>Memory</a:t>
            </a:r>
            <a:endParaRPr lang="es-MX" dirty="0"/>
          </a:p>
        </p:txBody>
      </p:sp>
    </p:spTree>
    <p:extLst>
      <p:ext uri="{BB962C8B-B14F-4D97-AF65-F5344CB8AC3E}">
        <p14:creationId xmlns:p14="http://schemas.microsoft.com/office/powerpoint/2010/main" val="13780845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1E91C6-949B-128A-E124-2815B3C2DD8D}"/>
              </a:ext>
            </a:extLst>
          </p:cNvPr>
          <p:cNvSpPr>
            <a:spLocks noGrp="1"/>
          </p:cNvSpPr>
          <p:nvPr>
            <p:ph type="title"/>
          </p:nvPr>
        </p:nvSpPr>
        <p:spPr/>
        <p:txBody>
          <a:bodyPr/>
          <a:lstStyle/>
          <a:p>
            <a:r>
              <a:rPr lang="es-MX" dirty="0" err="1"/>
              <a:t>LlamaIndex</a:t>
            </a:r>
            <a:endParaRPr lang="es-MX" dirty="0"/>
          </a:p>
        </p:txBody>
      </p:sp>
      <p:sp>
        <p:nvSpPr>
          <p:cNvPr id="3" name="Marcador de contenido 2">
            <a:extLst>
              <a:ext uri="{FF2B5EF4-FFF2-40B4-BE49-F238E27FC236}">
                <a16:creationId xmlns:a16="http://schemas.microsoft.com/office/drawing/2014/main" id="{AD7CFAC9-AB48-8D55-21CF-43537A5F3EA9}"/>
              </a:ext>
            </a:extLst>
          </p:cNvPr>
          <p:cNvSpPr>
            <a:spLocks noGrp="1"/>
          </p:cNvSpPr>
          <p:nvPr>
            <p:ph idx="1"/>
          </p:nvPr>
        </p:nvSpPr>
        <p:spPr/>
        <p:txBody>
          <a:bodyPr/>
          <a:lstStyle/>
          <a:p>
            <a:pPr marL="0" indent="0" algn="just">
              <a:buNone/>
            </a:pPr>
            <a:r>
              <a:rPr lang="en-US" dirty="0"/>
              <a:t>It’s a specialized data framework for connecting your custom data sources to LLMs. </a:t>
            </a:r>
          </a:p>
          <a:p>
            <a:pPr marL="0" indent="0" algn="just">
              <a:buNone/>
            </a:pPr>
            <a:endParaRPr lang="en-US" dirty="0"/>
          </a:p>
          <a:p>
            <a:pPr marL="0" indent="0" algn="just">
              <a:buNone/>
            </a:pPr>
            <a:r>
              <a:rPr lang="en-US" dirty="0"/>
              <a:t>Focuses on making RAG powerful and easy.</a:t>
            </a:r>
          </a:p>
          <a:p>
            <a:pPr marL="0" indent="0" algn="just">
              <a:buNone/>
            </a:pPr>
            <a:endParaRPr lang="en-US" dirty="0"/>
          </a:p>
          <a:p>
            <a:pPr marL="0" indent="0" algn="just">
              <a:buNone/>
            </a:pPr>
            <a:r>
              <a:rPr lang="en-US" dirty="0"/>
              <a:t>Its primary goal is to provide the best tools for ingesting, indexing, and querying private data.</a:t>
            </a:r>
            <a:endParaRPr lang="es-MX" dirty="0"/>
          </a:p>
        </p:txBody>
      </p:sp>
    </p:spTree>
    <p:extLst>
      <p:ext uri="{BB962C8B-B14F-4D97-AF65-F5344CB8AC3E}">
        <p14:creationId xmlns:p14="http://schemas.microsoft.com/office/powerpoint/2010/main" val="3905425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072EAC3-C0D1-4787-B7F2-D91F5913F75F}"/>
              </a:ext>
            </a:extLst>
          </p:cNvPr>
          <p:cNvSpPr>
            <a:spLocks noChangeArrowheads="1"/>
          </p:cNvSpPr>
          <p:nvPr/>
        </p:nvSpPr>
        <p:spPr bwMode="auto">
          <a:xfrm>
            <a:off x="425342" y="366623"/>
            <a:ext cx="11188915"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800" b="1" i="0" u="none" strike="noStrike" cap="none" normalizeH="0" baseline="0" dirty="0">
                <a:ln>
                  <a:noFill/>
                </a:ln>
                <a:solidFill>
                  <a:schemeClr val="tx1"/>
                </a:solidFill>
                <a:effectLst/>
                <a:latin typeface="Arial" panose="020B0604020202020204" pitchFamily="34" charset="0"/>
              </a:rPr>
              <a:t> </a:t>
            </a:r>
            <a:r>
              <a:rPr kumimoji="0" lang="es-MX" altLang="es-MX" sz="2800" b="1" i="0" u="none" strike="noStrike" cap="none" normalizeH="0" baseline="0" dirty="0" err="1">
                <a:ln>
                  <a:noFill/>
                </a:ln>
                <a:solidFill>
                  <a:schemeClr val="tx1"/>
                </a:solidFill>
                <a:effectLst/>
                <a:latin typeface="Arial" panose="020B0604020202020204" pitchFamily="34" charset="0"/>
              </a:rPr>
              <a:t>Advanced</a:t>
            </a:r>
            <a:r>
              <a:rPr kumimoji="0" lang="es-MX" altLang="es-MX" sz="2800" b="1" i="0" u="none" strike="noStrike" cap="none" normalizeH="0" baseline="0" dirty="0">
                <a:ln>
                  <a:noFill/>
                </a:ln>
                <a:solidFill>
                  <a:schemeClr val="tx1"/>
                </a:solidFill>
                <a:effectLst/>
                <a:latin typeface="Arial" panose="020B0604020202020204" pitchFamily="34" charset="0"/>
              </a:rPr>
              <a:t> RAG Pipelines:</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advanced</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strategies</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like</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sentence-window</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retrieval</a:t>
            </a:r>
            <a:r>
              <a:rPr kumimoji="0" lang="es-MX" altLang="es-MX" sz="2800" b="0" i="0" u="none" strike="noStrike" cap="none" normalizeH="0" baseline="0" dirty="0">
                <a:ln>
                  <a:noFill/>
                </a:ln>
                <a:solidFill>
                  <a:schemeClr val="tx1"/>
                </a:solidFill>
                <a:effectLst/>
                <a:latin typeface="Arial" panose="020B0604020202020204" pitchFamily="34" charset="0"/>
              </a:rPr>
              <a:t> and </a:t>
            </a:r>
            <a:r>
              <a:rPr kumimoji="0" lang="es-MX" altLang="es-MX" sz="2800" b="0" i="0" u="none" strike="noStrike" cap="none" normalizeH="0" baseline="0" dirty="0" err="1">
                <a:ln>
                  <a:noFill/>
                </a:ln>
                <a:solidFill>
                  <a:schemeClr val="tx1"/>
                </a:solidFill>
                <a:effectLst/>
                <a:latin typeface="Arial" panose="020B0604020202020204" pitchFamily="34" charset="0"/>
              </a:rPr>
              <a:t>auto-merging</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retrieval</a:t>
            </a:r>
            <a:r>
              <a:rPr kumimoji="0" lang="es-MX" altLang="es-MX" sz="28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800" b="1" i="0" u="none" strike="noStrike" cap="none" normalizeH="0" baseline="0" dirty="0">
                <a:ln>
                  <a:noFill/>
                </a:ln>
                <a:solidFill>
                  <a:schemeClr val="tx1"/>
                </a:solidFill>
                <a:effectLst/>
                <a:latin typeface="Arial" panose="020B0604020202020204" pitchFamily="34" charset="0"/>
              </a:rPr>
              <a:t> </a:t>
            </a:r>
            <a:r>
              <a:rPr kumimoji="0" lang="es-MX" altLang="es-MX" sz="2800" b="1" i="0" u="none" strike="noStrike" cap="none" normalizeH="0" baseline="0" dirty="0" err="1">
                <a:ln>
                  <a:noFill/>
                </a:ln>
                <a:solidFill>
                  <a:schemeClr val="tx1"/>
                </a:solidFill>
                <a:effectLst/>
                <a:latin typeface="Arial" panose="020B0604020202020204" pitchFamily="34" charset="0"/>
              </a:rPr>
              <a:t>Powerful</a:t>
            </a:r>
            <a:r>
              <a:rPr kumimoji="0" lang="es-MX" altLang="es-MX" sz="2800" b="1" i="0" u="none" strike="noStrike" cap="none" normalizeH="0" baseline="0" dirty="0">
                <a:ln>
                  <a:noFill/>
                </a:ln>
                <a:solidFill>
                  <a:schemeClr val="tx1"/>
                </a:solidFill>
                <a:effectLst/>
                <a:latin typeface="Arial" panose="020B0604020202020204" pitchFamily="34" charset="0"/>
              </a:rPr>
              <a:t> Data </a:t>
            </a:r>
            <a:r>
              <a:rPr kumimoji="0" lang="es-MX" altLang="es-MX" sz="2800" b="1" i="0" u="none" strike="noStrike" cap="none" normalizeH="0" baseline="0" dirty="0" err="1">
                <a:ln>
                  <a:noFill/>
                </a:ln>
                <a:solidFill>
                  <a:schemeClr val="tx1"/>
                </a:solidFill>
                <a:effectLst/>
                <a:latin typeface="Arial" panose="020B0604020202020204" pitchFamily="34" charset="0"/>
              </a:rPr>
              <a:t>Indexing</a:t>
            </a:r>
            <a:r>
              <a:rPr kumimoji="0" lang="es-MX" altLang="es-MX" sz="2800" b="1" i="0" u="none" strike="noStrike" cap="none" normalizeH="0" baseline="0" dirty="0">
                <a:ln>
                  <a:noFill/>
                </a:ln>
                <a:solidFill>
                  <a:schemeClr val="tx1"/>
                </a:solidFill>
                <a:effectLst/>
                <a:latin typeface="Arial" panose="020B0604020202020204" pitchFamily="34" charset="0"/>
              </a:rPr>
              <a:t>:</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creating</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sophisticated</a:t>
            </a:r>
            <a:r>
              <a:rPr kumimoji="0" lang="es-MX" altLang="es-MX" sz="2800" b="0" i="0" u="none" strike="noStrike" cap="none" normalizeH="0" baseline="0" dirty="0">
                <a:ln>
                  <a:noFill/>
                </a:ln>
                <a:solidFill>
                  <a:schemeClr val="tx1"/>
                </a:solidFill>
                <a:effectLst/>
                <a:latin typeface="Arial" panose="020B0604020202020204" pitchFamily="34" charset="0"/>
              </a:rPr>
              <a:t> indexes </a:t>
            </a:r>
            <a:r>
              <a:rPr kumimoji="0" lang="es-MX" altLang="es-MX" sz="2800" b="0" i="0" u="none" strike="noStrike" cap="none" normalizeH="0" baseline="0" dirty="0" err="1">
                <a:ln>
                  <a:noFill/>
                </a:ln>
                <a:solidFill>
                  <a:schemeClr val="tx1"/>
                </a:solidFill>
                <a:effectLst/>
                <a:latin typeface="Arial" panose="020B0604020202020204" pitchFamily="34" charset="0"/>
              </a:rPr>
              <a:t>over</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your</a:t>
            </a:r>
            <a:r>
              <a:rPr kumimoji="0" lang="es-MX" altLang="es-MX" sz="2800" b="0" i="0" u="none" strike="noStrike" cap="none" normalizeH="0" baseline="0" dirty="0">
                <a:ln>
                  <a:noFill/>
                </a:ln>
                <a:solidFill>
                  <a:schemeClr val="tx1"/>
                </a:solidFill>
                <a:effectLst/>
                <a:latin typeface="Arial" panose="020B0604020202020204" pitchFamily="34" charset="0"/>
              </a:rPr>
              <a:t> data (</a:t>
            </a:r>
            <a:r>
              <a:rPr kumimoji="0" lang="es-MX" altLang="es-MX" sz="2800" b="0" i="0" u="none" strike="noStrike" cap="none" normalizeH="0" baseline="0" dirty="0" err="1">
                <a:ln>
                  <a:noFill/>
                </a:ln>
                <a:solidFill>
                  <a:schemeClr val="tx1"/>
                </a:solidFill>
                <a:effectLst/>
                <a:latin typeface="Arial" panose="020B0604020202020204" pitchFamily="34" charset="0"/>
              </a:rPr>
              <a:t>e.g</a:t>
            </a:r>
            <a:r>
              <a:rPr kumimoji="0" lang="es-MX" altLang="es-MX" sz="2800" b="0" i="0" u="none" strike="noStrike" cap="none" normalizeH="0" baseline="0" dirty="0">
                <a:ln>
                  <a:noFill/>
                </a:ln>
                <a:solidFill>
                  <a:schemeClr val="tx1"/>
                </a:solidFill>
                <a:effectLst/>
                <a:latin typeface="Arial" panose="020B0604020202020204" pitchFamily="34" charset="0"/>
              </a:rPr>
              <a:t>., vector indexes, </a:t>
            </a:r>
            <a:r>
              <a:rPr kumimoji="0" lang="es-MX" altLang="es-MX" sz="2800" b="0" i="0" u="none" strike="noStrike" cap="none" normalizeH="0" baseline="0" dirty="0" err="1">
                <a:ln>
                  <a:noFill/>
                </a:ln>
                <a:solidFill>
                  <a:schemeClr val="tx1"/>
                </a:solidFill>
                <a:effectLst/>
                <a:latin typeface="Arial" panose="020B0604020202020204" pitchFamily="34" charset="0"/>
              </a:rPr>
              <a:t>list</a:t>
            </a:r>
            <a:r>
              <a:rPr kumimoji="0" lang="es-MX" altLang="es-MX" sz="2800" b="0" i="0" u="none" strike="noStrike" cap="none" normalizeH="0" baseline="0" dirty="0">
                <a:ln>
                  <a:noFill/>
                </a:ln>
                <a:solidFill>
                  <a:schemeClr val="tx1"/>
                </a:solidFill>
                <a:effectLst/>
                <a:latin typeface="Arial" panose="020B0604020202020204" pitchFamily="34" charset="0"/>
              </a:rPr>
              <a:t> indexes, </a:t>
            </a:r>
            <a:r>
              <a:rPr kumimoji="0" lang="es-MX" altLang="es-MX" sz="2800" b="0" i="0" u="none" strike="noStrike" cap="none" normalizeH="0" baseline="0" dirty="0" err="1">
                <a:ln>
                  <a:noFill/>
                </a:ln>
                <a:solidFill>
                  <a:schemeClr val="tx1"/>
                </a:solidFill>
                <a:effectLst/>
                <a:latin typeface="Arial" panose="020B0604020202020204" pitchFamily="34" charset="0"/>
              </a:rPr>
              <a:t>tree</a:t>
            </a:r>
            <a:r>
              <a:rPr kumimoji="0" lang="es-MX" altLang="es-MX" sz="2800" b="0" i="0" u="none" strike="noStrike" cap="none" normalizeH="0" baseline="0" dirty="0">
                <a:ln>
                  <a:noFill/>
                </a:ln>
                <a:solidFill>
                  <a:schemeClr val="tx1"/>
                </a:solidFill>
                <a:effectLst/>
                <a:latin typeface="Arial" panose="020B0604020202020204" pitchFamily="34" charset="0"/>
              </a:rPr>
              <a:t> indexes), can be </a:t>
            </a:r>
            <a:r>
              <a:rPr kumimoji="0" lang="es-MX" altLang="es-MX" sz="2800" b="0" i="0" u="none" strike="noStrike" cap="none" normalizeH="0" baseline="0" dirty="0" err="1">
                <a:ln>
                  <a:noFill/>
                </a:ln>
                <a:solidFill>
                  <a:schemeClr val="tx1"/>
                </a:solidFill>
                <a:effectLst/>
                <a:latin typeface="Arial" panose="020B0604020202020204" pitchFamily="34" charset="0"/>
              </a:rPr>
              <a:t>combined</a:t>
            </a:r>
            <a:r>
              <a:rPr kumimoji="0" lang="es-MX" altLang="es-MX" sz="2800" b="0" i="0" u="none" strike="noStrike" cap="none" normalizeH="0" baseline="0" dirty="0">
                <a:ln>
                  <a:noFill/>
                </a:ln>
                <a:solidFill>
                  <a:schemeClr val="tx1"/>
                </a:solidFill>
                <a:effectLst/>
                <a:latin typeface="Arial" panose="020B0604020202020204" pitchFamily="34" charset="0"/>
              </a:rPr>
              <a:t> and </a:t>
            </a:r>
            <a:r>
              <a:rPr kumimoji="0" lang="es-MX" altLang="es-MX" sz="2800" b="0" i="0" u="none" strike="noStrike" cap="none" normalizeH="0" baseline="0" dirty="0" err="1">
                <a:ln>
                  <a:noFill/>
                </a:ln>
                <a:solidFill>
                  <a:schemeClr val="tx1"/>
                </a:solidFill>
                <a:effectLst/>
                <a:latin typeface="Arial" panose="020B0604020202020204" pitchFamily="34" charset="0"/>
              </a:rPr>
              <a:t>queried</a:t>
            </a:r>
            <a:r>
              <a:rPr kumimoji="0" lang="es-MX" altLang="es-MX" sz="2800" b="0" i="0" u="none" strike="noStrike" cap="none" normalizeH="0" baseline="0" dirty="0">
                <a:ln>
                  <a:noFill/>
                </a:ln>
                <a:solidFill>
                  <a:schemeClr val="tx1"/>
                </a:solidFill>
                <a:effectLst/>
                <a:latin typeface="Arial" panose="020B0604020202020204" pitchFamily="34" charset="0"/>
              </a:rPr>
              <a:t> in </a:t>
            </a:r>
            <a:r>
              <a:rPr kumimoji="0" lang="es-MX" altLang="es-MX" sz="2800" b="0" i="0" u="none" strike="noStrike" cap="none" normalizeH="0" baseline="0" dirty="0" err="1">
                <a:ln>
                  <a:noFill/>
                </a:ln>
                <a:solidFill>
                  <a:schemeClr val="tx1"/>
                </a:solidFill>
                <a:effectLst/>
                <a:latin typeface="Arial" panose="020B0604020202020204" pitchFamily="34" charset="0"/>
              </a:rPr>
              <a:t>complex</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ways</a:t>
            </a:r>
            <a:r>
              <a:rPr kumimoji="0" lang="es-MX" altLang="es-MX" sz="28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800" b="1" i="0" u="none" strike="noStrike" cap="none" normalizeH="0" baseline="0" dirty="0">
                <a:ln>
                  <a:noFill/>
                </a:ln>
                <a:solidFill>
                  <a:schemeClr val="tx1"/>
                </a:solidFill>
                <a:effectLst/>
                <a:latin typeface="Arial" panose="020B0604020202020204" pitchFamily="34" charset="0"/>
              </a:rPr>
              <a:t> </a:t>
            </a:r>
            <a:r>
              <a:rPr kumimoji="0" lang="es-MX" altLang="es-MX" sz="2800" b="1" i="0" u="none" strike="noStrike" cap="none" normalizeH="0" baseline="0" dirty="0" err="1">
                <a:ln>
                  <a:noFill/>
                </a:ln>
                <a:solidFill>
                  <a:schemeClr val="tx1"/>
                </a:solidFill>
                <a:effectLst/>
                <a:latin typeface="Arial" panose="020B0604020202020204" pitchFamily="34" charset="0"/>
              </a:rPr>
              <a:t>Query</a:t>
            </a:r>
            <a:r>
              <a:rPr kumimoji="0" lang="es-MX" altLang="es-MX" sz="2800" b="1" i="0" u="none" strike="noStrike" cap="none" normalizeH="0" baseline="0" dirty="0">
                <a:ln>
                  <a:noFill/>
                </a:ln>
                <a:solidFill>
                  <a:schemeClr val="tx1"/>
                </a:solidFill>
                <a:effectLst/>
                <a:latin typeface="Arial" panose="020B0604020202020204" pitchFamily="34" charset="0"/>
              </a:rPr>
              <a:t> </a:t>
            </a:r>
            <a:r>
              <a:rPr kumimoji="0" lang="es-MX" altLang="es-MX" sz="2800" b="1" i="0" u="none" strike="noStrike" cap="none" normalizeH="0" baseline="0" dirty="0" err="1">
                <a:ln>
                  <a:noFill/>
                </a:ln>
                <a:solidFill>
                  <a:schemeClr val="tx1"/>
                </a:solidFill>
                <a:effectLst/>
                <a:latin typeface="Arial" panose="020B0604020202020204" pitchFamily="34" charset="0"/>
              </a:rPr>
              <a:t>Engines</a:t>
            </a:r>
            <a:r>
              <a:rPr kumimoji="0" lang="es-MX" altLang="es-MX" sz="2800" b="1" i="0" u="none" strike="noStrike" cap="none" normalizeH="0" baseline="0" dirty="0">
                <a:ln>
                  <a:noFill/>
                </a:ln>
                <a:solidFill>
                  <a:schemeClr val="tx1"/>
                </a:solidFill>
                <a:effectLst/>
                <a:latin typeface="Arial" panose="020B0604020202020204" pitchFamily="34" charset="0"/>
              </a:rPr>
              <a:t>:</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high-level</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query</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engines</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optimized</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for</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different</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tasks</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comparing</a:t>
            </a:r>
            <a:r>
              <a:rPr kumimoji="0" lang="es-MX" altLang="es-MX" sz="2800" b="0" i="0" u="none" strike="noStrike" cap="none" normalizeH="0" baseline="0" dirty="0">
                <a:ln>
                  <a:noFill/>
                </a:ln>
                <a:solidFill>
                  <a:schemeClr val="tx1"/>
                </a:solidFill>
                <a:effectLst/>
                <a:latin typeface="Arial" panose="020B0604020202020204" pitchFamily="34" charset="0"/>
              </a:rPr>
              <a:t>/</a:t>
            </a:r>
            <a:r>
              <a:rPr kumimoji="0" lang="es-MX" altLang="es-MX" sz="2800" b="0" i="0" u="none" strike="noStrike" cap="none" normalizeH="0" baseline="0" dirty="0" err="1">
                <a:ln>
                  <a:noFill/>
                </a:ln>
                <a:solidFill>
                  <a:schemeClr val="tx1"/>
                </a:solidFill>
                <a:effectLst/>
                <a:latin typeface="Arial" panose="020B0604020202020204" pitchFamily="34" charset="0"/>
              </a:rPr>
              <a:t>contrasting</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documents</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or</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breaking</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down</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query</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into</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sub-questions</a:t>
            </a:r>
            <a:r>
              <a:rPr kumimoji="0" lang="es-MX" altLang="es-MX" sz="2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800" b="1" i="0" u="none" strike="noStrike" cap="none" normalizeH="0" baseline="0" dirty="0">
                <a:ln>
                  <a:noFill/>
                </a:ln>
                <a:solidFill>
                  <a:schemeClr val="tx1"/>
                </a:solidFill>
                <a:effectLst/>
                <a:latin typeface="Arial" panose="020B0604020202020204" pitchFamily="34" charset="0"/>
              </a:rPr>
              <a:t> Deep </a:t>
            </a:r>
            <a:r>
              <a:rPr kumimoji="0" lang="es-MX" altLang="es-MX" sz="2800" b="1" i="0" u="none" strike="noStrike" cap="none" normalizeH="0" baseline="0" dirty="0" err="1">
                <a:ln>
                  <a:noFill/>
                </a:ln>
                <a:solidFill>
                  <a:schemeClr val="tx1"/>
                </a:solidFill>
                <a:effectLst/>
                <a:latin typeface="Arial" panose="020B0604020202020204" pitchFamily="34" charset="0"/>
              </a:rPr>
              <a:t>Integration</a:t>
            </a:r>
            <a:r>
              <a:rPr kumimoji="0" lang="es-MX" altLang="es-MX" sz="2800" b="1" i="0" u="none" strike="noStrike" cap="none" normalizeH="0" baseline="0" dirty="0">
                <a:ln>
                  <a:noFill/>
                </a:ln>
                <a:solidFill>
                  <a:schemeClr val="tx1"/>
                </a:solidFill>
                <a:effectLst/>
                <a:latin typeface="Arial" panose="020B0604020202020204" pitchFamily="34" charset="0"/>
              </a:rPr>
              <a:t> </a:t>
            </a:r>
            <a:r>
              <a:rPr kumimoji="0" lang="es-MX" altLang="es-MX" sz="2800" b="1" i="0" u="none" strike="noStrike" cap="none" normalizeH="0" baseline="0" dirty="0" err="1">
                <a:ln>
                  <a:noFill/>
                </a:ln>
                <a:solidFill>
                  <a:schemeClr val="tx1"/>
                </a:solidFill>
                <a:effectLst/>
                <a:latin typeface="Arial" panose="020B0604020202020204" pitchFamily="34" charset="0"/>
              </a:rPr>
              <a:t>with</a:t>
            </a:r>
            <a:r>
              <a:rPr kumimoji="0" lang="es-MX" altLang="es-MX" sz="2800" b="1" i="0" u="none" strike="noStrike" cap="none" normalizeH="0" baseline="0" dirty="0">
                <a:ln>
                  <a:noFill/>
                </a:ln>
                <a:solidFill>
                  <a:schemeClr val="tx1"/>
                </a:solidFill>
                <a:effectLst/>
                <a:latin typeface="Arial" panose="020B0604020202020204" pitchFamily="34" charset="0"/>
              </a:rPr>
              <a:t> </a:t>
            </a:r>
            <a:r>
              <a:rPr kumimoji="0" lang="es-MX" altLang="es-MX" sz="2800" b="1" i="0" u="none" strike="noStrike" cap="none" normalizeH="0" baseline="0" dirty="0" err="1">
                <a:ln>
                  <a:noFill/>
                </a:ln>
                <a:solidFill>
                  <a:schemeClr val="tx1"/>
                </a:solidFill>
                <a:effectLst/>
                <a:latin typeface="Arial" panose="020B0604020202020204" pitchFamily="34" charset="0"/>
              </a:rPr>
              <a:t>LangChain</a:t>
            </a:r>
            <a:r>
              <a:rPr kumimoji="0" lang="es-MX" altLang="es-MX" sz="2800" b="1" i="0" u="none" strike="noStrike" cap="none" normalizeH="0" baseline="0" dirty="0">
                <a:ln>
                  <a:noFill/>
                </a:ln>
                <a:solidFill>
                  <a:schemeClr val="tx1"/>
                </a:solidFill>
                <a:effectLst/>
                <a:latin typeface="Arial" panose="020B0604020202020204" pitchFamily="34" charset="0"/>
              </a:rPr>
              <a:t>:</a:t>
            </a:r>
            <a:r>
              <a:rPr kumimoji="0" lang="es-MX" altLang="es-MX" sz="2800" b="0" i="0" u="none" strike="noStrike" cap="none" normalizeH="0" baseline="0" dirty="0">
                <a:ln>
                  <a:noFill/>
                </a:ln>
                <a:solidFill>
                  <a:schemeClr val="tx1"/>
                </a:solidFill>
                <a:effectLst/>
                <a:latin typeface="Arial" panose="020B0604020202020204" pitchFamily="34" charset="0"/>
              </a:rPr>
              <a:t> Can be </a:t>
            </a:r>
            <a:r>
              <a:rPr kumimoji="0" lang="es-MX" altLang="es-MX" sz="2800" b="0" i="0" u="none" strike="noStrike" cap="none" normalizeH="0" baseline="0" dirty="0" err="1">
                <a:ln>
                  <a:noFill/>
                </a:ln>
                <a:solidFill>
                  <a:schemeClr val="tx1"/>
                </a:solidFill>
                <a:effectLst/>
                <a:latin typeface="Arial" panose="020B0604020202020204" pitchFamily="34" charset="0"/>
              </a:rPr>
              <a:t>used</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inside</a:t>
            </a:r>
            <a:r>
              <a:rPr kumimoji="0" lang="es-MX" altLang="es-MX" sz="2800" b="0" i="0" u="none" strike="noStrike" cap="none" normalizeH="0" baseline="0" dirty="0">
                <a:ln>
                  <a:noFill/>
                </a:ln>
                <a:solidFill>
                  <a:schemeClr val="tx1"/>
                </a:solidFill>
                <a:effectLst/>
                <a:latin typeface="Arial" panose="020B0604020202020204" pitchFamily="34" charset="0"/>
              </a:rPr>
              <a:t> a </a:t>
            </a:r>
            <a:r>
              <a:rPr kumimoji="0" lang="es-MX" altLang="es-MX" sz="2800" b="0" i="0" u="none" strike="noStrike" cap="none" normalizeH="0" baseline="0" dirty="0" err="1">
                <a:ln>
                  <a:noFill/>
                </a:ln>
                <a:solidFill>
                  <a:schemeClr val="tx1"/>
                </a:solidFill>
                <a:effectLst/>
                <a:latin typeface="Arial" panose="020B0604020202020204" pitchFamily="34" charset="0"/>
              </a:rPr>
              <a:t>LangChain</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workflow</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serving</a:t>
            </a:r>
            <a:r>
              <a:rPr kumimoji="0" lang="es-MX" altLang="es-MX" sz="2800" b="0" i="0" u="none" strike="noStrike" cap="none" normalizeH="0" baseline="0" dirty="0">
                <a:ln>
                  <a:noFill/>
                </a:ln>
                <a:solidFill>
                  <a:schemeClr val="tx1"/>
                </a:solidFill>
                <a:effectLst/>
                <a:latin typeface="Arial" panose="020B0604020202020204" pitchFamily="34" charset="0"/>
              </a:rPr>
              <a:t> as </a:t>
            </a:r>
            <a:r>
              <a:rPr kumimoji="0" lang="es-MX" altLang="es-MX" sz="2800" b="0" i="0" u="none" strike="noStrike" cap="none" normalizeH="0" baseline="0" dirty="0" err="1">
                <a:ln>
                  <a:noFill/>
                </a:ln>
                <a:solidFill>
                  <a:schemeClr val="tx1"/>
                </a:solidFill>
                <a:effectLst/>
                <a:latin typeface="Arial" panose="020B0604020202020204" pitchFamily="34" charset="0"/>
              </a:rPr>
              <a:t>the</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primary</a:t>
            </a:r>
            <a:r>
              <a:rPr kumimoji="0" lang="es-MX" altLang="es-MX" sz="2800" b="0" i="0" u="none" strike="noStrike" cap="none" normalizeH="0" baseline="0" dirty="0">
                <a:ln>
                  <a:noFill/>
                </a:ln>
                <a:solidFill>
                  <a:schemeClr val="tx1"/>
                </a:solidFill>
                <a:effectLst/>
                <a:latin typeface="Arial" panose="020B0604020202020204" pitchFamily="34" charset="0"/>
              </a:rPr>
              <a:t> data-</a:t>
            </a:r>
            <a:r>
              <a:rPr kumimoji="0" lang="es-MX" altLang="es-MX" sz="2800" b="0" i="0" u="none" strike="noStrike" cap="none" normalizeH="0" baseline="0" dirty="0" err="1">
                <a:ln>
                  <a:noFill/>
                </a:ln>
                <a:solidFill>
                  <a:schemeClr val="tx1"/>
                </a:solidFill>
                <a:effectLst/>
                <a:latin typeface="Arial" panose="020B0604020202020204" pitchFamily="34" charset="0"/>
              </a:rPr>
              <a:t>retrieval</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component</a:t>
            </a:r>
            <a:r>
              <a:rPr kumimoji="0" lang="es-MX" altLang="es-MX" sz="2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1276603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26D9F3D-6979-202C-A2A2-AB41B8871A52}"/>
              </a:ext>
            </a:extLst>
          </p:cNvPr>
          <p:cNvSpPr>
            <a:spLocks noGrp="1" noChangeArrowheads="1"/>
          </p:cNvSpPr>
          <p:nvPr>
            <p:ph idx="1"/>
          </p:nvPr>
        </p:nvSpPr>
        <p:spPr bwMode="auto">
          <a:xfrm>
            <a:off x="838199" y="1073552"/>
            <a:ext cx="1051560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3200" b="1" i="0" u="none" strike="noStrike" cap="none" normalizeH="0" baseline="0" dirty="0">
                <a:ln>
                  <a:noFill/>
                </a:ln>
                <a:solidFill>
                  <a:schemeClr val="tx1"/>
                </a:solidFill>
                <a:effectLst/>
                <a:latin typeface="Arial" panose="020B0604020202020204" pitchFamily="34" charset="0"/>
              </a:rPr>
              <a:t> Niche Focus:</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not</a:t>
            </a:r>
            <a:r>
              <a:rPr kumimoji="0" lang="es-MX" altLang="es-MX" sz="3200" b="0" i="0" u="none" strike="noStrike" cap="none" normalizeH="0" baseline="0" dirty="0">
                <a:ln>
                  <a:noFill/>
                </a:ln>
                <a:solidFill>
                  <a:schemeClr val="tx1"/>
                </a:solidFill>
                <a:effectLst/>
                <a:latin typeface="Arial" panose="020B0604020202020204" pitchFamily="34" charset="0"/>
              </a:rPr>
              <a:t> general-</a:t>
            </a:r>
            <a:r>
              <a:rPr kumimoji="0" lang="es-MX" altLang="es-MX" sz="3200" b="0" i="0" u="none" strike="noStrike" cap="none" normalizeH="0" baseline="0" dirty="0" err="1">
                <a:ln>
                  <a:noFill/>
                </a:ln>
                <a:solidFill>
                  <a:schemeClr val="tx1"/>
                </a:solidFill>
                <a:effectLst/>
                <a:latin typeface="Arial" panose="020B0604020202020204" pitchFamily="34" charset="0"/>
              </a:rPr>
              <a:t>purpose</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entirely</a:t>
            </a:r>
            <a:r>
              <a:rPr kumimoji="0" lang="es-MX" altLang="es-MX" sz="3200" b="0" i="0" u="none" strike="noStrike" cap="none" normalizeH="0" baseline="0" dirty="0">
                <a:ln>
                  <a:noFill/>
                </a:ln>
                <a:solidFill>
                  <a:schemeClr val="tx1"/>
                </a:solidFill>
                <a:effectLst/>
                <a:latin typeface="Arial" panose="020B0604020202020204" pitchFamily="34" charset="0"/>
              </a:rPr>
              <a:t> in </a:t>
            </a:r>
            <a:r>
              <a:rPr kumimoji="0" lang="es-MX" altLang="es-MX" sz="3200" b="0" i="0" u="none" strike="noStrike" cap="none" normalizeH="0" baseline="0" dirty="0" err="1">
                <a:ln>
                  <a:noFill/>
                </a:ln>
                <a:solidFill>
                  <a:schemeClr val="tx1"/>
                </a:solidFill>
                <a:effectLst/>
                <a:latin typeface="Arial" panose="020B0604020202020204" pitchFamily="34" charset="0"/>
              </a:rPr>
              <a:t>the</a:t>
            </a:r>
            <a:r>
              <a:rPr kumimoji="0" lang="es-MX" altLang="es-MX" sz="3200" b="0" i="0" u="none" strike="noStrike" cap="none" normalizeH="0" baseline="0" dirty="0">
                <a:ln>
                  <a:noFill/>
                </a:ln>
                <a:solidFill>
                  <a:schemeClr val="tx1"/>
                </a:solidFill>
                <a:effectLst/>
                <a:latin typeface="Arial" panose="020B0604020202020204" pitchFamily="34" charset="0"/>
              </a:rPr>
              <a:t> RAG and data-</a:t>
            </a:r>
            <a:r>
              <a:rPr kumimoji="0" lang="es-MX" altLang="es-MX" sz="3200" b="0" i="0" u="none" strike="noStrike" cap="none" normalizeH="0" baseline="0" dirty="0" err="1">
                <a:ln>
                  <a:noFill/>
                </a:ln>
                <a:solidFill>
                  <a:schemeClr val="tx1"/>
                </a:solidFill>
                <a:effectLst/>
                <a:latin typeface="Arial" panose="020B0604020202020204" pitchFamily="34" charset="0"/>
              </a:rPr>
              <a:t>ingestion</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domain</a:t>
            </a:r>
            <a:r>
              <a:rPr kumimoji="0" lang="es-MX" altLang="es-MX" sz="32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None/>
              <a:tabLst/>
            </a:pPr>
            <a:endParaRPr kumimoji="0" lang="es-MX" altLang="es-MX"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3200" b="1" i="0" u="none" strike="noStrike" cap="none" normalizeH="0" baseline="0" dirty="0">
                <a:ln>
                  <a:noFill/>
                </a:ln>
                <a:solidFill>
                  <a:schemeClr val="tx1"/>
                </a:solidFill>
                <a:effectLst/>
                <a:latin typeface="Arial" panose="020B0604020202020204" pitchFamily="34" charset="0"/>
              </a:rPr>
              <a:t> </a:t>
            </a:r>
            <a:r>
              <a:rPr kumimoji="0" lang="es-MX" altLang="es-MX" sz="3200" b="1" i="0" u="none" strike="noStrike" cap="none" normalizeH="0" baseline="0" dirty="0" err="1">
                <a:ln>
                  <a:noFill/>
                </a:ln>
                <a:solidFill>
                  <a:schemeClr val="tx1"/>
                </a:solidFill>
                <a:effectLst/>
                <a:latin typeface="Arial" panose="020B0604020202020204" pitchFamily="34" charset="0"/>
              </a:rPr>
              <a:t>Less</a:t>
            </a:r>
            <a:r>
              <a:rPr kumimoji="0" lang="es-MX" altLang="es-MX" sz="3200" b="1" i="0" u="none" strike="noStrike" cap="none" normalizeH="0" baseline="0" dirty="0">
                <a:ln>
                  <a:noFill/>
                </a:ln>
                <a:solidFill>
                  <a:schemeClr val="tx1"/>
                </a:solidFill>
                <a:effectLst/>
                <a:latin typeface="Arial" panose="020B0604020202020204" pitchFamily="34" charset="0"/>
              </a:rPr>
              <a:t> </a:t>
            </a:r>
            <a:r>
              <a:rPr kumimoji="0" lang="es-MX" altLang="es-MX" sz="3200" b="1" i="0" u="none" strike="noStrike" cap="none" normalizeH="0" baseline="0" dirty="0" err="1">
                <a:ln>
                  <a:noFill/>
                </a:ln>
                <a:solidFill>
                  <a:schemeClr val="tx1"/>
                </a:solidFill>
                <a:effectLst/>
                <a:latin typeface="Arial" panose="020B0604020202020204" pitchFamily="34" charset="0"/>
              </a:rPr>
              <a:t>Agentic</a:t>
            </a:r>
            <a:r>
              <a:rPr kumimoji="0" lang="es-MX" altLang="es-MX" sz="3200" b="1" i="0" u="none" strike="noStrike" cap="none" normalizeH="0" baseline="0" dirty="0">
                <a:ln>
                  <a:noFill/>
                </a:ln>
                <a:solidFill>
                  <a:schemeClr val="tx1"/>
                </a:solidFill>
                <a:effectLst/>
                <a:latin typeface="Arial" panose="020B0604020202020204" pitchFamily="34" charset="0"/>
              </a:rPr>
              <a:t> </a:t>
            </a:r>
            <a:r>
              <a:rPr kumimoji="0" lang="es-MX" altLang="es-MX" sz="3200" b="1" i="0" u="none" strike="noStrike" cap="none" normalizeH="0" baseline="0" dirty="0" err="1">
                <a:ln>
                  <a:noFill/>
                </a:ln>
                <a:solidFill>
                  <a:schemeClr val="tx1"/>
                </a:solidFill>
                <a:effectLst/>
                <a:latin typeface="Arial" panose="020B0604020202020204" pitchFamily="34" charset="0"/>
              </a:rPr>
              <a:t>Functionality</a:t>
            </a:r>
            <a:r>
              <a:rPr kumimoji="0" lang="es-MX" altLang="es-MX" sz="3200" b="1" i="0" u="none" strike="noStrike" cap="none" normalizeH="0" baseline="0" dirty="0">
                <a:ln>
                  <a:noFill/>
                </a:ln>
                <a:solidFill>
                  <a:schemeClr val="tx1"/>
                </a:solidFill>
                <a:effectLst/>
                <a:latin typeface="Arial" panose="020B0604020202020204" pitchFamily="34" charset="0"/>
              </a:rPr>
              <a:t>:</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less</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mature</a:t>
            </a:r>
            <a:r>
              <a:rPr kumimoji="0" lang="es-MX" altLang="es-MX" sz="3200" b="0" i="0" u="none" strike="noStrike" cap="none" normalizeH="0" baseline="0" dirty="0">
                <a:ln>
                  <a:noFill/>
                </a:ln>
                <a:solidFill>
                  <a:schemeClr val="tx1"/>
                </a:solidFill>
                <a:effectLst/>
                <a:latin typeface="Arial" panose="020B0604020202020204" pitchFamily="34" charset="0"/>
              </a:rPr>
              <a:t> and extensive </a:t>
            </a:r>
            <a:r>
              <a:rPr kumimoji="0" lang="es-MX" altLang="es-MX" sz="3200" b="0" i="0" u="none" strike="noStrike" cap="none" normalizeH="0" baseline="0" dirty="0" err="1">
                <a:ln>
                  <a:noFill/>
                </a:ln>
                <a:solidFill>
                  <a:schemeClr val="tx1"/>
                </a:solidFill>
                <a:effectLst/>
                <a:latin typeface="Arial" panose="020B0604020202020204" pitchFamily="34" charset="0"/>
              </a:rPr>
              <a:t>than</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LangChain</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or</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CrewAI</a:t>
            </a:r>
            <a:r>
              <a:rPr kumimoji="0" lang="es-MX" altLang="es-MX" sz="32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0477013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B9D185-F4CD-B1BD-9077-97FE57734242}"/>
              </a:ext>
            </a:extLst>
          </p:cNvPr>
          <p:cNvSpPr>
            <a:spLocks noGrp="1"/>
          </p:cNvSpPr>
          <p:nvPr>
            <p:ph type="title"/>
          </p:nvPr>
        </p:nvSpPr>
        <p:spPr/>
        <p:txBody>
          <a:bodyPr/>
          <a:lstStyle/>
          <a:p>
            <a:r>
              <a:rPr lang="es-MX" b="1" dirty="0" err="1"/>
              <a:t>CrewAI</a:t>
            </a:r>
            <a:endParaRPr lang="es-MX" b="1" dirty="0"/>
          </a:p>
        </p:txBody>
      </p:sp>
      <p:sp>
        <p:nvSpPr>
          <p:cNvPr id="3" name="Marcador de contenido 2">
            <a:extLst>
              <a:ext uri="{FF2B5EF4-FFF2-40B4-BE49-F238E27FC236}">
                <a16:creationId xmlns:a16="http://schemas.microsoft.com/office/drawing/2014/main" id="{901A2B8B-BFC1-D3FE-7048-62F52AC5CC0A}"/>
              </a:ext>
            </a:extLst>
          </p:cNvPr>
          <p:cNvSpPr>
            <a:spLocks noGrp="1"/>
          </p:cNvSpPr>
          <p:nvPr>
            <p:ph idx="1"/>
          </p:nvPr>
        </p:nvSpPr>
        <p:spPr/>
        <p:txBody>
          <a:bodyPr/>
          <a:lstStyle/>
          <a:p>
            <a:pPr marL="0" indent="0" algn="just">
              <a:buNone/>
            </a:pPr>
            <a:r>
              <a:rPr lang="en-US" dirty="0"/>
              <a:t>A newer framework for orchestrating multi-agent systems.</a:t>
            </a:r>
          </a:p>
          <a:p>
            <a:pPr marL="0" indent="0" algn="just">
              <a:buNone/>
            </a:pPr>
            <a:endParaRPr lang="en-US" dirty="0"/>
          </a:p>
          <a:p>
            <a:pPr marL="0" indent="0" algn="just">
              <a:buNone/>
            </a:pPr>
            <a:r>
              <a:rPr lang="en-US" dirty="0"/>
              <a:t>Focuses on making it easy to create a "crew" of collaborative AI agents to accomplish complex tasks.</a:t>
            </a:r>
          </a:p>
          <a:p>
            <a:pPr marL="0" indent="0" algn="just">
              <a:buNone/>
            </a:pPr>
            <a:endParaRPr lang="en-US" dirty="0"/>
          </a:p>
          <a:p>
            <a:pPr marL="0" indent="0" algn="just">
              <a:buNone/>
            </a:pPr>
            <a:r>
              <a:rPr lang="en-US" dirty="0"/>
              <a:t>It introduces a role-playing concept where each agent has a specific job, backstory, and set of tools.</a:t>
            </a:r>
            <a:endParaRPr lang="es-MX" dirty="0"/>
          </a:p>
        </p:txBody>
      </p:sp>
    </p:spTree>
    <p:extLst>
      <p:ext uri="{BB962C8B-B14F-4D97-AF65-F5344CB8AC3E}">
        <p14:creationId xmlns:p14="http://schemas.microsoft.com/office/powerpoint/2010/main" val="19745572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B1CB23A-673A-EF93-D18E-AFE8DB025C4C}"/>
              </a:ext>
            </a:extLst>
          </p:cNvPr>
          <p:cNvSpPr>
            <a:spLocks noGrp="1" noChangeArrowheads="1"/>
          </p:cNvSpPr>
          <p:nvPr>
            <p:ph idx="1"/>
          </p:nvPr>
        </p:nvSpPr>
        <p:spPr bwMode="auto">
          <a:xfrm>
            <a:off x="549998" y="1496685"/>
            <a:ext cx="1090982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3200" b="1" i="0" u="none" strike="noStrike" cap="none" normalizeH="0" baseline="0" dirty="0">
                <a:ln>
                  <a:noFill/>
                </a:ln>
                <a:solidFill>
                  <a:schemeClr val="tx1"/>
                </a:solidFill>
                <a:effectLst/>
                <a:latin typeface="Arial" panose="020B0604020202020204" pitchFamily="34" charset="0"/>
              </a:rPr>
              <a:t> Role-</a:t>
            </a:r>
            <a:r>
              <a:rPr kumimoji="0" lang="es-MX" altLang="es-MX" sz="3200" b="1" i="0" u="none" strike="noStrike" cap="none" normalizeH="0" baseline="0" dirty="0" err="1">
                <a:ln>
                  <a:noFill/>
                </a:ln>
                <a:solidFill>
                  <a:schemeClr val="tx1"/>
                </a:solidFill>
                <a:effectLst/>
                <a:latin typeface="Arial" panose="020B0604020202020204" pitchFamily="34" charset="0"/>
              </a:rPr>
              <a:t>Based</a:t>
            </a:r>
            <a:r>
              <a:rPr kumimoji="0" lang="es-MX" altLang="es-MX" sz="3200" b="1" i="0" u="none" strike="noStrike" cap="none" normalizeH="0" baseline="0" dirty="0">
                <a:ln>
                  <a:noFill/>
                </a:ln>
                <a:solidFill>
                  <a:schemeClr val="tx1"/>
                </a:solidFill>
                <a:effectLst/>
                <a:latin typeface="Arial" panose="020B0604020202020204" pitchFamily="34" charset="0"/>
              </a:rPr>
              <a:t> </a:t>
            </a:r>
            <a:r>
              <a:rPr kumimoji="0" lang="es-MX" altLang="es-MX" sz="3200" b="1" i="0" u="none" strike="noStrike" cap="none" normalizeH="0" baseline="0" dirty="0" err="1">
                <a:ln>
                  <a:noFill/>
                </a:ln>
                <a:solidFill>
                  <a:schemeClr val="tx1"/>
                </a:solidFill>
                <a:effectLst/>
                <a:latin typeface="Arial" panose="020B0604020202020204" pitchFamily="34" charset="0"/>
              </a:rPr>
              <a:t>Agents</a:t>
            </a:r>
            <a:r>
              <a:rPr kumimoji="0" lang="es-MX" altLang="es-MX" sz="3200" b="1" i="0" u="none" strike="noStrike" cap="none" normalizeH="0" baseline="0" dirty="0">
                <a:ln>
                  <a:noFill/>
                </a:ln>
                <a:solidFill>
                  <a:schemeClr val="tx1"/>
                </a:solidFill>
                <a:effectLst/>
                <a:latin typeface="Arial" panose="020B0604020202020204" pitchFamily="34" charset="0"/>
              </a:rPr>
              <a:t>:</a:t>
            </a:r>
            <a:r>
              <a:rPr kumimoji="0" lang="es-MX" altLang="es-MX" sz="3200" b="0" i="0" u="none" strike="noStrike" cap="none" normalizeH="0" baseline="0" dirty="0">
                <a:ln>
                  <a:noFill/>
                </a:ln>
                <a:solidFill>
                  <a:schemeClr val="tx1"/>
                </a:solidFill>
                <a:effectLst/>
                <a:latin typeface="Arial" panose="020B0604020202020204" pitchFamily="34" charset="0"/>
              </a:rPr>
              <a:t> </a:t>
            </a:r>
            <a:r>
              <a:rPr lang="es-MX" altLang="es-MX" sz="3200" dirty="0" err="1">
                <a:latin typeface="Arial" panose="020B0604020202020204" pitchFamily="34" charset="0"/>
              </a:rPr>
              <a:t>specific</a:t>
            </a:r>
            <a:r>
              <a:rPr lang="es-MX" altLang="es-MX" sz="3200" dirty="0">
                <a:latin typeface="Arial" panose="020B0604020202020204" pitchFamily="34" charset="0"/>
              </a:rPr>
              <a:t> roles, </a:t>
            </a:r>
            <a:r>
              <a:rPr lang="es-MX" altLang="es-MX" sz="3200" dirty="0" err="1">
                <a:latin typeface="Arial" panose="020B0604020202020204" pitchFamily="34" charset="0"/>
              </a:rPr>
              <a:t>goals</a:t>
            </a:r>
            <a:r>
              <a:rPr lang="es-MX" altLang="es-MX" sz="3200" dirty="0">
                <a:latin typeface="Arial" panose="020B0604020202020204" pitchFamily="34" charset="0"/>
              </a:rPr>
              <a:t>, and </a:t>
            </a:r>
            <a:r>
              <a:rPr lang="es-MX" altLang="es-MX" sz="3200" dirty="0" err="1">
                <a:latin typeface="Arial" panose="020B0604020202020204" pitchFamily="34" charset="0"/>
              </a:rPr>
              <a:t>backstories</a:t>
            </a:r>
            <a:r>
              <a:rPr lang="es-MX" altLang="es-MX" sz="3200" dirty="0">
                <a:latin typeface="Arial" panose="020B0604020202020204" pitchFamily="34" charset="0"/>
              </a:rPr>
              <a:t>. </a:t>
            </a:r>
            <a:r>
              <a:rPr lang="es-MX" altLang="es-MX" sz="3200" dirty="0" err="1">
                <a:latin typeface="Arial" panose="020B0604020202020204" pitchFamily="34" charset="0"/>
              </a:rPr>
              <a:t>agent's</a:t>
            </a:r>
            <a:r>
              <a:rPr lang="es-MX" altLang="es-MX" sz="3200" dirty="0">
                <a:latin typeface="Arial" panose="020B0604020202020204" pitchFamily="34" charset="0"/>
              </a:rPr>
              <a:t> </a:t>
            </a:r>
            <a:r>
              <a:rPr lang="es-MX" altLang="es-MX" sz="3200" dirty="0" err="1">
                <a:latin typeface="Arial" panose="020B0604020202020204" pitchFamily="34" charset="0"/>
              </a:rPr>
              <a:t>function</a:t>
            </a:r>
            <a:r>
              <a:rPr lang="es-MX" altLang="es-MX" sz="3200" dirty="0">
                <a:latin typeface="Arial" panose="020B0604020202020204" pitchFamily="34" charset="0"/>
              </a:rPr>
              <a:t> </a:t>
            </a:r>
            <a:r>
              <a:rPr lang="es-MX" altLang="es-MX" sz="3200" dirty="0" err="1">
                <a:latin typeface="Arial" panose="020B0604020202020204" pitchFamily="34" charset="0"/>
              </a:rPr>
              <a:t>clear</a:t>
            </a:r>
            <a:r>
              <a:rPr lang="es-MX" altLang="es-MX" sz="3200" dirty="0">
                <a:latin typeface="Arial" panose="020B0604020202020204" pitchFamily="34" charset="0"/>
              </a:rPr>
              <a:t> and intuitive.</a:t>
            </a:r>
          </a:p>
          <a:p>
            <a:pPr marL="0" marR="0" lvl="0" indent="0" algn="just" defTabSz="914400" rtl="0" eaLnBrk="0" fontAlgn="base" latinLnBrk="0" hangingPunct="0">
              <a:lnSpc>
                <a:spcPct val="100000"/>
              </a:lnSpc>
              <a:spcBef>
                <a:spcPct val="0"/>
              </a:spcBef>
              <a:spcAft>
                <a:spcPct val="0"/>
              </a:spcAft>
              <a:buClrTx/>
              <a:buSzTx/>
              <a:buFontTx/>
              <a:buChar char="•"/>
              <a:tabLst/>
            </a:pPr>
            <a:endParaRPr lang="es-MX" altLang="es-MX" sz="3200" dirty="0">
              <a:latin typeface="Arial" panose="020B0604020202020204" pitchFamily="34" charset="0"/>
            </a:endParaRPr>
          </a:p>
          <a:p>
            <a:pPr marL="0" lvl="0" indent="0" algn="just" eaLnBrk="0" fontAlgn="base" hangingPunct="0">
              <a:lnSpc>
                <a:spcPct val="100000"/>
              </a:lnSpc>
              <a:spcBef>
                <a:spcPct val="0"/>
              </a:spcBef>
              <a:spcAft>
                <a:spcPct val="0"/>
              </a:spcAft>
              <a:buFontTx/>
              <a:buChar char="•"/>
            </a:pPr>
            <a:r>
              <a:rPr kumimoji="0" lang="es-MX" altLang="es-MX" sz="3200" b="1" i="0" u="none" strike="noStrike" cap="none" normalizeH="0" baseline="0" dirty="0">
                <a:ln>
                  <a:noFill/>
                </a:ln>
                <a:solidFill>
                  <a:schemeClr val="tx1"/>
                </a:solidFill>
                <a:effectLst/>
                <a:latin typeface="Arial" panose="020B0604020202020204" pitchFamily="34" charset="0"/>
              </a:rPr>
              <a:t> </a:t>
            </a:r>
            <a:r>
              <a:rPr kumimoji="0" lang="es-MX" altLang="es-MX" sz="3200" b="1" i="0" u="none" strike="noStrike" cap="none" normalizeH="0" baseline="0" dirty="0" err="1">
                <a:ln>
                  <a:noFill/>
                </a:ln>
                <a:solidFill>
                  <a:schemeClr val="tx1"/>
                </a:solidFill>
                <a:effectLst/>
                <a:latin typeface="Arial" panose="020B0604020202020204" pitchFamily="34" charset="0"/>
              </a:rPr>
              <a:t>Task</a:t>
            </a:r>
            <a:r>
              <a:rPr kumimoji="0" lang="es-MX" altLang="es-MX" sz="3200" b="1" i="0" u="none" strike="noStrike" cap="none" normalizeH="0" baseline="0" dirty="0">
                <a:ln>
                  <a:noFill/>
                </a:ln>
                <a:solidFill>
                  <a:schemeClr val="tx1"/>
                </a:solidFill>
                <a:effectLst/>
                <a:latin typeface="Arial" panose="020B0604020202020204" pitchFamily="34" charset="0"/>
              </a:rPr>
              <a:t> Management &amp; </a:t>
            </a:r>
            <a:r>
              <a:rPr kumimoji="0" lang="es-MX" altLang="es-MX" sz="3200" b="1" i="0" u="none" strike="noStrike" cap="none" normalizeH="0" baseline="0" dirty="0" err="1">
                <a:ln>
                  <a:noFill/>
                </a:ln>
                <a:solidFill>
                  <a:schemeClr val="tx1"/>
                </a:solidFill>
                <a:effectLst/>
                <a:latin typeface="Arial" panose="020B0604020202020204" pitchFamily="34" charset="0"/>
              </a:rPr>
              <a:t>Orchestration</a:t>
            </a:r>
            <a:r>
              <a:rPr kumimoji="0" lang="es-MX" altLang="es-MX" sz="3200" b="1" i="0" u="none" strike="noStrike" cap="none" normalizeH="0" baseline="0" dirty="0">
                <a:ln>
                  <a:noFill/>
                </a:ln>
                <a:solidFill>
                  <a:schemeClr val="tx1"/>
                </a:solidFill>
                <a:effectLst/>
                <a:latin typeface="Arial" panose="020B0604020202020204" pitchFamily="34" charset="0"/>
              </a:rPr>
              <a:t>:</a:t>
            </a:r>
            <a:r>
              <a:rPr kumimoji="0" lang="es-MX" altLang="es-MX" sz="3200" b="0" i="0" u="none" strike="noStrike" cap="none" normalizeH="0" baseline="0" dirty="0">
                <a:ln>
                  <a:noFill/>
                </a:ln>
                <a:solidFill>
                  <a:schemeClr val="tx1"/>
                </a:solidFill>
                <a:effectLst/>
                <a:latin typeface="Arial" panose="020B0604020202020204" pitchFamily="34" charset="0"/>
              </a:rPr>
              <a:t> </a:t>
            </a:r>
            <a:r>
              <a:rPr lang="es-MX" altLang="es-MX" sz="3200" dirty="0">
                <a:latin typeface="Arial" panose="020B0604020202020204" pitchFamily="34" charset="0"/>
              </a:rPr>
              <a:t>can be </a:t>
            </a:r>
            <a:r>
              <a:rPr lang="es-MX" altLang="es-MX" sz="3200" dirty="0" err="1">
                <a:latin typeface="Arial" panose="020B0604020202020204" pitchFamily="34" charset="0"/>
              </a:rPr>
              <a:t>executed</a:t>
            </a:r>
            <a:r>
              <a:rPr lang="es-MX" altLang="es-MX" sz="3200" dirty="0">
                <a:latin typeface="Arial" panose="020B0604020202020204" pitchFamily="34" charset="0"/>
              </a:rPr>
              <a:t> </a:t>
            </a:r>
            <a:r>
              <a:rPr lang="es-MX" altLang="es-MX" sz="3200" dirty="0" err="1">
                <a:latin typeface="Arial" panose="020B0604020202020204" pitchFamily="34" charset="0"/>
              </a:rPr>
              <a:t>sequentially</a:t>
            </a:r>
            <a:r>
              <a:rPr lang="es-MX" altLang="es-MX" sz="3200" dirty="0">
                <a:latin typeface="Arial" panose="020B0604020202020204" pitchFamily="34" charset="0"/>
              </a:rPr>
              <a:t> </a:t>
            </a:r>
            <a:r>
              <a:rPr lang="es-MX" altLang="es-MX" sz="3200" dirty="0" err="1">
                <a:latin typeface="Arial" panose="020B0604020202020204" pitchFamily="34" charset="0"/>
              </a:rPr>
              <a:t>or</a:t>
            </a:r>
            <a:r>
              <a:rPr lang="es-MX" altLang="es-MX" sz="3200" dirty="0">
                <a:latin typeface="Arial" panose="020B0604020202020204" pitchFamily="34" charset="0"/>
              </a:rPr>
              <a:t> </a:t>
            </a:r>
            <a:r>
              <a:rPr lang="es-MX" altLang="es-MX" sz="3200" dirty="0" err="1">
                <a:latin typeface="Arial" panose="020B0604020202020204" pitchFamily="34" charset="0"/>
              </a:rPr>
              <a:t>hierarchically</a:t>
            </a:r>
            <a:r>
              <a:rPr lang="es-MX" altLang="es-MX" sz="3200" dirty="0">
                <a:latin typeface="Arial" panose="020B0604020202020204" pitchFamily="34" charset="0"/>
              </a:rPr>
              <a:t> </a:t>
            </a:r>
            <a:r>
              <a:rPr lang="es-MX" altLang="es-MX" sz="3200" dirty="0" err="1">
                <a:latin typeface="Arial" panose="020B0604020202020204" pitchFamily="34" charset="0"/>
              </a:rPr>
              <a:t>with</a:t>
            </a:r>
            <a:r>
              <a:rPr lang="es-MX" altLang="es-MX" sz="3200" dirty="0">
                <a:latin typeface="Arial" panose="020B0604020202020204" pitchFamily="34" charset="0"/>
              </a:rPr>
              <a:t> a manager.</a:t>
            </a:r>
          </a:p>
          <a:p>
            <a:pPr marL="0" marR="0" lvl="0" indent="0" algn="just" defTabSz="914400" rtl="0" eaLnBrk="0" fontAlgn="base" latinLnBrk="0" hangingPunct="0">
              <a:lnSpc>
                <a:spcPct val="100000"/>
              </a:lnSpc>
              <a:spcBef>
                <a:spcPct val="0"/>
              </a:spcBef>
              <a:spcAft>
                <a:spcPct val="0"/>
              </a:spcAft>
              <a:buClrTx/>
              <a:buSzTx/>
              <a:buNone/>
              <a:tabLst/>
            </a:pPr>
            <a:endParaRPr lang="es-MX" altLang="es-MX" sz="32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s-MX" altLang="es-MX" sz="3200" b="1" i="0" u="none" strike="noStrike" cap="none" normalizeH="0" baseline="0" dirty="0" err="1">
                <a:ln>
                  <a:noFill/>
                </a:ln>
                <a:solidFill>
                  <a:schemeClr val="tx1"/>
                </a:solidFill>
                <a:effectLst/>
                <a:latin typeface="Arial" panose="020B0604020202020204" pitchFamily="34" charset="0"/>
              </a:rPr>
              <a:t>Simplicity</a:t>
            </a:r>
            <a:r>
              <a:rPr kumimoji="0" lang="es-MX" altLang="es-MX" sz="3200" b="1" i="0" u="none" strike="noStrike" cap="none" normalizeH="0" baseline="0" dirty="0">
                <a:ln>
                  <a:noFill/>
                </a:ln>
                <a:solidFill>
                  <a:schemeClr val="tx1"/>
                </a:solidFill>
                <a:effectLst/>
                <a:latin typeface="Arial" panose="020B0604020202020204" pitchFamily="34" charset="0"/>
              </a:rPr>
              <a:t> and Focus:</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easier</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to</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get</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started</a:t>
            </a:r>
            <a:r>
              <a:rPr kumimoji="0" lang="es-MX" altLang="es-MX" sz="32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4357777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E4591C-38E9-BDF2-85C1-C4660635F718}"/>
              </a:ext>
            </a:extLst>
          </p:cNvPr>
          <p:cNvSpPr>
            <a:spLocks noGrp="1"/>
          </p:cNvSpPr>
          <p:nvPr>
            <p:ph type="title"/>
          </p:nvPr>
        </p:nvSpPr>
        <p:spPr/>
        <p:txBody>
          <a:bodyPr/>
          <a:lstStyle/>
          <a:p>
            <a:r>
              <a:rPr lang="es-MX" dirty="0" err="1"/>
              <a:t>Limitations</a:t>
            </a:r>
            <a:endParaRPr lang="es-MX" dirty="0"/>
          </a:p>
        </p:txBody>
      </p:sp>
      <p:sp>
        <p:nvSpPr>
          <p:cNvPr id="4" name="Rectangle 1">
            <a:extLst>
              <a:ext uri="{FF2B5EF4-FFF2-40B4-BE49-F238E27FC236}">
                <a16:creationId xmlns:a16="http://schemas.microsoft.com/office/drawing/2014/main" id="{310BC5CB-0593-EDDC-ECAA-4DDD461B5EF4}"/>
              </a:ext>
            </a:extLst>
          </p:cNvPr>
          <p:cNvSpPr>
            <a:spLocks noGrp="1" noChangeArrowheads="1"/>
          </p:cNvSpPr>
          <p:nvPr>
            <p:ph idx="1"/>
          </p:nvPr>
        </p:nvSpPr>
        <p:spPr bwMode="auto">
          <a:xfrm>
            <a:off x="673376" y="1720840"/>
            <a:ext cx="1051560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Less</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Mature</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Ecosystem</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doesn't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have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many</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integrations</a:t>
            </a:r>
            <a:r>
              <a:rPr kumimoji="0" lang="es-MX" altLang="es-MX" sz="2400" b="0" i="0" u="none" strike="noStrike" cap="none" normalizeH="0" baseline="0" dirty="0">
                <a:ln>
                  <a:noFill/>
                </a:ln>
                <a:solidFill>
                  <a:schemeClr val="tx1"/>
                </a:solidFill>
                <a:effectLst/>
                <a:latin typeface="Arial" panose="020B0604020202020204" pitchFamily="34" charset="0"/>
              </a:rPr>
              <a:t> and </a:t>
            </a:r>
            <a:r>
              <a:rPr kumimoji="0" lang="es-MX" altLang="es-MX" sz="2400" b="0" i="0" u="none" strike="noStrike" cap="none" normalizeH="0" baseline="0" dirty="0" err="1">
                <a:ln>
                  <a:noFill/>
                </a:ln>
                <a:solidFill>
                  <a:schemeClr val="tx1"/>
                </a:solidFill>
                <a:effectLst/>
                <a:latin typeface="Arial" panose="020B0604020202020204" pitchFamily="34" charset="0"/>
              </a:rPr>
              <a:t>community</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support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that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LangChain</a:t>
            </a:r>
            <a:r>
              <a:rPr kumimoji="0" lang="es-MX" altLang="es-MX" sz="2400" b="0" i="0" u="none" strike="noStrike" cap="none" normalizeH="0" baseline="0" dirty="0">
                <a:ln>
                  <a:noFill/>
                </a:ln>
                <a:solidFill>
                  <a:schemeClr val="tx1"/>
                </a:solidFill>
                <a:effectLst/>
                <a:latin typeface="Arial" panose="020B0604020202020204" pitchFamily="34" charset="0"/>
              </a:rPr>
              <a:t> has.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Less</a:t>
            </a:r>
            <a:r>
              <a:rPr kumimoji="0" lang="es-MX" altLang="es-MX" sz="2400" b="1" i="0" u="none" strike="noStrike" cap="none" normalizeH="0" baseline="0" dirty="0">
                <a:ln>
                  <a:noFill/>
                </a:ln>
                <a:solidFill>
                  <a:schemeClr val="tx1"/>
                </a:solidFill>
                <a:effectLst/>
                <a:latin typeface="Arial" panose="020B0604020202020204" pitchFamily="34" charset="0"/>
              </a:rPr>
              <a:t> Flexible </a:t>
            </a:r>
            <a:r>
              <a:rPr kumimoji="0" lang="es-MX" altLang="es-MX" sz="2400" b="1" i="0" u="none" strike="noStrike" cap="none" normalizeH="0" baseline="0" dirty="0" err="1">
                <a:ln>
                  <a:noFill/>
                </a:ln>
                <a:solidFill>
                  <a:schemeClr val="tx1"/>
                </a:solidFill>
                <a:effectLst/>
                <a:latin typeface="Arial" panose="020B0604020202020204" pitchFamily="34" charset="0"/>
              </a:rPr>
              <a:t>for</a:t>
            </a:r>
            <a:r>
              <a:rPr kumimoji="0" lang="es-MX" altLang="es-MX" sz="2400" b="1" i="0" u="none" strike="noStrike" cap="none" normalizeH="0" baseline="0" dirty="0">
                <a:ln>
                  <a:noFill/>
                </a:ln>
                <a:solidFill>
                  <a:schemeClr val="tx1"/>
                </a:solidFill>
                <a:effectLst/>
                <a:latin typeface="Arial" panose="020B0604020202020204" pitchFamily="34" charset="0"/>
              </a:rPr>
              <a:t> Single-</a:t>
            </a:r>
            <a:r>
              <a:rPr kumimoji="0" lang="es-MX" altLang="es-MX" sz="2400" b="1" i="0" u="none" strike="noStrike" cap="none" normalizeH="0" baseline="0" dirty="0" err="1">
                <a:ln>
                  <a:noFill/>
                </a:ln>
                <a:solidFill>
                  <a:schemeClr val="tx1"/>
                </a:solidFill>
                <a:effectLst/>
                <a:latin typeface="Arial" panose="020B0604020202020204" pitchFamily="34" charset="0"/>
              </a:rPr>
              <a:t>Agent</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Tasks</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multi-agent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workflows</a:t>
            </a:r>
            <a:r>
              <a:rPr kumimoji="0" lang="es-MX" altLang="es-MX" sz="2400" b="0" i="0" u="none" strike="noStrike" cap="none" normalizeH="0" baseline="0" dirty="0">
                <a:ln>
                  <a:noFill/>
                </a:ln>
                <a:solidFill>
                  <a:schemeClr val="tx1"/>
                </a:solidFill>
                <a:effectLst/>
                <a:latin typeface="Arial" panose="020B0604020202020204" pitchFamily="34" charset="0"/>
              </a:rPr>
              <a:t>, single-</a:t>
            </a:r>
            <a:r>
              <a:rPr kumimoji="0" lang="es-MX" altLang="es-MX" sz="2400" b="0" i="0" u="none" strike="noStrike" cap="none" normalizeH="0" baseline="0" dirty="0" err="1">
                <a:ln>
                  <a:noFill/>
                </a:ln>
                <a:solidFill>
                  <a:schemeClr val="tx1"/>
                </a:solidFill>
                <a:effectLst/>
                <a:latin typeface="Arial" panose="020B0604020202020204" pitchFamily="34" charset="0"/>
              </a:rPr>
              <a:t>agent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task</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difficult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compared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LangChain</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s-MX" altLang="es-MX" sz="2400" dirty="0">
              <a:latin typeface="Arial" panose="020B0604020202020204" pitchFamily="34" charset="0"/>
            </a:endParaRPr>
          </a:p>
          <a:p>
            <a:pPr marL="0" lvl="0" indent="0" algn="just" eaLnBrk="0" fontAlgn="base" hangingPunct="0">
              <a:lnSpc>
                <a:spcPct val="100000"/>
              </a:lnSpc>
              <a:spcBef>
                <a:spcPct val="0"/>
              </a:spcBef>
              <a:spcAft>
                <a:spcPct val="0"/>
              </a:spcAft>
              <a:buNone/>
            </a:pPr>
            <a:r>
              <a:rPr lang="en-US" sz="2400" dirty="0"/>
              <a:t>A workflow automation, such as a "research team" with a researcher, an analyst, and a writer agent.</a:t>
            </a:r>
            <a:endParaRPr kumimoji="0" lang="es-MX" altLang="es-MX"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1290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081C19-85D3-5925-47CD-AE80F8604B34}"/>
              </a:ext>
            </a:extLst>
          </p:cNvPr>
          <p:cNvSpPr>
            <a:spLocks noGrp="1"/>
          </p:cNvSpPr>
          <p:nvPr>
            <p:ph type="title"/>
          </p:nvPr>
        </p:nvSpPr>
        <p:spPr/>
        <p:txBody>
          <a:bodyPr/>
          <a:lstStyle/>
          <a:p>
            <a:r>
              <a:rPr lang="es-MX" dirty="0" err="1"/>
              <a:t>AutoGen</a:t>
            </a:r>
            <a:r>
              <a:rPr lang="es-MX" dirty="0"/>
              <a:t> (</a:t>
            </a:r>
            <a:r>
              <a:rPr lang="es-MX" dirty="0" err="1"/>
              <a:t>from</a:t>
            </a:r>
            <a:r>
              <a:rPr lang="es-MX" dirty="0"/>
              <a:t> Microsoft)</a:t>
            </a:r>
          </a:p>
        </p:txBody>
      </p:sp>
      <p:sp>
        <p:nvSpPr>
          <p:cNvPr id="3" name="Marcador de contenido 2">
            <a:extLst>
              <a:ext uri="{FF2B5EF4-FFF2-40B4-BE49-F238E27FC236}">
                <a16:creationId xmlns:a16="http://schemas.microsoft.com/office/drawing/2014/main" id="{BCEEB2E7-DFD7-995E-C2D5-8DE7390ED8E5}"/>
              </a:ext>
            </a:extLst>
          </p:cNvPr>
          <p:cNvSpPr>
            <a:spLocks noGrp="1"/>
          </p:cNvSpPr>
          <p:nvPr>
            <p:ph idx="1"/>
          </p:nvPr>
        </p:nvSpPr>
        <p:spPr/>
        <p:txBody>
          <a:bodyPr/>
          <a:lstStyle/>
          <a:p>
            <a:pPr marL="0" indent="0" algn="just">
              <a:buNone/>
            </a:pPr>
            <a:r>
              <a:rPr lang="en-US" dirty="0"/>
              <a:t>It’s a research-oriented framework for building applications with multiple agents orchestrated to solve tasks. </a:t>
            </a:r>
          </a:p>
          <a:p>
            <a:pPr marL="0" indent="0" algn="just">
              <a:buNone/>
            </a:pPr>
            <a:endParaRPr lang="en-US" dirty="0"/>
          </a:p>
          <a:p>
            <a:pPr marL="0" indent="0" algn="just">
              <a:buNone/>
            </a:pPr>
            <a:r>
              <a:rPr lang="en-US" dirty="0"/>
              <a:t>Enables complex conversational workflows where agents can dynamically decide who to talk to next instead of a linear chain of events.</a:t>
            </a:r>
            <a:endParaRPr lang="es-MX" dirty="0"/>
          </a:p>
        </p:txBody>
      </p:sp>
    </p:spTree>
    <p:extLst>
      <p:ext uri="{BB962C8B-B14F-4D97-AF65-F5344CB8AC3E}">
        <p14:creationId xmlns:p14="http://schemas.microsoft.com/office/powerpoint/2010/main" val="21787976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2479EEC9-7A05-949C-93D6-A5A7F4A79826}"/>
              </a:ext>
            </a:extLst>
          </p:cNvPr>
          <p:cNvSpPr>
            <a:spLocks noGrp="1" noChangeArrowheads="1"/>
          </p:cNvSpPr>
          <p:nvPr>
            <p:ph idx="1"/>
          </p:nvPr>
        </p:nvSpPr>
        <p:spPr bwMode="auto">
          <a:xfrm>
            <a:off x="847725" y="923895"/>
            <a:ext cx="10525125"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Conversable </a:t>
            </a:r>
            <a:r>
              <a:rPr kumimoji="0" lang="es-MX" altLang="es-MX" sz="2400" b="1" i="0" u="none" strike="noStrike" cap="none" normalizeH="0" baseline="0" dirty="0" err="1">
                <a:ln>
                  <a:noFill/>
                </a:ln>
                <a:solidFill>
                  <a:schemeClr val="tx1"/>
                </a:solidFill>
                <a:effectLst/>
                <a:latin typeface="Arial" panose="020B0604020202020204" pitchFamily="34" charset="0"/>
              </a:rPr>
              <a:t>Agents</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lang="es-MX" altLang="es-MX" sz="2400" dirty="0" err="1">
                <a:latin typeface="Arial" panose="020B0604020202020204" pitchFamily="34" charset="0"/>
              </a:rPr>
              <a:t>configured</a:t>
            </a:r>
            <a:r>
              <a:rPr lang="es-MX" altLang="es-MX" sz="2400" dirty="0">
                <a:latin typeface="Arial" panose="020B0604020202020204" pitchFamily="34" charset="0"/>
              </a:rPr>
              <a:t> </a:t>
            </a:r>
            <a:r>
              <a:rPr lang="es-MX" altLang="es-MX" sz="2400" dirty="0" err="1">
                <a:latin typeface="Arial" panose="020B0604020202020204" pitchFamily="34" charset="0"/>
              </a:rPr>
              <a:t>to</a:t>
            </a:r>
            <a:r>
              <a:rPr lang="es-MX" altLang="es-MX" sz="2400" dirty="0">
                <a:latin typeface="Arial" panose="020B0604020202020204" pitchFamily="34" charset="0"/>
              </a:rPr>
              <a:t> </a:t>
            </a:r>
            <a:r>
              <a:rPr lang="es-MX" altLang="es-MX" sz="2400" dirty="0" err="1">
                <a:latin typeface="Arial" panose="020B0604020202020204" pitchFamily="34" charset="0"/>
              </a:rPr>
              <a:t>interact</a:t>
            </a:r>
            <a:r>
              <a:rPr lang="es-MX" altLang="es-MX" sz="2400" dirty="0">
                <a:latin typeface="Arial" panose="020B0604020202020204" pitchFamily="34" charset="0"/>
              </a:rPr>
              <a:t> </a:t>
            </a:r>
            <a:r>
              <a:rPr lang="es-MX" altLang="es-MX" sz="2400" dirty="0" err="1">
                <a:latin typeface="Arial" panose="020B0604020202020204" pitchFamily="34" charset="0"/>
              </a:rPr>
              <a:t>with</a:t>
            </a:r>
            <a:r>
              <a:rPr lang="es-MX" altLang="es-MX" sz="2400" dirty="0">
                <a:latin typeface="Arial" panose="020B0604020202020204" pitchFamily="34" charset="0"/>
              </a:rPr>
              <a:t> </a:t>
            </a:r>
            <a:r>
              <a:rPr lang="es-MX" altLang="es-MX" sz="2400" dirty="0" err="1">
                <a:latin typeface="Arial" panose="020B0604020202020204" pitchFamily="34" charset="0"/>
              </a:rPr>
              <a:t>each</a:t>
            </a:r>
            <a:r>
              <a:rPr lang="es-MX" altLang="es-MX" sz="2400" dirty="0">
                <a:latin typeface="Arial" panose="020B0604020202020204" pitchFamily="34" charset="0"/>
              </a:rPr>
              <a:t> </a:t>
            </a:r>
            <a:r>
              <a:rPr lang="es-MX" altLang="es-MX" sz="2400" dirty="0" err="1">
                <a:latin typeface="Arial" panose="020B0604020202020204" pitchFamily="34" charset="0"/>
              </a:rPr>
              <a:t>other</a:t>
            </a:r>
            <a:r>
              <a:rPr lang="es-MX" altLang="es-MX" sz="2400" dirty="0">
                <a:latin typeface="Arial" panose="020B0604020202020204" pitchFamily="34" charset="0"/>
              </a:rPr>
              <a:t> and </a:t>
            </a:r>
            <a:r>
              <a:rPr lang="es-MX" altLang="es-MX" sz="2400" dirty="0" err="1">
                <a:latin typeface="Arial" panose="020B0604020202020204" pitchFamily="34" charset="0"/>
              </a:rPr>
              <a:t>with</a:t>
            </a:r>
            <a:r>
              <a:rPr lang="es-MX" altLang="es-MX" sz="2400" dirty="0">
                <a:latin typeface="Arial" panose="020B0604020202020204" pitchFamily="34" charset="0"/>
              </a:rPr>
              <a:t> </a:t>
            </a:r>
            <a:r>
              <a:rPr lang="es-MX" altLang="es-MX" sz="2400" dirty="0" err="1">
                <a:latin typeface="Arial" panose="020B0604020202020204" pitchFamily="34" charset="0"/>
              </a:rPr>
              <a:t>humans</a:t>
            </a:r>
            <a:r>
              <a:rPr lang="es-MX" altLang="es-MX" sz="2400" dirty="0">
                <a:latin typeface="Arial" panose="020B0604020202020204" pitchFamily="34" charset="0"/>
              </a:rPr>
              <a:t> </a:t>
            </a:r>
            <a:r>
              <a:rPr lang="es-MX" altLang="es-MX" sz="2400" dirty="0" err="1">
                <a:latin typeface="Arial" panose="020B0604020202020204" pitchFamily="34" charset="0"/>
              </a:rPr>
              <a:t>seamlessly</a:t>
            </a:r>
            <a:r>
              <a:rPr lang="es-MX" altLang="es-MX" sz="2400" dirty="0">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Flexible </a:t>
            </a:r>
            <a:r>
              <a:rPr kumimoji="0" lang="es-MX" altLang="es-MX" sz="2400" b="1" i="0" u="none" strike="noStrike" cap="none" normalizeH="0" baseline="0" dirty="0" err="1">
                <a:ln>
                  <a:noFill/>
                </a:ln>
                <a:solidFill>
                  <a:schemeClr val="tx1"/>
                </a:solidFill>
                <a:effectLst/>
                <a:latin typeface="Arial" panose="020B0604020202020204" pitchFamily="34" charset="0"/>
              </a:rPr>
              <a:t>Conversation</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Patterns</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from</a:t>
            </a:r>
            <a:r>
              <a:rPr kumimoji="0" lang="es-MX" altLang="es-MX" sz="2400" b="0" i="0" u="none" strike="noStrike" cap="none" normalizeH="0" baseline="0" dirty="0">
                <a:ln>
                  <a:noFill/>
                </a:ln>
                <a:solidFill>
                  <a:schemeClr val="tx1"/>
                </a:solidFill>
                <a:effectLst/>
                <a:latin typeface="Arial" panose="020B0604020202020204" pitchFamily="34" charset="0"/>
              </a:rPr>
              <a:t> simple </a:t>
            </a:r>
            <a:r>
              <a:rPr kumimoji="0" lang="es-MX" altLang="es-MX" sz="2400" b="0" i="0" u="none" strike="noStrike" cap="none" normalizeH="0" baseline="0" dirty="0" err="1">
                <a:ln>
                  <a:noFill/>
                </a:ln>
                <a:solidFill>
                  <a:schemeClr val="tx1"/>
                </a:solidFill>
                <a:effectLst/>
                <a:latin typeface="Arial" panose="020B0604020202020204" pitchFamily="34" charset="0"/>
              </a:rPr>
              <a:t>two-agent</a:t>
            </a:r>
            <a:r>
              <a:rPr kumimoji="0" lang="es-MX" altLang="es-MX" sz="2400" b="0" i="0" u="none" strike="noStrike" cap="none" normalizeH="0" baseline="0" dirty="0">
                <a:ln>
                  <a:noFill/>
                </a:ln>
                <a:solidFill>
                  <a:schemeClr val="tx1"/>
                </a:solidFill>
                <a:effectLst/>
                <a:latin typeface="Arial" panose="020B0604020202020204" pitchFamily="34" charset="0"/>
              </a:rPr>
              <a:t> chats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complex</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group</a:t>
            </a:r>
            <a:r>
              <a:rPr kumimoji="0" lang="es-MX" altLang="es-MX" sz="2400" b="0" i="0" u="none" strike="noStrike" cap="none" normalizeH="0" baseline="0" dirty="0">
                <a:ln>
                  <a:noFill/>
                </a:ln>
                <a:solidFill>
                  <a:schemeClr val="tx1"/>
                </a:solidFill>
                <a:effectLst/>
                <a:latin typeface="Arial" panose="020B0604020202020204" pitchFamily="34" charset="0"/>
              </a:rPr>
              <a:t> chats </a:t>
            </a:r>
            <a:r>
              <a:rPr kumimoji="0" lang="es-MX" altLang="es-MX" sz="2400" b="0" i="0" u="none" strike="noStrike" cap="none" normalizeH="0" baseline="0" dirty="0" err="1">
                <a:ln>
                  <a:noFill/>
                </a:ln>
                <a:solidFill>
                  <a:schemeClr val="tx1"/>
                </a:solidFill>
                <a:effectLst/>
                <a:latin typeface="Arial" panose="020B0604020202020204" pitchFamily="34" charset="0"/>
              </a:rPr>
              <a:t>where</a:t>
            </a:r>
            <a:r>
              <a:rPr kumimoji="0" lang="es-MX" altLang="es-MX" sz="2400" b="0" i="0" u="none" strike="noStrike" cap="none" normalizeH="0" baseline="0" dirty="0">
                <a:ln>
                  <a:noFill/>
                </a:ln>
                <a:solidFill>
                  <a:schemeClr val="tx1"/>
                </a:solidFill>
                <a:effectLst/>
                <a:latin typeface="Arial" panose="020B0604020202020204" pitchFamily="34" charset="0"/>
              </a:rPr>
              <a:t> a manager </a:t>
            </a:r>
            <a:r>
              <a:rPr kumimoji="0" lang="es-MX" altLang="es-MX" sz="2400" b="0" i="0" u="none" strike="noStrike" cap="none" normalizeH="0" baseline="0" dirty="0" err="1">
                <a:ln>
                  <a:noFill/>
                </a:ln>
                <a:solidFill>
                  <a:schemeClr val="tx1"/>
                </a:solidFill>
                <a:effectLst/>
                <a:latin typeface="Arial" panose="020B0604020202020204" pitchFamily="34" charset="0"/>
              </a:rPr>
              <a:t>agent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directs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the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flow</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Human-in-</a:t>
            </a:r>
            <a:r>
              <a:rPr kumimoji="0" lang="es-MX" altLang="es-MX" sz="2400" b="1" i="0" u="none" strike="noStrike" cap="none" normalizeH="0" baseline="0" dirty="0" err="1">
                <a:ln>
                  <a:noFill/>
                </a:ln>
                <a:solidFill>
                  <a:schemeClr val="tx1"/>
                </a:solidFill>
                <a:effectLst/>
                <a:latin typeface="Arial" panose="020B0604020202020204" pitchFamily="34" charset="0"/>
              </a:rPr>
              <a:t>the</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1" i="0" u="none" strike="noStrike" cap="none" normalizeH="0" baseline="0" dirty="0" err="1">
                <a:ln>
                  <a:noFill/>
                </a:ln>
                <a:solidFill>
                  <a:schemeClr val="tx1"/>
                </a:solidFill>
                <a:effectLst/>
                <a:latin typeface="Arial" panose="020B0604020202020204" pitchFamily="34" charset="0"/>
              </a:rPr>
              <a:t>Loop</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 human can </a:t>
            </a:r>
            <a:r>
              <a:rPr kumimoji="0" lang="es-MX" altLang="es-MX" sz="2400" b="0" i="0" u="none" strike="noStrike" cap="none" normalizeH="0" baseline="0" dirty="0" err="1">
                <a:ln>
                  <a:noFill/>
                </a:ln>
                <a:solidFill>
                  <a:schemeClr val="tx1"/>
                </a:solidFill>
                <a:effectLst/>
                <a:latin typeface="Arial" panose="020B0604020202020204" pitchFamily="34" charset="0"/>
              </a:rPr>
              <a:t>easily</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act</a:t>
            </a:r>
            <a:r>
              <a:rPr kumimoji="0" lang="es-MX" altLang="es-MX" sz="2400" b="0" i="0" u="none" strike="noStrike" cap="none" normalizeH="0" baseline="0" dirty="0">
                <a:ln>
                  <a:noFill/>
                </a:ln>
                <a:solidFill>
                  <a:schemeClr val="tx1"/>
                </a:solidFill>
                <a:effectLst/>
                <a:latin typeface="Arial" panose="020B0604020202020204" pitchFamily="34" charset="0"/>
              </a:rPr>
              <a:t> as a proxy </a:t>
            </a:r>
            <a:r>
              <a:rPr kumimoji="0" lang="es-MX" altLang="es-MX" sz="2400" b="0" i="0" u="none" strike="noStrike" cap="none" normalizeH="0" baseline="0" dirty="0" err="1">
                <a:ln>
                  <a:noFill/>
                </a:ln>
                <a:solidFill>
                  <a:schemeClr val="tx1"/>
                </a:solidFill>
                <a:effectLst/>
                <a:latin typeface="Arial" panose="020B0604020202020204" pitchFamily="34" charset="0"/>
              </a:rPr>
              <a:t>agent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providing</a:t>
            </a:r>
            <a:r>
              <a:rPr kumimoji="0" lang="es-MX" altLang="es-MX" sz="2400" b="0" i="0" u="none" strike="noStrike" cap="none" normalizeH="0" baseline="0" dirty="0">
                <a:ln>
                  <a:noFill/>
                </a:ln>
                <a:solidFill>
                  <a:schemeClr val="tx1"/>
                </a:solidFill>
                <a:effectLst/>
                <a:latin typeface="Arial" panose="020B0604020202020204" pitchFamily="34" charset="0"/>
              </a:rPr>
              <a:t> input, </a:t>
            </a:r>
            <a:r>
              <a:rPr kumimoji="0" lang="es-MX" altLang="es-MX" sz="2400" b="0" i="0" u="none" strike="noStrike" cap="none" normalizeH="0" baseline="0" dirty="0" err="1">
                <a:ln>
                  <a:noFill/>
                </a:ln>
                <a:solidFill>
                  <a:schemeClr val="tx1"/>
                </a:solidFill>
                <a:effectLst/>
                <a:latin typeface="Arial" panose="020B0604020202020204" pitchFamily="34" charset="0"/>
              </a:rPr>
              <a:t>giving</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feedback</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selecting</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from</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multiple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agent-generated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solutions</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Tool </a:t>
            </a:r>
            <a:r>
              <a:rPr kumimoji="0" lang="es-MX" altLang="es-MX" sz="2400" b="1" i="0" u="none" strike="noStrike" cap="none" normalizeH="0" baseline="0" dirty="0" err="1">
                <a:ln>
                  <a:noFill/>
                </a:ln>
                <a:solidFill>
                  <a:schemeClr val="tx1"/>
                </a:solidFill>
                <a:effectLst/>
                <a:latin typeface="Arial" panose="020B0604020202020204" pitchFamily="34" charset="0"/>
              </a:rPr>
              <a:t>Usage</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Integration</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Agents</a:t>
            </a:r>
            <a:r>
              <a:rPr kumimoji="0" lang="es-MX" altLang="es-MX" sz="2400" b="0" i="0" u="none" strike="noStrike" cap="none" normalizeH="0" baseline="0" dirty="0">
                <a:ln>
                  <a:noFill/>
                </a:ln>
                <a:solidFill>
                  <a:schemeClr val="tx1"/>
                </a:solidFill>
                <a:effectLst/>
                <a:latin typeface="Arial" panose="020B0604020202020204" pitchFamily="34" charset="0"/>
              </a:rPr>
              <a:t> can be </a:t>
            </a:r>
            <a:r>
              <a:rPr kumimoji="0" lang="es-MX" altLang="es-MX" sz="2400" b="0" i="0" u="none" strike="noStrike" cap="none" normalizeH="0" baseline="0" dirty="0" err="1">
                <a:ln>
                  <a:noFill/>
                </a:ln>
                <a:solidFill>
                  <a:schemeClr val="tx1"/>
                </a:solidFill>
                <a:effectLst/>
                <a:latin typeface="Arial" panose="020B0604020202020204" pitchFamily="34" charset="0"/>
              </a:rPr>
              <a:t>equipped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with</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tools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functions</a:t>
            </a:r>
            <a:r>
              <a:rPr kumimoji="0" lang="es-MX" altLang="es-MX" sz="2400" b="0" i="0" u="none" strike="noStrike" cap="none" normalizeH="0" baseline="0" dirty="0">
                <a:ln>
                  <a:noFill/>
                </a:ln>
                <a:solidFill>
                  <a:schemeClr val="tx1"/>
                </a:solidFill>
                <a:effectLst/>
                <a:latin typeface="Arial" panose="020B0604020202020204" pitchFamily="34" charset="0"/>
              </a:rPr>
              <a:t>) and can </a:t>
            </a:r>
            <a:r>
              <a:rPr kumimoji="0" lang="es-MX" altLang="es-MX" sz="2400" b="0" i="0" u="none" strike="noStrike" cap="none" normalizeH="0" baseline="0" dirty="0" err="1">
                <a:ln>
                  <a:noFill/>
                </a:ln>
                <a:solidFill>
                  <a:schemeClr val="tx1"/>
                </a:solidFill>
                <a:effectLst/>
                <a:latin typeface="Arial" panose="020B0604020202020204" pitchFamily="34" charset="0"/>
              </a:rPr>
              <a:t>write</a:t>
            </a:r>
            <a:r>
              <a:rPr kumimoji="0" lang="es-MX" altLang="es-MX" sz="2400" b="0" i="0" u="none" strike="noStrike" cap="none" normalizeH="0" baseline="0" dirty="0">
                <a:ln>
                  <a:noFill/>
                </a:ln>
                <a:solidFill>
                  <a:schemeClr val="tx1"/>
                </a:solidFill>
                <a:effectLst/>
                <a:latin typeface="Arial" panose="020B0604020202020204" pitchFamily="34" charset="0"/>
              </a:rPr>
              <a:t> and </a:t>
            </a:r>
            <a:r>
              <a:rPr kumimoji="0" lang="es-MX" altLang="es-MX" sz="2400" b="0" i="0" u="none" strike="noStrike" cap="none" normalizeH="0" baseline="0" dirty="0" err="1">
                <a:ln>
                  <a:noFill/>
                </a:ln>
                <a:solidFill>
                  <a:schemeClr val="tx1"/>
                </a:solidFill>
                <a:effectLst/>
                <a:latin typeface="Arial" panose="020B0604020202020204" pitchFamily="34" charset="0"/>
              </a:rPr>
              <a:t>execute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code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perform</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tasks</a:t>
            </a:r>
            <a:r>
              <a:rPr kumimoji="0" lang="es-MX" altLang="es-MX"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2364804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3E4959-A356-5CE5-60B1-1799B025815F}"/>
              </a:ext>
            </a:extLst>
          </p:cNvPr>
          <p:cNvSpPr>
            <a:spLocks noGrp="1"/>
          </p:cNvSpPr>
          <p:nvPr>
            <p:ph type="title"/>
          </p:nvPr>
        </p:nvSpPr>
        <p:spPr/>
        <p:txBody>
          <a:bodyPr/>
          <a:lstStyle/>
          <a:p>
            <a:r>
              <a:rPr lang="es-MX" dirty="0" err="1"/>
              <a:t>Limitations</a:t>
            </a:r>
            <a:endParaRPr lang="es-MX" dirty="0"/>
          </a:p>
        </p:txBody>
      </p:sp>
      <p:sp>
        <p:nvSpPr>
          <p:cNvPr id="4" name="Rectangle 1">
            <a:extLst>
              <a:ext uri="{FF2B5EF4-FFF2-40B4-BE49-F238E27FC236}">
                <a16:creationId xmlns:a16="http://schemas.microsoft.com/office/drawing/2014/main" id="{D22B6692-E0DA-0531-E550-45D1A325BD5C}"/>
              </a:ext>
            </a:extLst>
          </p:cNvPr>
          <p:cNvSpPr>
            <a:spLocks noGrp="1" noChangeArrowheads="1"/>
          </p:cNvSpPr>
          <p:nvPr>
            <p:ph idx="1"/>
          </p:nvPr>
        </p:nvSpPr>
        <p:spPr bwMode="auto">
          <a:xfrm>
            <a:off x="923925" y="2085133"/>
            <a:ext cx="103441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Complexity</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complex</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set up and </a:t>
            </a:r>
            <a:r>
              <a:rPr kumimoji="0" lang="es-MX" altLang="es-MX" sz="2400" b="0" i="0" u="none" strike="noStrike" cap="none" normalizeH="0" baseline="0" dirty="0" err="1">
                <a:ln>
                  <a:noFill/>
                </a:ln>
                <a:solidFill>
                  <a:schemeClr val="tx1"/>
                </a:solidFill>
                <a:effectLst/>
                <a:latin typeface="Arial" panose="020B0604020202020204" pitchFamily="34" charset="0"/>
              </a:rPr>
              <a:t>manage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The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conversational</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nature</a:t>
            </a:r>
            <a:r>
              <a:rPr kumimoji="0" lang="es-MX" altLang="es-MX" sz="2400" b="0" i="0" u="none" strike="noStrike" cap="none" normalizeH="0" baseline="0" dirty="0">
                <a:ln>
                  <a:noFill/>
                </a:ln>
                <a:solidFill>
                  <a:schemeClr val="tx1"/>
                </a:solidFill>
                <a:effectLst/>
                <a:latin typeface="Arial" panose="020B0604020202020204" pitchFamily="34" charset="0"/>
              </a:rPr>
              <a:t> can lead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unpredictable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behavior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high</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costs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due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many</a:t>
            </a:r>
            <a:r>
              <a:rPr kumimoji="0" lang="es-MX" altLang="es-MX" sz="2400" b="0" i="0" u="none" strike="noStrike" cap="none" normalizeH="0" baseline="0" dirty="0">
                <a:ln>
                  <a:noFill/>
                </a:ln>
                <a:solidFill>
                  <a:schemeClr val="tx1"/>
                </a:solidFill>
                <a:effectLst/>
                <a:latin typeface="Arial" panose="020B0604020202020204" pitchFamily="34" charset="0"/>
              </a:rPr>
              <a:t> LLM </a:t>
            </a:r>
            <a:r>
              <a:rPr kumimoji="0" lang="es-MX" altLang="es-MX" sz="2400" b="0" i="0" u="none" strike="noStrike" cap="none" normalizeH="0" baseline="0" dirty="0" err="1">
                <a:ln>
                  <a:noFill/>
                </a:ln>
                <a:solidFill>
                  <a:schemeClr val="tx1"/>
                </a:solidFill>
                <a:effectLst/>
                <a:latin typeface="Arial" panose="020B0604020202020204" pitchFamily="34" charset="0"/>
              </a:rPr>
              <a:t>calls</a:t>
            </a:r>
            <a:r>
              <a:rPr kumimoji="0" lang="es-MX" altLang="es-MX" sz="2400" b="0" i="0" u="none" strike="noStrike" cap="none" normalizeH="0" baseline="0" dirty="0">
                <a:ln>
                  <a:noFill/>
                </a:ln>
                <a:solidFill>
                  <a:schemeClr val="tx1"/>
                </a:solidFill>
                <a:effectLst/>
                <a:latin typeface="Arial" panose="020B0604020202020204" pitchFamily="34" charset="0"/>
              </a:rPr>
              <a:t>), and infinite </a:t>
            </a:r>
            <a:r>
              <a:rPr kumimoji="0" lang="es-MX" altLang="es-MX" sz="2400" b="0" i="0" u="none" strike="noStrike" cap="none" normalizeH="0" baseline="0" dirty="0" err="1">
                <a:ln>
                  <a:noFill/>
                </a:ln>
                <a:solidFill>
                  <a:schemeClr val="tx1"/>
                </a:solidFill>
                <a:effectLst/>
                <a:latin typeface="Arial" panose="020B0604020202020204" pitchFamily="34" charset="0"/>
              </a:rPr>
              <a:t>loops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if</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not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carefully</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configured</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None/>
              <a:tabLst/>
            </a:pPr>
            <a:r>
              <a:rPr kumimoji="0" lang="es-MX" altLang="es-MX" sz="24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Less</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Opinionated</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on</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Structure</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offers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less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structure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for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process-oriented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workflows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compared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CrewAI</a:t>
            </a:r>
            <a:r>
              <a:rPr kumimoji="0" lang="es-MX" altLang="es-MX" sz="2400" b="0" i="0" u="none" strike="noStrike" cap="none" normalizeH="0" baseline="0" dirty="0">
                <a:ln>
                  <a:noFill/>
                </a:ln>
                <a:solidFill>
                  <a:schemeClr val="tx1"/>
                </a:solidFill>
                <a:effectLst/>
                <a:latin typeface="Arial" panose="020B0604020202020204" pitchFamily="34" charset="0"/>
              </a:rPr>
              <a:t>. </a:t>
            </a:r>
          </a:p>
        </p:txBody>
      </p:sp>
      <p:sp>
        <p:nvSpPr>
          <p:cNvPr id="6" name="CuadroTexto 5">
            <a:extLst>
              <a:ext uri="{FF2B5EF4-FFF2-40B4-BE49-F238E27FC236}">
                <a16:creationId xmlns:a16="http://schemas.microsoft.com/office/drawing/2014/main" id="{ADA6C3E5-F0D3-3CF8-E095-E0878A75B3A8}"/>
              </a:ext>
            </a:extLst>
          </p:cNvPr>
          <p:cNvSpPr txBox="1"/>
          <p:nvPr/>
        </p:nvSpPr>
        <p:spPr>
          <a:xfrm>
            <a:off x="1104900" y="5310485"/>
            <a:ext cx="9772650" cy="830997"/>
          </a:xfrm>
          <a:prstGeom prst="rect">
            <a:avLst/>
          </a:prstGeom>
          <a:noFill/>
        </p:spPr>
        <p:txBody>
          <a:bodyPr wrap="square">
            <a:spAutoFit/>
          </a:bodyPr>
          <a:lstStyle/>
          <a:p>
            <a:pPr algn="just"/>
            <a:r>
              <a:rPr lang="en-US" sz="2400" dirty="0"/>
              <a:t>Research or applications where the solution is not clearly defined and requires collaborative problem-solving between agents.</a:t>
            </a:r>
            <a:endParaRPr lang="es-MX" sz="2400" dirty="0"/>
          </a:p>
        </p:txBody>
      </p:sp>
    </p:spTree>
    <p:extLst>
      <p:ext uri="{BB962C8B-B14F-4D97-AF65-F5344CB8AC3E}">
        <p14:creationId xmlns:p14="http://schemas.microsoft.com/office/powerpoint/2010/main" val="3182173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99F1F8-264A-9908-19F3-7FD9A9721F41}"/>
              </a:ext>
            </a:extLst>
          </p:cNvPr>
          <p:cNvSpPr>
            <a:spLocks noGrp="1"/>
          </p:cNvSpPr>
          <p:nvPr>
            <p:ph type="title"/>
          </p:nvPr>
        </p:nvSpPr>
        <p:spPr/>
        <p:txBody>
          <a:bodyPr/>
          <a:lstStyle/>
          <a:p>
            <a:r>
              <a:rPr lang="es-MX" dirty="0" err="1"/>
              <a:t>Haystack</a:t>
            </a:r>
            <a:endParaRPr lang="es-MX" dirty="0"/>
          </a:p>
        </p:txBody>
      </p:sp>
      <p:sp>
        <p:nvSpPr>
          <p:cNvPr id="3" name="Marcador de contenido 2">
            <a:extLst>
              <a:ext uri="{FF2B5EF4-FFF2-40B4-BE49-F238E27FC236}">
                <a16:creationId xmlns:a16="http://schemas.microsoft.com/office/drawing/2014/main" id="{2F77321A-182B-C764-FCA7-21F1E6F157A3}"/>
              </a:ext>
            </a:extLst>
          </p:cNvPr>
          <p:cNvSpPr>
            <a:spLocks noGrp="1"/>
          </p:cNvSpPr>
          <p:nvPr>
            <p:ph idx="1"/>
          </p:nvPr>
        </p:nvSpPr>
        <p:spPr/>
        <p:txBody>
          <a:bodyPr/>
          <a:lstStyle/>
          <a:p>
            <a:pPr marL="0" indent="0" algn="just">
              <a:buNone/>
            </a:pPr>
            <a:r>
              <a:rPr lang="en-US" dirty="0"/>
              <a:t>It’s a mature, open-source framework for building enterprise-level search and RAG systems.</a:t>
            </a:r>
          </a:p>
          <a:p>
            <a:pPr marL="0" indent="0" algn="just">
              <a:buNone/>
            </a:pPr>
            <a:endParaRPr lang="en-US" dirty="0"/>
          </a:p>
          <a:p>
            <a:pPr marL="0" indent="0" algn="just">
              <a:buNone/>
            </a:pPr>
            <a:r>
              <a:rPr lang="en-US" dirty="0"/>
              <a:t>Similar to </a:t>
            </a:r>
            <a:r>
              <a:rPr lang="en-US" dirty="0" err="1"/>
              <a:t>LlamaIndex</a:t>
            </a:r>
            <a:r>
              <a:rPr lang="en-US" dirty="0"/>
              <a:t> in its focus on data but is architected around the concept of "Pipelines" of modular "Nodes."</a:t>
            </a:r>
            <a:endParaRPr lang="es-MX" dirty="0"/>
          </a:p>
        </p:txBody>
      </p:sp>
    </p:spTree>
    <p:extLst>
      <p:ext uri="{BB962C8B-B14F-4D97-AF65-F5344CB8AC3E}">
        <p14:creationId xmlns:p14="http://schemas.microsoft.com/office/powerpoint/2010/main" val="33875105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D4E3453-67CE-2693-A683-C78E7DB5F93A}"/>
              </a:ext>
            </a:extLst>
          </p:cNvPr>
          <p:cNvSpPr>
            <a:spLocks noGrp="1" noChangeArrowheads="1"/>
          </p:cNvSpPr>
          <p:nvPr>
            <p:ph idx="1"/>
          </p:nvPr>
        </p:nvSpPr>
        <p:spPr bwMode="auto">
          <a:xfrm>
            <a:off x="771525" y="829269"/>
            <a:ext cx="10678353"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Pipeline </a:t>
            </a:r>
            <a:r>
              <a:rPr kumimoji="0" lang="es-MX" altLang="es-MX" b="1" i="0" u="none" strike="noStrike" cap="none" normalizeH="0" baseline="0" dirty="0" err="1">
                <a:ln>
                  <a:noFill/>
                </a:ln>
                <a:solidFill>
                  <a:schemeClr val="tx1"/>
                </a:solidFill>
                <a:effectLst/>
                <a:latin typeface="Arial" panose="020B0604020202020204" pitchFamily="34" charset="0"/>
              </a:rPr>
              <a:t>Architecture</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a:t>
            </a:r>
            <a:r>
              <a:rPr lang="es-MX" altLang="es-MX" dirty="0" err="1"/>
              <a:t>build</a:t>
            </a:r>
            <a:r>
              <a:rPr lang="es-MX" altLang="es-MX" dirty="0"/>
              <a:t> data-</a:t>
            </a:r>
            <a:r>
              <a:rPr lang="es-MX" altLang="es-MX" dirty="0" err="1"/>
              <a:t>processing</a:t>
            </a:r>
            <a:r>
              <a:rPr lang="es-MX" altLang="es-MX" dirty="0"/>
              <a:t> and </a:t>
            </a:r>
            <a:r>
              <a:rPr lang="es-MX" altLang="es-MX" dirty="0" err="1"/>
              <a:t>query</a:t>
            </a:r>
            <a:r>
              <a:rPr lang="es-MX" altLang="es-MX" dirty="0"/>
              <a:t> pipelines </a:t>
            </a:r>
            <a:r>
              <a:rPr lang="es-MX" altLang="es-MX" dirty="0" err="1"/>
              <a:t>by</a:t>
            </a:r>
            <a:r>
              <a:rPr lang="es-MX" altLang="es-MX" dirty="0"/>
              <a:t> </a:t>
            </a:r>
            <a:r>
              <a:rPr lang="es-MX" altLang="es-MX" dirty="0" err="1"/>
              <a:t>connecting</a:t>
            </a:r>
            <a:r>
              <a:rPr lang="es-MX" altLang="es-MX" dirty="0"/>
              <a:t> </a:t>
            </a:r>
            <a:r>
              <a:rPr lang="es-MX" altLang="es-MX" dirty="0" err="1"/>
              <a:t>nodes</a:t>
            </a:r>
            <a:r>
              <a:rPr lang="es-MX" altLang="es-MX" dirty="0"/>
              <a:t> (</a:t>
            </a:r>
            <a:r>
              <a:rPr lang="es-MX" altLang="es-MX" dirty="0" err="1"/>
              <a:t>e.g</a:t>
            </a:r>
            <a:r>
              <a:rPr lang="es-MX" altLang="es-MX" dirty="0"/>
              <a:t>., </a:t>
            </a:r>
            <a:r>
              <a:rPr lang="es-MX" altLang="es-MX" dirty="0" err="1"/>
              <a:t>Retriever</a:t>
            </a:r>
            <a:r>
              <a:rPr lang="es-MX" altLang="es-MX" dirty="0"/>
              <a:t> -&gt; </a:t>
            </a:r>
            <a:r>
              <a:rPr lang="es-MX" altLang="es-MX" dirty="0" err="1"/>
              <a:t>Ranker</a:t>
            </a:r>
            <a:r>
              <a:rPr lang="es-MX" altLang="es-MX" dirty="0"/>
              <a:t> -&gt; Reader -&gt; </a:t>
            </a:r>
            <a:r>
              <a:rPr lang="es-MX" altLang="es-MX" dirty="0" err="1"/>
              <a:t>Generator</a:t>
            </a:r>
            <a:r>
              <a:rPr lang="es-MX" altLang="es-MX" dirty="0"/>
              <a:t>).</a:t>
            </a:r>
          </a:p>
          <a:p>
            <a:pPr marL="0" marR="0" lvl="0" indent="0" algn="just" defTabSz="914400" rtl="0" eaLnBrk="0" fontAlgn="base" latinLnBrk="0" hangingPunct="0">
              <a:lnSpc>
                <a:spcPct val="100000"/>
              </a:lnSpc>
              <a:spcBef>
                <a:spcPct val="0"/>
              </a:spcBef>
              <a:spcAft>
                <a:spcPct val="0"/>
              </a:spcAft>
              <a:buClrTx/>
              <a:buSzTx/>
              <a:buFontTx/>
              <a:buChar char="•"/>
              <a:tabLst/>
            </a:pPr>
            <a:endParaRPr lang="es-MX" altLang="es-MX" b="1"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lang="es-MX" altLang="es-MX" b="1" dirty="0">
                <a:latin typeface="Arial" panose="020B0604020202020204" pitchFamily="34" charset="0"/>
              </a:rPr>
              <a:t> Enterprise-</a:t>
            </a:r>
            <a:r>
              <a:rPr lang="es-MX" altLang="es-MX" b="1" dirty="0" err="1">
                <a:latin typeface="Arial" panose="020B0604020202020204" pitchFamily="34" charset="0"/>
              </a:rPr>
              <a:t>Ready</a:t>
            </a:r>
            <a:r>
              <a:rPr lang="es-MX" altLang="es-MX" b="1" dirty="0">
                <a:latin typeface="Arial" panose="020B0604020202020204" pitchFamily="34" charset="0"/>
              </a:rPr>
              <a:t>: </a:t>
            </a:r>
            <a:r>
              <a:rPr lang="es-MX" altLang="es-MX" dirty="0" err="1"/>
              <a:t>focus</a:t>
            </a:r>
            <a:r>
              <a:rPr lang="es-MX" altLang="es-MX" dirty="0"/>
              <a:t> </a:t>
            </a:r>
            <a:r>
              <a:rPr lang="es-MX" altLang="es-MX" dirty="0" err="1"/>
              <a:t>on</a:t>
            </a:r>
            <a:r>
              <a:rPr lang="es-MX" altLang="es-MX" dirty="0"/>
              <a:t> </a:t>
            </a:r>
            <a:r>
              <a:rPr lang="es-MX" altLang="es-MX" dirty="0" err="1"/>
              <a:t>production</a:t>
            </a:r>
            <a:r>
              <a:rPr lang="es-MX" altLang="es-MX" dirty="0"/>
              <a:t> </a:t>
            </a:r>
            <a:r>
              <a:rPr lang="es-MX" altLang="es-MX" dirty="0" err="1"/>
              <a:t>environments</a:t>
            </a:r>
            <a:r>
              <a:rPr lang="es-MX" altLang="es-MX" dirty="0"/>
              <a:t>, </a:t>
            </a:r>
            <a:r>
              <a:rPr lang="es-MX" altLang="es-MX" dirty="0" err="1"/>
              <a:t>with</a:t>
            </a:r>
            <a:r>
              <a:rPr lang="es-MX" altLang="es-MX" dirty="0"/>
              <a:t> </a:t>
            </a:r>
            <a:r>
              <a:rPr lang="es-MX" altLang="es-MX" dirty="0" err="1"/>
              <a:t>integrations</a:t>
            </a:r>
            <a:r>
              <a:rPr lang="es-MX" altLang="es-MX" dirty="0"/>
              <a:t> </a:t>
            </a:r>
            <a:r>
              <a:rPr lang="es-MX" altLang="es-MX" dirty="0" err="1"/>
              <a:t>to</a:t>
            </a:r>
            <a:r>
              <a:rPr lang="es-MX" altLang="es-MX" dirty="0"/>
              <a:t> </a:t>
            </a:r>
            <a:r>
              <a:rPr lang="es-MX" altLang="es-MX" dirty="0" err="1"/>
              <a:t>Elasticsearch</a:t>
            </a:r>
            <a:r>
              <a:rPr lang="es-MX" altLang="es-MX" dirty="0"/>
              <a:t>, </a:t>
            </a:r>
            <a:r>
              <a:rPr lang="es-MX" altLang="es-MX" dirty="0" err="1"/>
              <a:t>OpenSearch</a:t>
            </a:r>
            <a:r>
              <a:rPr lang="es-MX" altLang="es-MX" dirty="0"/>
              <a:t>, and vector </a:t>
            </a:r>
            <a:r>
              <a:rPr lang="es-MX" altLang="es-MX" dirty="0" err="1"/>
              <a:t>databases</a:t>
            </a:r>
            <a:r>
              <a:rPr lang="es-MX" altLang="es-MX" dirty="0"/>
              <a:t>.</a:t>
            </a:r>
          </a:p>
          <a:p>
            <a:pPr marL="0" marR="0" lvl="0" indent="0" algn="just" defTabSz="914400" rtl="0" eaLnBrk="0" fontAlgn="base" latinLnBrk="0" hangingPunct="0">
              <a:lnSpc>
                <a:spcPct val="100000"/>
              </a:lnSpc>
              <a:spcBef>
                <a:spcPct val="0"/>
              </a:spcBef>
              <a:spcAft>
                <a:spcPct val="0"/>
              </a:spcAft>
              <a:buClrTx/>
              <a:buSzTx/>
              <a:buNone/>
              <a:tabLst/>
            </a:pPr>
            <a:endParaRPr lang="es-MX" altLang="es-MX" dirty="0"/>
          </a:p>
          <a:p>
            <a:pPr marL="0" marR="0" lvl="0" indent="0" algn="just" defTabSz="914400" rtl="0" eaLnBrk="0" fontAlgn="base" latinLnBrk="0" hangingPunct="0">
              <a:lnSpc>
                <a:spcPct val="100000"/>
              </a:lnSpc>
              <a:spcBef>
                <a:spcPct val="0"/>
              </a:spcBef>
              <a:spcAft>
                <a:spcPct val="0"/>
              </a:spcAft>
              <a:buClrTx/>
              <a:buSzTx/>
              <a:buFontTx/>
              <a:buChar char="•"/>
              <a:tabLst/>
            </a:pPr>
            <a:r>
              <a:rPr lang="es-MX" altLang="es-MX" b="1" dirty="0" err="1">
                <a:latin typeface="Arial" panose="020B0604020202020204" pitchFamily="34" charset="0"/>
              </a:rPr>
              <a:t>Technology</a:t>
            </a:r>
            <a:r>
              <a:rPr lang="es-MX" altLang="es-MX" b="1" dirty="0">
                <a:latin typeface="Arial" panose="020B0604020202020204" pitchFamily="34" charset="0"/>
              </a:rPr>
              <a:t> </a:t>
            </a:r>
            <a:r>
              <a:rPr lang="es-MX" altLang="es-MX" b="1" dirty="0" err="1">
                <a:latin typeface="Arial" panose="020B0604020202020204" pitchFamily="34" charset="0"/>
              </a:rPr>
              <a:t>Agnostic</a:t>
            </a:r>
            <a:r>
              <a:rPr lang="es-MX" altLang="es-MX" b="1" dirty="0">
                <a:latin typeface="Arial" panose="020B0604020202020204" pitchFamily="34" charset="0"/>
              </a:rPr>
              <a:t>: </a:t>
            </a:r>
            <a:r>
              <a:rPr lang="es-MX" altLang="es-MX" dirty="0"/>
              <a:t>Swap </a:t>
            </a:r>
            <a:r>
              <a:rPr lang="es-MX" altLang="es-MX" dirty="0" err="1"/>
              <a:t>out</a:t>
            </a:r>
            <a:r>
              <a:rPr lang="es-MX" altLang="es-MX" dirty="0"/>
              <a:t> </a:t>
            </a:r>
            <a:r>
              <a:rPr lang="es-MX" altLang="es-MX" dirty="0" err="1"/>
              <a:t>components</a:t>
            </a:r>
            <a:r>
              <a:rPr lang="es-MX" altLang="es-MX" dirty="0"/>
              <a:t>. Use a local </a:t>
            </a:r>
            <a:r>
              <a:rPr lang="es-MX" altLang="es-MX" dirty="0" err="1"/>
              <a:t>Transformer</a:t>
            </a:r>
            <a:r>
              <a:rPr lang="es-MX" altLang="es-MX" dirty="0"/>
              <a:t> </a:t>
            </a:r>
            <a:r>
              <a:rPr lang="es-MX" altLang="es-MX" dirty="0" err="1"/>
              <a:t>model</a:t>
            </a:r>
            <a:r>
              <a:rPr lang="es-MX" altLang="es-MX" dirty="0"/>
              <a:t> </a:t>
            </a:r>
            <a:r>
              <a:rPr lang="es-MX" altLang="es-MX" dirty="0" err="1"/>
              <a:t>for</a:t>
            </a:r>
            <a:r>
              <a:rPr lang="es-MX" altLang="es-MX" dirty="0"/>
              <a:t> </a:t>
            </a:r>
            <a:r>
              <a:rPr lang="es-MX" altLang="es-MX" dirty="0" err="1"/>
              <a:t>retrieval</a:t>
            </a:r>
            <a:r>
              <a:rPr lang="es-MX" altLang="es-MX" dirty="0"/>
              <a:t> and a </a:t>
            </a:r>
            <a:r>
              <a:rPr lang="es-MX" altLang="es-MX" dirty="0" err="1"/>
              <a:t>separate</a:t>
            </a:r>
            <a:r>
              <a:rPr lang="es-MX" altLang="es-MX" dirty="0"/>
              <a:t> LLM </a:t>
            </a:r>
            <a:r>
              <a:rPr lang="es-MX" altLang="es-MX" dirty="0" err="1"/>
              <a:t>for</a:t>
            </a:r>
            <a:r>
              <a:rPr lang="es-MX" altLang="es-MX" dirty="0"/>
              <a:t> </a:t>
            </a:r>
            <a:r>
              <a:rPr lang="es-MX" altLang="es-MX" dirty="0" err="1"/>
              <a:t>generation</a:t>
            </a:r>
            <a:r>
              <a:rPr lang="es-MX" altLang="es-MX" dirty="0"/>
              <a:t>.</a:t>
            </a: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dirty="0"/>
          </a:p>
          <a:p>
            <a:pPr marL="0" marR="0" lvl="0" indent="0" algn="just" defTabSz="914400" rtl="0" eaLnBrk="0" fontAlgn="base" latinLnBrk="0" hangingPunct="0">
              <a:lnSpc>
                <a:spcPct val="100000"/>
              </a:lnSpc>
              <a:spcBef>
                <a:spcPct val="0"/>
              </a:spcBef>
              <a:spcAft>
                <a:spcPct val="0"/>
              </a:spcAft>
              <a:buClrTx/>
              <a:buSzTx/>
              <a:buFontTx/>
              <a:buChar char="•"/>
              <a:tabLst/>
            </a:pPr>
            <a:r>
              <a:rPr lang="es-MX" altLang="es-MX" b="1" dirty="0">
                <a:latin typeface="Arial" panose="020B0604020202020204" pitchFamily="34" charset="0"/>
              </a:rPr>
              <a:t> </a:t>
            </a:r>
            <a:r>
              <a:rPr lang="es-MX" altLang="es-MX" b="1" dirty="0" err="1">
                <a:latin typeface="Arial" panose="020B0604020202020204" pitchFamily="34" charset="0"/>
              </a:rPr>
              <a:t>Maturity</a:t>
            </a:r>
            <a:r>
              <a:rPr lang="es-MX" altLang="es-MX" b="1" dirty="0">
                <a:latin typeface="Arial" panose="020B0604020202020204" pitchFamily="34" charset="0"/>
              </a:rPr>
              <a:t> and </a:t>
            </a:r>
            <a:r>
              <a:rPr lang="es-MX" altLang="es-MX" b="1" dirty="0" err="1">
                <a:latin typeface="Arial" panose="020B0604020202020204" pitchFamily="34" charset="0"/>
              </a:rPr>
              <a:t>Stability</a:t>
            </a:r>
            <a:r>
              <a:rPr lang="es-MX" altLang="es-MX" b="1" dirty="0">
                <a:latin typeface="Arial" panose="020B0604020202020204" pitchFamily="34" charset="0"/>
              </a:rPr>
              <a:t>: </a:t>
            </a:r>
            <a:r>
              <a:rPr lang="es-MX" altLang="es-MX" dirty="0"/>
              <a:t>a </a:t>
            </a:r>
            <a:r>
              <a:rPr lang="es-MX" altLang="es-MX" dirty="0" err="1"/>
              <a:t>strong</a:t>
            </a:r>
            <a:r>
              <a:rPr lang="es-MX" altLang="es-MX" dirty="0"/>
              <a:t> </a:t>
            </a:r>
            <a:r>
              <a:rPr lang="es-MX" altLang="es-MX" dirty="0" err="1"/>
              <a:t>community</a:t>
            </a:r>
            <a:r>
              <a:rPr lang="es-MX" altLang="es-MX" dirty="0"/>
              <a:t> and </a:t>
            </a:r>
            <a:r>
              <a:rPr lang="es-MX" altLang="es-MX" dirty="0" err="1"/>
              <a:t>excellent</a:t>
            </a:r>
            <a:r>
              <a:rPr lang="es-MX" altLang="es-MX" dirty="0"/>
              <a:t> </a:t>
            </a:r>
            <a:r>
              <a:rPr lang="es-MX" altLang="es-MX" dirty="0" err="1"/>
              <a:t>documentation</a:t>
            </a:r>
            <a:r>
              <a:rPr lang="es-MX" altLang="es-MX" dirty="0"/>
              <a:t>. </a:t>
            </a:r>
          </a:p>
        </p:txBody>
      </p:sp>
    </p:spTree>
    <p:extLst>
      <p:ext uri="{BB962C8B-B14F-4D97-AF65-F5344CB8AC3E}">
        <p14:creationId xmlns:p14="http://schemas.microsoft.com/office/powerpoint/2010/main" val="28586081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0319CB-B2B1-8D7A-A534-5313D48D203A}"/>
              </a:ext>
            </a:extLst>
          </p:cNvPr>
          <p:cNvSpPr>
            <a:spLocks noGrp="1"/>
          </p:cNvSpPr>
          <p:nvPr>
            <p:ph type="title"/>
          </p:nvPr>
        </p:nvSpPr>
        <p:spPr/>
        <p:txBody>
          <a:bodyPr/>
          <a:lstStyle/>
          <a:p>
            <a:r>
              <a:rPr lang="es-MX" dirty="0" err="1"/>
              <a:t>Limitations</a:t>
            </a:r>
            <a:endParaRPr lang="es-MX" dirty="0"/>
          </a:p>
        </p:txBody>
      </p:sp>
      <p:sp>
        <p:nvSpPr>
          <p:cNvPr id="4" name="Rectangle 1">
            <a:extLst>
              <a:ext uri="{FF2B5EF4-FFF2-40B4-BE49-F238E27FC236}">
                <a16:creationId xmlns:a16="http://schemas.microsoft.com/office/drawing/2014/main" id="{A464C8F4-234E-9950-C340-AB5474AE31DC}"/>
              </a:ext>
            </a:extLst>
          </p:cNvPr>
          <p:cNvSpPr>
            <a:spLocks noGrp="1" noChangeArrowheads="1"/>
          </p:cNvSpPr>
          <p:nvPr>
            <p:ph idx="1"/>
          </p:nvPr>
        </p:nvSpPr>
        <p:spPr bwMode="auto">
          <a:xfrm>
            <a:off x="688387" y="1764633"/>
            <a:ext cx="10815226"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More Verbose </a:t>
            </a:r>
            <a:r>
              <a:rPr kumimoji="0" lang="es-MX" altLang="es-MX" b="1" i="0" u="none" strike="noStrike" cap="none" normalizeH="0" baseline="0" dirty="0" err="1">
                <a:ln>
                  <a:noFill/>
                </a:ln>
                <a:solidFill>
                  <a:schemeClr val="tx1"/>
                </a:solidFill>
                <a:effectLst/>
                <a:latin typeface="Arial" panose="020B0604020202020204" pitchFamily="34" charset="0"/>
              </a:rPr>
              <a:t>Setup</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Building</a:t>
            </a:r>
            <a:r>
              <a:rPr kumimoji="0" lang="es-MX" altLang="es-MX" b="0" i="0" u="none" strike="noStrike" cap="none" normalizeH="0" baseline="0" dirty="0">
                <a:ln>
                  <a:noFill/>
                </a:ln>
                <a:solidFill>
                  <a:schemeClr val="tx1"/>
                </a:solidFill>
                <a:effectLst/>
                <a:latin typeface="Arial" panose="020B0604020202020204" pitchFamily="34" charset="0"/>
              </a:rPr>
              <a:t> a simple pipeline can </a:t>
            </a:r>
            <a:r>
              <a:rPr kumimoji="0" lang="es-MX" altLang="es-MX" b="0" i="0" u="none" strike="noStrike" cap="none" normalizeH="0" baseline="0" dirty="0" err="1">
                <a:ln>
                  <a:noFill/>
                </a:ln>
                <a:solidFill>
                  <a:schemeClr val="tx1"/>
                </a:solidFill>
                <a:effectLst/>
                <a:latin typeface="Arial" panose="020B0604020202020204" pitchFamily="34" charset="0"/>
              </a:rPr>
              <a:t>require</a:t>
            </a:r>
            <a:r>
              <a:rPr kumimoji="0" lang="es-MX" altLang="es-MX" b="0" i="0" u="none" strike="noStrike" cap="none" normalizeH="0" baseline="0" dirty="0">
                <a:ln>
                  <a:noFill/>
                </a:ln>
                <a:solidFill>
                  <a:schemeClr val="tx1"/>
                </a:solidFill>
                <a:effectLst/>
                <a:latin typeface="Arial" panose="020B0604020202020204" pitchFamily="34" charset="0"/>
              </a:rPr>
              <a:t> more </a:t>
            </a:r>
            <a:r>
              <a:rPr kumimoji="0" lang="es-MX" altLang="es-MX" b="0" i="0" u="none" strike="noStrike" cap="none" normalizeH="0" baseline="0" dirty="0" err="1">
                <a:ln>
                  <a:noFill/>
                </a:ln>
                <a:solidFill>
                  <a:schemeClr val="tx1"/>
                </a:solidFill>
                <a:effectLst/>
                <a:latin typeface="Arial" panose="020B0604020202020204" pitchFamily="34" charset="0"/>
              </a:rPr>
              <a:t>lines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of</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code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compared</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LangChain</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LlamaIndex</a:t>
            </a:r>
            <a:r>
              <a:rPr kumimoji="0" lang="es-MX" altLang="es-MX"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None/>
              <a:tabLst/>
            </a:pP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Less</a:t>
            </a:r>
            <a:r>
              <a:rPr kumimoji="0" lang="es-MX" altLang="es-MX" b="1" i="0" u="none" strike="noStrike" cap="none" normalizeH="0" baseline="0" dirty="0">
                <a:ln>
                  <a:noFill/>
                </a:ln>
                <a:solidFill>
                  <a:schemeClr val="tx1"/>
                </a:solidFill>
                <a:effectLst/>
                <a:latin typeface="Arial" panose="020B0604020202020204" pitchFamily="34" charset="0"/>
              </a:rPr>
              <a:t> Focus </a:t>
            </a:r>
            <a:r>
              <a:rPr kumimoji="0" lang="es-MX" altLang="es-MX" b="1" i="0" u="none" strike="noStrike" cap="none" normalizeH="0" baseline="0" dirty="0" err="1">
                <a:ln>
                  <a:noFill/>
                </a:ln>
                <a:solidFill>
                  <a:schemeClr val="tx1"/>
                </a:solidFill>
                <a:effectLst/>
                <a:latin typeface="Arial" panose="020B0604020202020204" pitchFamily="34" charset="0"/>
              </a:rPr>
              <a:t>on</a:t>
            </a:r>
            <a:r>
              <a:rPr kumimoji="0" lang="es-MX" altLang="es-MX" b="1" i="0" u="none" strike="noStrike" cap="none" normalizeH="0" baseline="0" dirty="0">
                <a:ln>
                  <a:noFill/>
                </a:ln>
                <a:solidFill>
                  <a:schemeClr val="tx1"/>
                </a:solidFill>
                <a:effectLst/>
                <a:latin typeface="Arial" panose="020B0604020202020204" pitchFamily="34" charset="0"/>
              </a:rPr>
              <a:t> General </a:t>
            </a:r>
            <a:r>
              <a:rPr kumimoji="0" lang="es-MX" altLang="es-MX" b="1" i="0" u="none" strike="noStrike" cap="none" normalizeH="0" baseline="0" dirty="0" err="1">
                <a:ln>
                  <a:noFill/>
                </a:ln>
                <a:solidFill>
                  <a:schemeClr val="tx1"/>
                </a:solidFill>
                <a:effectLst/>
                <a:latin typeface="Arial" panose="020B0604020202020204" pitchFamily="34" charset="0"/>
              </a:rPr>
              <a:t>Agent</a:t>
            </a: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Logic</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Like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LlamaIndex</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primarily</a:t>
            </a:r>
            <a:r>
              <a:rPr kumimoji="0" lang="es-MX" altLang="es-MX" b="0" i="0" u="none" strike="noStrike" cap="none" normalizeH="0" baseline="0" dirty="0">
                <a:ln>
                  <a:noFill/>
                </a:ln>
                <a:solidFill>
                  <a:schemeClr val="tx1"/>
                </a:solidFill>
                <a:effectLst/>
                <a:latin typeface="Arial" panose="020B0604020202020204" pitchFamily="34" charset="0"/>
              </a:rPr>
              <a:t> a data-</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err="1">
                <a:ln>
                  <a:noFill/>
                </a:ln>
                <a:solidFill>
                  <a:schemeClr val="tx1"/>
                </a:solidFill>
                <a:effectLst/>
                <a:latin typeface="Arial" panose="020B0604020202020204" pitchFamily="34" charset="0"/>
              </a:rPr>
              <a:t>text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framework</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not</a:t>
            </a:r>
            <a:r>
              <a:rPr kumimoji="0" lang="es-MX" altLang="es-MX" b="0" i="0" u="none" strike="noStrike" cap="none" normalizeH="0" baseline="0" dirty="0">
                <a:ln>
                  <a:noFill/>
                </a:ln>
                <a:solidFill>
                  <a:schemeClr val="tx1"/>
                </a:solidFill>
                <a:effectLst/>
                <a:latin typeface="Arial" panose="020B0604020202020204" pitchFamily="34" charset="0"/>
              </a:rPr>
              <a:t> a general-</a:t>
            </a:r>
            <a:r>
              <a:rPr kumimoji="0" lang="es-MX" altLang="es-MX" b="0" i="0" u="none" strike="noStrike" cap="none" normalizeH="0" baseline="0" dirty="0" err="1">
                <a:ln>
                  <a:noFill/>
                </a:ln>
                <a:solidFill>
                  <a:schemeClr val="tx1"/>
                </a:solidFill>
                <a:effectLst/>
                <a:latin typeface="Arial" panose="020B0604020202020204" pitchFamily="34" charset="0"/>
              </a:rPr>
              <a:t>purpose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toolkit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for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building</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autonomous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agents</a:t>
            </a:r>
            <a:r>
              <a:rPr kumimoji="0" lang="es-MX" altLang="es-MX" b="0" i="0" u="none" strike="noStrike" cap="none" normalizeH="0" baseline="0" dirty="0">
                <a:ln>
                  <a:noFill/>
                </a:ln>
                <a:solidFill>
                  <a:schemeClr val="tx1"/>
                </a:solidFill>
                <a:effectLst/>
                <a:latin typeface="Arial" panose="020B0604020202020204" pitchFamily="34" charset="0"/>
              </a:rPr>
              <a:t>. </a:t>
            </a:r>
          </a:p>
        </p:txBody>
      </p:sp>
      <p:sp>
        <p:nvSpPr>
          <p:cNvPr id="6" name="CuadroTexto 5">
            <a:extLst>
              <a:ext uri="{FF2B5EF4-FFF2-40B4-BE49-F238E27FC236}">
                <a16:creationId xmlns:a16="http://schemas.microsoft.com/office/drawing/2014/main" id="{760CB4D8-BA54-7B42-B44D-C0213D846D44}"/>
              </a:ext>
            </a:extLst>
          </p:cNvPr>
          <p:cNvSpPr txBox="1"/>
          <p:nvPr/>
        </p:nvSpPr>
        <p:spPr>
          <a:xfrm>
            <a:off x="838200" y="5134660"/>
            <a:ext cx="10220325" cy="830997"/>
          </a:xfrm>
          <a:prstGeom prst="rect">
            <a:avLst/>
          </a:prstGeom>
          <a:noFill/>
        </p:spPr>
        <p:txBody>
          <a:bodyPr wrap="square">
            <a:spAutoFit/>
          </a:bodyPr>
          <a:lstStyle/>
          <a:p>
            <a:pPr algn="just"/>
            <a:r>
              <a:rPr lang="en-US" sz="2400" dirty="0"/>
              <a:t>production-ready semantic search systems or RAG applications, especially in an enterprise environment.</a:t>
            </a:r>
            <a:endParaRPr lang="es-MX" sz="2400" dirty="0"/>
          </a:p>
        </p:txBody>
      </p:sp>
    </p:spTree>
    <p:extLst>
      <p:ext uri="{BB962C8B-B14F-4D97-AF65-F5344CB8AC3E}">
        <p14:creationId xmlns:p14="http://schemas.microsoft.com/office/powerpoint/2010/main" val="35591911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CE50A5B-7092-36BD-E0EE-BBF51AAE45FE}"/>
              </a:ext>
            </a:extLst>
          </p:cNvPr>
          <p:cNvPicPr>
            <a:picLocks noChangeAspect="1"/>
          </p:cNvPicPr>
          <p:nvPr/>
        </p:nvPicPr>
        <p:blipFill>
          <a:blip r:embed="rId2"/>
          <a:stretch>
            <a:fillRect/>
          </a:stretch>
        </p:blipFill>
        <p:spPr>
          <a:xfrm>
            <a:off x="890587" y="193785"/>
            <a:ext cx="10410825" cy="6470430"/>
          </a:xfrm>
          <a:prstGeom prst="rect">
            <a:avLst/>
          </a:prstGeom>
        </p:spPr>
      </p:pic>
    </p:spTree>
    <p:extLst>
      <p:ext uri="{BB962C8B-B14F-4D97-AF65-F5344CB8AC3E}">
        <p14:creationId xmlns:p14="http://schemas.microsoft.com/office/powerpoint/2010/main" val="3121783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40BBE2-EE33-9543-955A-C38ED610A7B1}"/>
              </a:ext>
            </a:extLst>
          </p:cNvPr>
          <p:cNvSpPr>
            <a:spLocks noGrp="1"/>
          </p:cNvSpPr>
          <p:nvPr>
            <p:ph type="title"/>
          </p:nvPr>
        </p:nvSpPr>
        <p:spPr/>
        <p:txBody>
          <a:bodyPr/>
          <a:lstStyle/>
          <a:p>
            <a:r>
              <a:rPr lang="es-CO" dirty="0" err="1"/>
              <a:t>Challenges</a:t>
            </a:r>
            <a:r>
              <a:rPr lang="es-CO" dirty="0"/>
              <a:t> and </a:t>
            </a:r>
            <a:r>
              <a:rPr lang="es-CO" dirty="0" err="1"/>
              <a:t>Ethics</a:t>
            </a:r>
            <a:endParaRPr lang="es-MX" dirty="0"/>
          </a:p>
        </p:txBody>
      </p:sp>
      <p:sp>
        <p:nvSpPr>
          <p:cNvPr id="3" name="Marcador de contenido 2">
            <a:extLst>
              <a:ext uri="{FF2B5EF4-FFF2-40B4-BE49-F238E27FC236}">
                <a16:creationId xmlns:a16="http://schemas.microsoft.com/office/drawing/2014/main" id="{DAC2C887-C309-CBBA-8AC2-37EBBD3204E0}"/>
              </a:ext>
            </a:extLst>
          </p:cNvPr>
          <p:cNvSpPr>
            <a:spLocks noGrp="1"/>
          </p:cNvSpPr>
          <p:nvPr>
            <p:ph idx="1"/>
          </p:nvPr>
        </p:nvSpPr>
        <p:spPr/>
        <p:txBody>
          <a:bodyPr/>
          <a:lstStyle/>
          <a:p>
            <a:r>
              <a:rPr lang="es-MX" dirty="0"/>
              <a:t>Data: </a:t>
            </a:r>
            <a:r>
              <a:rPr lang="es-MX" dirty="0" err="1"/>
              <a:t>Quality</a:t>
            </a:r>
            <a:r>
              <a:rPr lang="es-MX" dirty="0"/>
              <a:t> </a:t>
            </a:r>
            <a:r>
              <a:rPr lang="es-MX" dirty="0" err="1"/>
              <a:t>of</a:t>
            </a:r>
            <a:r>
              <a:rPr lang="es-MX" dirty="0"/>
              <a:t> </a:t>
            </a:r>
            <a:r>
              <a:rPr lang="es-MX" dirty="0" err="1"/>
              <a:t>information</a:t>
            </a:r>
            <a:r>
              <a:rPr lang="es-MX" dirty="0"/>
              <a:t>, </a:t>
            </a:r>
            <a:r>
              <a:rPr lang="es-MX" dirty="0" err="1"/>
              <a:t>availability</a:t>
            </a:r>
            <a:r>
              <a:rPr lang="es-MX" dirty="0"/>
              <a:t> and </a:t>
            </a:r>
            <a:r>
              <a:rPr lang="es-MX" dirty="0" err="1"/>
              <a:t>privacy</a:t>
            </a:r>
            <a:r>
              <a:rPr lang="es-MX" dirty="0"/>
              <a:t>.</a:t>
            </a:r>
          </a:p>
          <a:p>
            <a:endParaRPr lang="es-MX" dirty="0"/>
          </a:p>
          <a:p>
            <a:r>
              <a:rPr lang="es-MX" dirty="0" err="1"/>
              <a:t>Responsability</a:t>
            </a:r>
            <a:r>
              <a:rPr lang="es-MX" dirty="0"/>
              <a:t>: </a:t>
            </a:r>
            <a:r>
              <a:rPr lang="es-MX" dirty="0" err="1"/>
              <a:t>Accountability</a:t>
            </a:r>
            <a:r>
              <a:rPr lang="es-MX" dirty="0"/>
              <a:t>, </a:t>
            </a:r>
            <a:r>
              <a:rPr lang="es-MX" dirty="0" err="1"/>
              <a:t>who</a:t>
            </a:r>
            <a:r>
              <a:rPr lang="es-MX" dirty="0"/>
              <a:t> </a:t>
            </a:r>
            <a:r>
              <a:rPr lang="es-MX" dirty="0" err="1"/>
              <a:t>pays</a:t>
            </a:r>
            <a:r>
              <a:rPr lang="es-MX" dirty="0"/>
              <a:t> </a:t>
            </a:r>
            <a:r>
              <a:rPr lang="es-MX" dirty="0" err="1"/>
              <a:t>for</a:t>
            </a:r>
            <a:r>
              <a:rPr lang="es-MX" dirty="0"/>
              <a:t> a </a:t>
            </a:r>
            <a:r>
              <a:rPr lang="es-MX" dirty="0" err="1"/>
              <a:t>bad</a:t>
            </a:r>
            <a:r>
              <a:rPr lang="es-MX" dirty="0"/>
              <a:t> </a:t>
            </a:r>
            <a:r>
              <a:rPr lang="es-MX" dirty="0" err="1"/>
              <a:t>decision</a:t>
            </a:r>
            <a:r>
              <a:rPr lang="es-MX" dirty="0"/>
              <a:t>=?</a:t>
            </a:r>
          </a:p>
          <a:p>
            <a:endParaRPr lang="es-MX" dirty="0"/>
          </a:p>
          <a:p>
            <a:r>
              <a:rPr lang="es-MX" dirty="0"/>
              <a:t>Human factor: New </a:t>
            </a:r>
            <a:r>
              <a:rPr lang="es-MX" dirty="0" err="1"/>
              <a:t>work</a:t>
            </a:r>
            <a:r>
              <a:rPr lang="es-MX" dirty="0"/>
              <a:t> </a:t>
            </a:r>
            <a:r>
              <a:rPr lang="es-MX" dirty="0" err="1"/>
              <a:t>force</a:t>
            </a:r>
            <a:r>
              <a:rPr lang="es-MX" dirty="0"/>
              <a:t> and </a:t>
            </a:r>
            <a:r>
              <a:rPr lang="es-MX" dirty="0" err="1"/>
              <a:t>unemployment</a:t>
            </a:r>
            <a:r>
              <a:rPr lang="es-MX" dirty="0"/>
              <a:t>, trust </a:t>
            </a:r>
            <a:r>
              <a:rPr lang="es-MX" dirty="0" err="1"/>
              <a:t>on</a:t>
            </a:r>
            <a:r>
              <a:rPr lang="es-MX" dirty="0"/>
              <a:t> </a:t>
            </a:r>
            <a:r>
              <a:rPr lang="es-MX" dirty="0" err="1"/>
              <a:t>the</a:t>
            </a:r>
            <a:r>
              <a:rPr lang="es-MX" dirty="0"/>
              <a:t> </a:t>
            </a:r>
            <a:r>
              <a:rPr lang="es-MX" dirty="0" err="1"/>
              <a:t>Ai</a:t>
            </a:r>
            <a:r>
              <a:rPr lang="es-MX" dirty="0"/>
              <a:t> </a:t>
            </a:r>
            <a:r>
              <a:rPr lang="es-MX" dirty="0" err="1"/>
              <a:t>Agents</a:t>
            </a:r>
            <a:r>
              <a:rPr lang="es-MX" dirty="0"/>
              <a:t>.</a:t>
            </a:r>
          </a:p>
          <a:p>
            <a:endParaRPr lang="es-MX" dirty="0"/>
          </a:p>
          <a:p>
            <a:endParaRPr lang="es-MX" dirty="0"/>
          </a:p>
          <a:p>
            <a:endParaRPr lang="es-MX" dirty="0"/>
          </a:p>
          <a:p>
            <a:endParaRPr lang="es-MX" dirty="0"/>
          </a:p>
          <a:p>
            <a:endParaRPr lang="es-MX" dirty="0"/>
          </a:p>
        </p:txBody>
      </p:sp>
    </p:spTree>
    <p:extLst>
      <p:ext uri="{BB962C8B-B14F-4D97-AF65-F5344CB8AC3E}">
        <p14:creationId xmlns:p14="http://schemas.microsoft.com/office/powerpoint/2010/main" val="3511806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614087-417A-29D1-DDCC-5406B4B42E90}"/>
              </a:ext>
            </a:extLst>
          </p:cNvPr>
          <p:cNvSpPr>
            <a:spLocks noGrp="1"/>
          </p:cNvSpPr>
          <p:nvPr>
            <p:ph type="title"/>
          </p:nvPr>
        </p:nvSpPr>
        <p:spPr/>
        <p:txBody>
          <a:bodyPr/>
          <a:lstStyle/>
          <a:p>
            <a:r>
              <a:rPr lang="es-CO" dirty="0" err="1"/>
              <a:t>OpenClaw</a:t>
            </a:r>
            <a:r>
              <a:rPr lang="es-CO" dirty="0"/>
              <a:t>, </a:t>
            </a:r>
            <a:r>
              <a:rPr lang="es-CO" dirty="0" err="1"/>
              <a:t>why</a:t>
            </a:r>
            <a:r>
              <a:rPr lang="es-CO" dirty="0"/>
              <a:t> </a:t>
            </a:r>
            <a:r>
              <a:rPr lang="es-CO" dirty="0" err="1"/>
              <a:t>is</a:t>
            </a:r>
            <a:r>
              <a:rPr lang="es-CO" dirty="0"/>
              <a:t> </a:t>
            </a:r>
            <a:r>
              <a:rPr lang="es-CO" dirty="0" err="1"/>
              <a:t>it</a:t>
            </a:r>
            <a:r>
              <a:rPr lang="es-CO" dirty="0"/>
              <a:t> so </a:t>
            </a:r>
            <a:r>
              <a:rPr lang="es-CO" dirty="0" err="1"/>
              <a:t>cool</a:t>
            </a:r>
            <a:r>
              <a:rPr lang="es-CO" dirty="0"/>
              <a:t>?</a:t>
            </a:r>
            <a:endParaRPr lang="es-MX" dirty="0"/>
          </a:p>
        </p:txBody>
      </p:sp>
      <p:sp>
        <p:nvSpPr>
          <p:cNvPr id="3" name="Marcador de contenido 2">
            <a:extLst>
              <a:ext uri="{FF2B5EF4-FFF2-40B4-BE49-F238E27FC236}">
                <a16:creationId xmlns:a16="http://schemas.microsoft.com/office/drawing/2014/main" id="{B302B096-5D7C-2E81-926B-A3D64218883E}"/>
              </a:ext>
            </a:extLst>
          </p:cNvPr>
          <p:cNvSpPr>
            <a:spLocks noGrp="1"/>
          </p:cNvSpPr>
          <p:nvPr>
            <p:ph idx="1"/>
          </p:nvPr>
        </p:nvSpPr>
        <p:spPr/>
        <p:txBody>
          <a:bodyPr/>
          <a:lstStyle/>
          <a:p>
            <a:r>
              <a:rPr lang="es-CO" dirty="0" err="1"/>
              <a:t>It’s</a:t>
            </a:r>
            <a:r>
              <a:rPr lang="es-CO" dirty="0"/>
              <a:t> </a:t>
            </a:r>
            <a:r>
              <a:rPr lang="es-CO" dirty="0" err="1"/>
              <a:t>the</a:t>
            </a:r>
            <a:r>
              <a:rPr lang="es-CO" dirty="0"/>
              <a:t> </a:t>
            </a:r>
            <a:r>
              <a:rPr lang="es-CO" dirty="0" err="1"/>
              <a:t>first</a:t>
            </a:r>
            <a:r>
              <a:rPr lang="es-CO" dirty="0"/>
              <a:t> AIOS, </a:t>
            </a:r>
            <a:r>
              <a:rPr lang="es-CO" dirty="0" err="1"/>
              <a:t>the</a:t>
            </a:r>
            <a:r>
              <a:rPr lang="es-CO" dirty="0"/>
              <a:t> </a:t>
            </a:r>
            <a:r>
              <a:rPr lang="es-CO" dirty="0" err="1"/>
              <a:t>first</a:t>
            </a:r>
            <a:r>
              <a:rPr lang="es-CO" dirty="0"/>
              <a:t> </a:t>
            </a:r>
            <a:r>
              <a:rPr lang="es-CO" dirty="0" err="1"/>
              <a:t>agent</a:t>
            </a:r>
            <a:r>
              <a:rPr lang="es-CO" dirty="0"/>
              <a:t> </a:t>
            </a:r>
            <a:r>
              <a:rPr lang="es-CO" dirty="0" err="1"/>
              <a:t>that</a:t>
            </a:r>
            <a:r>
              <a:rPr lang="es-CO" dirty="0"/>
              <a:t> </a:t>
            </a:r>
            <a:r>
              <a:rPr lang="es-CO" dirty="0" err="1"/>
              <a:t>really</a:t>
            </a:r>
            <a:r>
              <a:rPr lang="es-CO" dirty="0"/>
              <a:t> </a:t>
            </a:r>
            <a:r>
              <a:rPr lang="es-CO" dirty="0" err="1"/>
              <a:t>delivers</a:t>
            </a:r>
            <a:r>
              <a:rPr lang="es-CO" dirty="0"/>
              <a:t>!</a:t>
            </a:r>
          </a:p>
          <a:p>
            <a:endParaRPr lang="es-CO" dirty="0"/>
          </a:p>
          <a:p>
            <a:r>
              <a:rPr lang="es-MX" dirty="0" err="1"/>
              <a:t>Memory</a:t>
            </a:r>
            <a:r>
              <a:rPr lang="es-MX" dirty="0"/>
              <a:t>, </a:t>
            </a:r>
            <a:r>
              <a:rPr lang="es-MX" dirty="0" err="1"/>
              <a:t>Coordination</a:t>
            </a:r>
            <a:r>
              <a:rPr lang="es-MX" dirty="0"/>
              <a:t>, Smart (</a:t>
            </a:r>
            <a:r>
              <a:rPr lang="es-MX" dirty="0" err="1"/>
              <a:t>LLMs</a:t>
            </a:r>
            <a:r>
              <a:rPr lang="es-MX" dirty="0"/>
              <a:t>), </a:t>
            </a:r>
            <a:r>
              <a:rPr lang="es-MX" dirty="0" err="1"/>
              <a:t>Inteaction</a:t>
            </a:r>
            <a:r>
              <a:rPr lang="es-MX" dirty="0"/>
              <a:t> and </a:t>
            </a:r>
            <a:r>
              <a:rPr lang="es-MX" dirty="0" err="1"/>
              <a:t>Communication</a:t>
            </a:r>
            <a:r>
              <a:rPr lang="es-MX" dirty="0"/>
              <a:t> (</a:t>
            </a:r>
            <a:r>
              <a:rPr lang="es-MX" dirty="0" err="1"/>
              <a:t>WhatsAPP</a:t>
            </a:r>
            <a:r>
              <a:rPr lang="es-MX" dirty="0"/>
              <a:t>, </a:t>
            </a:r>
            <a:r>
              <a:rPr lang="es-MX" dirty="0" err="1"/>
              <a:t>Telegram</a:t>
            </a:r>
            <a:r>
              <a:rPr lang="es-MX" dirty="0"/>
              <a:t>), </a:t>
            </a:r>
            <a:r>
              <a:rPr lang="es-MX" dirty="0" err="1"/>
              <a:t>Installed</a:t>
            </a:r>
            <a:r>
              <a:rPr lang="es-MX" dirty="0"/>
              <a:t> </a:t>
            </a:r>
            <a:r>
              <a:rPr lang="es-MX" dirty="0" err="1"/>
              <a:t>on</a:t>
            </a:r>
            <a:r>
              <a:rPr lang="es-MX" dirty="0"/>
              <a:t> </a:t>
            </a:r>
            <a:r>
              <a:rPr lang="es-MX" dirty="0" err="1"/>
              <a:t>your</a:t>
            </a:r>
            <a:r>
              <a:rPr lang="es-MX" dirty="0"/>
              <a:t> </a:t>
            </a:r>
            <a:r>
              <a:rPr lang="es-MX" dirty="0" err="1"/>
              <a:t>Computer</a:t>
            </a:r>
            <a:r>
              <a:rPr lang="es-MX" dirty="0"/>
              <a:t> (Mac, Linux, PC).</a:t>
            </a:r>
          </a:p>
          <a:p>
            <a:endParaRPr lang="es-MX" dirty="0"/>
          </a:p>
          <a:p>
            <a:r>
              <a:rPr lang="es-MX" dirty="0" err="1"/>
              <a:t>CronJobs</a:t>
            </a:r>
            <a:r>
              <a:rPr lang="es-MX" dirty="0"/>
              <a:t> </a:t>
            </a:r>
            <a:r>
              <a:rPr lang="es-MX" dirty="0" err="1"/>
              <a:t>made</a:t>
            </a:r>
            <a:r>
              <a:rPr lang="es-MX" dirty="0"/>
              <a:t> </a:t>
            </a:r>
            <a:r>
              <a:rPr lang="es-MX" dirty="0" err="1"/>
              <a:t>easy</a:t>
            </a:r>
            <a:r>
              <a:rPr lang="es-MX" dirty="0"/>
              <a:t>, “</a:t>
            </a:r>
            <a:r>
              <a:rPr lang="es-MX" dirty="0" err="1"/>
              <a:t>format</a:t>
            </a:r>
            <a:r>
              <a:rPr lang="es-MX" dirty="0"/>
              <a:t> \C:” </a:t>
            </a:r>
            <a:r>
              <a:rPr lang="es-MX" dirty="0" err="1"/>
              <a:t>is</a:t>
            </a:r>
            <a:r>
              <a:rPr lang="es-MX" dirty="0"/>
              <a:t> </a:t>
            </a:r>
            <a:r>
              <a:rPr lang="es-MX" dirty="0" err="1"/>
              <a:t>easy</a:t>
            </a:r>
            <a:r>
              <a:rPr lang="es-MX" dirty="0"/>
              <a:t> </a:t>
            </a:r>
            <a:r>
              <a:rPr lang="es-MX" dirty="0" err="1"/>
              <a:t>too</a:t>
            </a:r>
            <a:r>
              <a:rPr lang="es-MX" dirty="0"/>
              <a:t>.</a:t>
            </a:r>
          </a:p>
          <a:p>
            <a:endParaRPr lang="es-MX" dirty="0"/>
          </a:p>
          <a:p>
            <a:r>
              <a:rPr lang="es-MX" dirty="0"/>
              <a:t>Do </a:t>
            </a:r>
            <a:r>
              <a:rPr lang="es-MX" dirty="0" err="1"/>
              <a:t>not</a:t>
            </a:r>
            <a:r>
              <a:rPr lang="es-MX" dirty="0"/>
              <a:t> </a:t>
            </a:r>
            <a:r>
              <a:rPr lang="es-MX" dirty="0" err="1"/>
              <a:t>build</a:t>
            </a:r>
            <a:r>
              <a:rPr lang="es-MX" dirty="0"/>
              <a:t> </a:t>
            </a:r>
            <a:r>
              <a:rPr lang="es-MX" dirty="0" err="1"/>
              <a:t>agents</a:t>
            </a:r>
            <a:r>
              <a:rPr lang="es-MX" dirty="0"/>
              <a:t>, </a:t>
            </a:r>
            <a:r>
              <a:rPr lang="es-MX" dirty="0" err="1"/>
              <a:t>hire</a:t>
            </a:r>
            <a:r>
              <a:rPr lang="es-MX" dirty="0"/>
              <a:t> human-</a:t>
            </a:r>
            <a:r>
              <a:rPr lang="es-MX" dirty="0" err="1"/>
              <a:t>like</a:t>
            </a:r>
            <a:r>
              <a:rPr lang="es-MX" dirty="0"/>
              <a:t> </a:t>
            </a:r>
            <a:r>
              <a:rPr lang="es-MX" dirty="0" err="1"/>
              <a:t>workers</a:t>
            </a:r>
            <a:r>
              <a:rPr lang="es-MX" dirty="0"/>
              <a:t> as </a:t>
            </a:r>
            <a:r>
              <a:rPr lang="es-MX" dirty="0" err="1"/>
              <a:t>needed</a:t>
            </a:r>
            <a:r>
              <a:rPr lang="es-MX" dirty="0"/>
              <a:t> !</a:t>
            </a:r>
          </a:p>
          <a:p>
            <a:endParaRPr lang="es-MX" dirty="0"/>
          </a:p>
        </p:txBody>
      </p:sp>
    </p:spTree>
    <p:extLst>
      <p:ext uri="{BB962C8B-B14F-4D97-AF65-F5344CB8AC3E}">
        <p14:creationId xmlns:p14="http://schemas.microsoft.com/office/powerpoint/2010/main" val="38967536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8CDA2F-D0FC-2A77-87FD-6E914A56FF9F}"/>
              </a:ext>
            </a:extLst>
          </p:cNvPr>
          <p:cNvSpPr>
            <a:spLocks noGrp="1"/>
          </p:cNvSpPr>
          <p:nvPr>
            <p:ph type="title"/>
          </p:nvPr>
        </p:nvSpPr>
        <p:spPr>
          <a:xfrm>
            <a:off x="838200" y="12700"/>
            <a:ext cx="10515600" cy="1325563"/>
          </a:xfrm>
        </p:spPr>
        <p:txBody>
          <a:bodyPr/>
          <a:lstStyle/>
          <a:p>
            <a:pPr algn="ctr"/>
            <a:r>
              <a:rPr lang="es-CO" dirty="0" err="1"/>
              <a:t>Directory</a:t>
            </a:r>
            <a:r>
              <a:rPr lang="es-CO" dirty="0"/>
              <a:t> </a:t>
            </a:r>
            <a:r>
              <a:rPr lang="es-CO" dirty="0" err="1"/>
              <a:t>Structure</a:t>
            </a:r>
            <a:endParaRPr lang="es-MX" dirty="0"/>
          </a:p>
        </p:txBody>
      </p:sp>
      <p:pic>
        <p:nvPicPr>
          <p:cNvPr id="5" name="Imagen 4" descr="Texto&#10;&#10;El contenido generado por IA puede ser incorrecto.">
            <a:extLst>
              <a:ext uri="{FF2B5EF4-FFF2-40B4-BE49-F238E27FC236}">
                <a16:creationId xmlns:a16="http://schemas.microsoft.com/office/drawing/2014/main" id="{49E58297-F6D1-1441-53BE-7711E9056424}"/>
              </a:ext>
            </a:extLst>
          </p:cNvPr>
          <p:cNvPicPr>
            <a:picLocks noChangeAspect="1"/>
          </p:cNvPicPr>
          <p:nvPr/>
        </p:nvPicPr>
        <p:blipFill>
          <a:blip r:embed="rId2"/>
          <a:srcRect l="2643" t="3101" r="3600" b="3508"/>
          <a:stretch>
            <a:fillRect/>
          </a:stretch>
        </p:blipFill>
        <p:spPr>
          <a:xfrm>
            <a:off x="981075" y="988469"/>
            <a:ext cx="6191250" cy="5798483"/>
          </a:xfrm>
          <a:prstGeom prst="rect">
            <a:avLst/>
          </a:prstGeom>
        </p:spPr>
      </p:pic>
    </p:spTree>
    <p:extLst>
      <p:ext uri="{BB962C8B-B14F-4D97-AF65-F5344CB8AC3E}">
        <p14:creationId xmlns:p14="http://schemas.microsoft.com/office/powerpoint/2010/main" val="19785519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CC2AFB-9796-1625-7661-BCDC782F7180}"/>
              </a:ext>
            </a:extLst>
          </p:cNvPr>
          <p:cNvSpPr>
            <a:spLocks noGrp="1"/>
          </p:cNvSpPr>
          <p:nvPr>
            <p:ph type="title"/>
          </p:nvPr>
        </p:nvSpPr>
        <p:spPr>
          <a:xfrm>
            <a:off x="838200" y="0"/>
            <a:ext cx="10515600" cy="1325563"/>
          </a:xfrm>
        </p:spPr>
        <p:txBody>
          <a:bodyPr/>
          <a:lstStyle/>
          <a:p>
            <a:r>
              <a:rPr lang="en-US" b="1" dirty="0"/>
              <a:t>What the Heck is SOUL.md?</a:t>
            </a:r>
            <a:endParaRPr lang="es-MX" dirty="0"/>
          </a:p>
        </p:txBody>
      </p:sp>
      <p:sp>
        <p:nvSpPr>
          <p:cNvPr id="3" name="Marcador de contenido 2">
            <a:extLst>
              <a:ext uri="{FF2B5EF4-FFF2-40B4-BE49-F238E27FC236}">
                <a16:creationId xmlns:a16="http://schemas.microsoft.com/office/drawing/2014/main" id="{A54427EF-F3E9-EC1F-0DA4-7E410BC08913}"/>
              </a:ext>
            </a:extLst>
          </p:cNvPr>
          <p:cNvSpPr>
            <a:spLocks noGrp="1"/>
          </p:cNvSpPr>
          <p:nvPr>
            <p:ph idx="1"/>
          </p:nvPr>
        </p:nvSpPr>
        <p:spPr>
          <a:xfrm>
            <a:off x="361949" y="1282700"/>
            <a:ext cx="11191876" cy="4351338"/>
          </a:xfrm>
        </p:spPr>
        <p:txBody>
          <a:bodyPr/>
          <a:lstStyle/>
          <a:p>
            <a:r>
              <a:rPr lang="es-CO" dirty="0" err="1"/>
              <a:t>It’s</a:t>
            </a:r>
            <a:r>
              <a:rPr lang="es-CO" dirty="0"/>
              <a:t> </a:t>
            </a:r>
            <a:r>
              <a:rPr lang="es-CO" dirty="0" err="1"/>
              <a:t>possible</a:t>
            </a:r>
            <a:r>
              <a:rPr lang="es-CO" dirty="0"/>
              <a:t> </a:t>
            </a:r>
            <a:r>
              <a:rPr lang="es-CO" dirty="0" err="1"/>
              <a:t>to</a:t>
            </a:r>
            <a:r>
              <a:rPr lang="es-CO" dirty="0"/>
              <a:t> </a:t>
            </a:r>
            <a:r>
              <a:rPr lang="es-CO" dirty="0" err="1"/>
              <a:t>create</a:t>
            </a:r>
            <a:r>
              <a:rPr lang="es-CO" dirty="0"/>
              <a:t> </a:t>
            </a:r>
            <a:r>
              <a:rPr lang="es-CO" dirty="0" err="1"/>
              <a:t>multiple</a:t>
            </a:r>
            <a:r>
              <a:rPr lang="es-CO" dirty="0"/>
              <a:t> </a:t>
            </a:r>
            <a:r>
              <a:rPr lang="es-CO" dirty="0" err="1"/>
              <a:t>agents</a:t>
            </a:r>
            <a:endParaRPr lang="es-CO" dirty="0"/>
          </a:p>
          <a:p>
            <a:endParaRPr lang="en-US" dirty="0"/>
          </a:p>
          <a:p>
            <a:r>
              <a:rPr lang="en-US" dirty="0"/>
              <a:t>Every agent is defined by one file: SOUL.md: agent’s identity, role, and operating instructions. It’s the most important file in the entire system.</a:t>
            </a:r>
          </a:p>
          <a:p>
            <a:endParaRPr lang="en-US" dirty="0"/>
          </a:p>
          <a:p>
            <a:endParaRPr lang="es-MX" dirty="0"/>
          </a:p>
        </p:txBody>
      </p:sp>
      <p:pic>
        <p:nvPicPr>
          <p:cNvPr id="5" name="Imagen 4" descr="Texto, Carta&#10;&#10;El contenido generado por IA puede ser incorrecto.">
            <a:extLst>
              <a:ext uri="{FF2B5EF4-FFF2-40B4-BE49-F238E27FC236}">
                <a16:creationId xmlns:a16="http://schemas.microsoft.com/office/drawing/2014/main" id="{C797C9C7-F9D9-C301-B83B-458E318F9F06}"/>
              </a:ext>
            </a:extLst>
          </p:cNvPr>
          <p:cNvPicPr>
            <a:picLocks noChangeAspect="1"/>
          </p:cNvPicPr>
          <p:nvPr/>
        </p:nvPicPr>
        <p:blipFill>
          <a:blip r:embed="rId2"/>
          <a:stretch>
            <a:fillRect/>
          </a:stretch>
        </p:blipFill>
        <p:spPr>
          <a:xfrm>
            <a:off x="7119470" y="3248025"/>
            <a:ext cx="4495827" cy="3609975"/>
          </a:xfrm>
          <a:prstGeom prst="rect">
            <a:avLst/>
          </a:prstGeom>
        </p:spPr>
      </p:pic>
      <p:sp>
        <p:nvSpPr>
          <p:cNvPr id="7" name="CuadroTexto 6">
            <a:extLst>
              <a:ext uri="{FF2B5EF4-FFF2-40B4-BE49-F238E27FC236}">
                <a16:creationId xmlns:a16="http://schemas.microsoft.com/office/drawing/2014/main" id="{179146BE-2AD9-86F3-0BFD-9CACBF81E2B1}"/>
              </a:ext>
            </a:extLst>
          </p:cNvPr>
          <p:cNvSpPr txBox="1"/>
          <p:nvPr/>
        </p:nvSpPr>
        <p:spPr>
          <a:xfrm>
            <a:off x="1143000" y="4215110"/>
            <a:ext cx="6096000" cy="923330"/>
          </a:xfrm>
          <a:prstGeom prst="rect">
            <a:avLst/>
          </a:prstGeom>
          <a:noFill/>
        </p:spPr>
        <p:txBody>
          <a:bodyPr wrap="square">
            <a:spAutoFit/>
          </a:bodyPr>
          <a:lstStyle/>
          <a:p>
            <a:r>
              <a:rPr lang="en-US" b="0" i="0" dirty="0">
                <a:solidFill>
                  <a:srgbClr val="242424"/>
                </a:solidFill>
                <a:effectLst/>
                <a:latin typeface="source-serif-pro"/>
              </a:rPr>
              <a:t>Not just “you are a research agent.” It gives the agent a personality, clear principles, explicit relationships to other agents, and a decision framework.</a:t>
            </a:r>
            <a:endParaRPr lang="es-MX" dirty="0"/>
          </a:p>
        </p:txBody>
      </p:sp>
    </p:spTree>
    <p:extLst>
      <p:ext uri="{BB962C8B-B14F-4D97-AF65-F5344CB8AC3E}">
        <p14:creationId xmlns:p14="http://schemas.microsoft.com/office/powerpoint/2010/main" val="22255188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0E62264-F472-72DF-E1B9-7E9150F79B24}"/>
              </a:ext>
            </a:extLst>
          </p:cNvPr>
          <p:cNvSpPr>
            <a:spLocks noGrp="1"/>
          </p:cNvSpPr>
          <p:nvPr>
            <p:ph idx="1"/>
          </p:nvPr>
        </p:nvSpPr>
        <p:spPr/>
        <p:txBody>
          <a:bodyPr/>
          <a:lstStyle/>
          <a:p>
            <a:r>
              <a:rPr lang="en-US" dirty="0"/>
              <a:t>The coordination is the filesystem. No API calls between agents. No message queues. No orchestration framework, just files.</a:t>
            </a:r>
          </a:p>
          <a:p>
            <a:endParaRPr lang="en-US" dirty="0"/>
          </a:p>
          <a:p>
            <a:r>
              <a:rPr lang="en-US" dirty="0"/>
              <a:t>No middleware. No integration layer.  The handoff is a markdown document on disk.</a:t>
            </a:r>
          </a:p>
          <a:p>
            <a:endParaRPr lang="en-US" dirty="0"/>
          </a:p>
          <a:p>
            <a:r>
              <a:rPr lang="en-US" dirty="0"/>
              <a:t>This sounds too simple. It is simple. That’s why it works. Files don’t crash. Files don’t have authentication issues. Files don’t need API rate limit handling. They’re just there.</a:t>
            </a:r>
            <a:endParaRPr lang="es-MX" dirty="0"/>
          </a:p>
        </p:txBody>
      </p:sp>
    </p:spTree>
    <p:extLst>
      <p:ext uri="{BB962C8B-B14F-4D97-AF65-F5344CB8AC3E}">
        <p14:creationId xmlns:p14="http://schemas.microsoft.com/office/powerpoint/2010/main" val="35636534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E55D3F-A59C-8236-7340-FB0CAA8C72FC}"/>
              </a:ext>
            </a:extLst>
          </p:cNvPr>
          <p:cNvSpPr>
            <a:spLocks noGrp="1"/>
          </p:cNvSpPr>
          <p:nvPr>
            <p:ph type="title"/>
          </p:nvPr>
        </p:nvSpPr>
        <p:spPr/>
        <p:txBody>
          <a:bodyPr/>
          <a:lstStyle/>
          <a:p>
            <a:r>
              <a:rPr lang="es-MX" b="1" dirty="0" err="1"/>
              <a:t>The</a:t>
            </a:r>
            <a:r>
              <a:rPr lang="es-MX" b="1" dirty="0"/>
              <a:t> </a:t>
            </a:r>
            <a:r>
              <a:rPr lang="es-MX" b="1" dirty="0" err="1"/>
              <a:t>Memory</a:t>
            </a:r>
            <a:r>
              <a:rPr lang="es-MX" b="1" dirty="0"/>
              <a:t> </a:t>
            </a:r>
            <a:r>
              <a:rPr lang="es-MX" b="1" dirty="0" err="1"/>
              <a:t>System</a:t>
            </a:r>
            <a:r>
              <a:rPr lang="es-MX" b="1" dirty="0"/>
              <a:t>: </a:t>
            </a:r>
            <a:r>
              <a:rPr lang="es-MX" dirty="0"/>
              <a:t>AGENTS.md</a:t>
            </a:r>
          </a:p>
        </p:txBody>
      </p:sp>
      <p:sp>
        <p:nvSpPr>
          <p:cNvPr id="3" name="Marcador de contenido 2">
            <a:extLst>
              <a:ext uri="{FF2B5EF4-FFF2-40B4-BE49-F238E27FC236}">
                <a16:creationId xmlns:a16="http://schemas.microsoft.com/office/drawing/2014/main" id="{F4B0D3C6-DBB8-290E-222A-F1D4BAB0DBBA}"/>
              </a:ext>
            </a:extLst>
          </p:cNvPr>
          <p:cNvSpPr>
            <a:spLocks noGrp="1"/>
          </p:cNvSpPr>
          <p:nvPr>
            <p:ph idx="1"/>
          </p:nvPr>
        </p:nvSpPr>
        <p:spPr/>
        <p:txBody>
          <a:bodyPr/>
          <a:lstStyle/>
          <a:p>
            <a:r>
              <a:rPr lang="en-US" dirty="0"/>
              <a:t>Agents wake up with no memory of previous sessions. Every conversation starts fresh. This is a feature, not a bug. But it means memory must be explicit.</a:t>
            </a:r>
          </a:p>
          <a:p>
            <a:pPr marL="0" indent="0">
              <a:buNone/>
            </a:pPr>
            <a:r>
              <a:rPr lang="es-MX" dirty="0" err="1"/>
              <a:t>Two</a:t>
            </a:r>
            <a:r>
              <a:rPr lang="es-MX" dirty="0"/>
              <a:t> </a:t>
            </a:r>
            <a:r>
              <a:rPr lang="es-MX" dirty="0" err="1"/>
              <a:t>layers</a:t>
            </a:r>
            <a:r>
              <a:rPr lang="es-MX" dirty="0"/>
              <a:t>:</a:t>
            </a:r>
          </a:p>
          <a:p>
            <a:pPr marL="0" indent="0">
              <a:buNone/>
            </a:pPr>
            <a:r>
              <a:rPr lang="en-US" b="1" dirty="0"/>
              <a:t>Daily logs</a:t>
            </a:r>
            <a:r>
              <a:rPr lang="en-US" dirty="0"/>
              <a:t> (memory/YYYY-MM-DD.md): Raw notes from each session. What happened, what was drafted, what feedback came in. Th</a:t>
            </a:r>
          </a:p>
          <a:p>
            <a:pPr marL="0" indent="0">
              <a:buNone/>
            </a:pPr>
            <a:r>
              <a:rPr lang="en-US" b="1" dirty="0"/>
              <a:t>Long-term memory</a:t>
            </a:r>
            <a:r>
              <a:rPr lang="en-US" dirty="0"/>
              <a:t> (MEMORY.md): Curated insights distilled from daily logs. Lessons learned, preferences discovered, patterns noticed. e agent writes these throughout the day.</a:t>
            </a:r>
            <a:endParaRPr lang="es-MX" dirty="0"/>
          </a:p>
        </p:txBody>
      </p:sp>
    </p:spTree>
    <p:extLst>
      <p:ext uri="{BB962C8B-B14F-4D97-AF65-F5344CB8AC3E}">
        <p14:creationId xmlns:p14="http://schemas.microsoft.com/office/powerpoint/2010/main" val="3745587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de la pantalla de un celular con texto&#10;&#10;El contenido generado por IA puede ser incorrecto.">
            <a:extLst>
              <a:ext uri="{FF2B5EF4-FFF2-40B4-BE49-F238E27FC236}">
                <a16:creationId xmlns:a16="http://schemas.microsoft.com/office/drawing/2014/main" id="{F0B74E71-0F4F-6BDD-ABF3-58B0AE5F4B38}"/>
              </a:ext>
            </a:extLst>
          </p:cNvPr>
          <p:cNvPicPr>
            <a:picLocks noChangeAspect="1"/>
          </p:cNvPicPr>
          <p:nvPr/>
        </p:nvPicPr>
        <p:blipFill>
          <a:blip r:embed="rId2"/>
          <a:stretch>
            <a:fillRect/>
          </a:stretch>
        </p:blipFill>
        <p:spPr>
          <a:xfrm>
            <a:off x="342900" y="2119070"/>
            <a:ext cx="11225505" cy="4646361"/>
          </a:xfrm>
          <a:prstGeom prst="rect">
            <a:avLst/>
          </a:prstGeom>
        </p:spPr>
      </p:pic>
      <p:sp>
        <p:nvSpPr>
          <p:cNvPr id="7" name="CuadroTexto 6">
            <a:extLst>
              <a:ext uri="{FF2B5EF4-FFF2-40B4-BE49-F238E27FC236}">
                <a16:creationId xmlns:a16="http://schemas.microsoft.com/office/drawing/2014/main" id="{272C0441-74D2-2410-2FCF-FA9ECBB5DE52}"/>
              </a:ext>
            </a:extLst>
          </p:cNvPr>
          <p:cNvSpPr txBox="1"/>
          <p:nvPr/>
        </p:nvSpPr>
        <p:spPr>
          <a:xfrm>
            <a:off x="66674" y="172135"/>
            <a:ext cx="6296025" cy="646331"/>
          </a:xfrm>
          <a:prstGeom prst="rect">
            <a:avLst/>
          </a:prstGeom>
          <a:noFill/>
        </p:spPr>
        <p:txBody>
          <a:bodyPr wrap="square">
            <a:spAutoFit/>
          </a:bodyPr>
          <a:lstStyle/>
          <a:p>
            <a:r>
              <a:rPr lang="en-US" b="0" i="0" dirty="0">
                <a:solidFill>
                  <a:srgbClr val="242424"/>
                </a:solidFill>
                <a:effectLst/>
                <a:latin typeface="source-serif-pro"/>
              </a:rPr>
              <a:t>The agents actually get better over time. Not because the model improves. Because the context they load gets richer.</a:t>
            </a:r>
            <a:endParaRPr lang="es-MX" dirty="0"/>
          </a:p>
        </p:txBody>
      </p:sp>
      <p:sp>
        <p:nvSpPr>
          <p:cNvPr id="9" name="CuadroTexto 8">
            <a:extLst>
              <a:ext uri="{FF2B5EF4-FFF2-40B4-BE49-F238E27FC236}">
                <a16:creationId xmlns:a16="http://schemas.microsoft.com/office/drawing/2014/main" id="{0EC14E85-4345-A787-4ABD-76CD67C72086}"/>
              </a:ext>
            </a:extLst>
          </p:cNvPr>
          <p:cNvSpPr txBox="1"/>
          <p:nvPr/>
        </p:nvSpPr>
        <p:spPr>
          <a:xfrm>
            <a:off x="5695949" y="926140"/>
            <a:ext cx="6372225" cy="923330"/>
          </a:xfrm>
          <a:prstGeom prst="rect">
            <a:avLst/>
          </a:prstGeom>
          <a:noFill/>
        </p:spPr>
        <p:txBody>
          <a:bodyPr wrap="square">
            <a:spAutoFit/>
          </a:bodyPr>
          <a:lstStyle/>
          <a:p>
            <a:r>
              <a:rPr lang="en-US" b="0" i="0" dirty="0">
                <a:solidFill>
                  <a:srgbClr val="242424"/>
                </a:solidFill>
                <a:effectLst/>
                <a:latin typeface="source-serif-pro"/>
              </a:rPr>
              <a:t>“Kelly” learned that my writing voice has no emojis and no hashtags. That’s in her memory now. Every future draft reflects it without me saying it again.</a:t>
            </a:r>
            <a:endParaRPr lang="es-MX" dirty="0"/>
          </a:p>
        </p:txBody>
      </p:sp>
    </p:spTree>
    <p:extLst>
      <p:ext uri="{BB962C8B-B14F-4D97-AF65-F5344CB8AC3E}">
        <p14:creationId xmlns:p14="http://schemas.microsoft.com/office/powerpoint/2010/main" val="3371636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5ADCFD-17D1-B998-C23D-F24C98B05C30}"/>
              </a:ext>
            </a:extLst>
          </p:cNvPr>
          <p:cNvSpPr>
            <a:spLocks noGrp="1"/>
          </p:cNvSpPr>
          <p:nvPr>
            <p:ph type="title"/>
          </p:nvPr>
        </p:nvSpPr>
        <p:spPr>
          <a:xfrm>
            <a:off x="838200" y="0"/>
            <a:ext cx="10515600" cy="1325563"/>
          </a:xfrm>
        </p:spPr>
        <p:txBody>
          <a:bodyPr/>
          <a:lstStyle/>
          <a:p>
            <a:r>
              <a:rPr lang="es-MX" dirty="0"/>
              <a:t>HEARTBEAT.md</a:t>
            </a:r>
          </a:p>
        </p:txBody>
      </p:sp>
      <p:sp>
        <p:nvSpPr>
          <p:cNvPr id="3" name="Marcador de contenido 2">
            <a:extLst>
              <a:ext uri="{FF2B5EF4-FFF2-40B4-BE49-F238E27FC236}">
                <a16:creationId xmlns:a16="http://schemas.microsoft.com/office/drawing/2014/main" id="{1D20AC2F-899B-7BA8-2C0D-57AFDD1B21A9}"/>
              </a:ext>
            </a:extLst>
          </p:cNvPr>
          <p:cNvSpPr>
            <a:spLocks noGrp="1"/>
          </p:cNvSpPr>
          <p:nvPr>
            <p:ph idx="1"/>
          </p:nvPr>
        </p:nvSpPr>
        <p:spPr>
          <a:xfrm>
            <a:off x="371475" y="1320800"/>
            <a:ext cx="11563350" cy="1736225"/>
          </a:xfrm>
        </p:spPr>
        <p:txBody>
          <a:bodyPr>
            <a:normAutofit fontScale="85000" lnSpcReduction="20000"/>
          </a:bodyPr>
          <a:lstStyle/>
          <a:p>
            <a:pPr marL="0" indent="0">
              <a:buNone/>
            </a:pPr>
            <a:r>
              <a:rPr lang="en-US" dirty="0"/>
              <a:t>Cron jobs fail sometimes. The machine restarts. A job hangs. The network drops during an API call.</a:t>
            </a:r>
          </a:p>
          <a:p>
            <a:pPr marL="0" indent="0">
              <a:buNone/>
            </a:pPr>
            <a:endParaRPr lang="en-US" dirty="0"/>
          </a:p>
          <a:p>
            <a:pPr marL="0" indent="0" algn="ctr">
              <a:buNone/>
            </a:pPr>
            <a:r>
              <a:rPr lang="es-MX" dirty="0" err="1"/>
              <a:t>On</a:t>
            </a:r>
            <a:r>
              <a:rPr lang="es-MX" dirty="0"/>
              <a:t> </a:t>
            </a:r>
            <a:r>
              <a:rPr lang="es-MX" dirty="0" err="1"/>
              <a:t>each</a:t>
            </a:r>
            <a:r>
              <a:rPr lang="es-MX" dirty="0"/>
              <a:t> </a:t>
            </a:r>
            <a:r>
              <a:rPr lang="es-MX" dirty="0" err="1"/>
              <a:t>heartbeat</a:t>
            </a:r>
            <a:r>
              <a:rPr lang="es-MX" dirty="0"/>
              <a:t>, </a:t>
            </a:r>
            <a:r>
              <a:rPr lang="en-US" dirty="0"/>
              <a:t>the main agent verifies that </a:t>
            </a:r>
            <a:r>
              <a:rPr lang="en-US" dirty="0" err="1"/>
              <a:t>cron</a:t>
            </a:r>
            <a:r>
              <a:rPr lang="en-US" dirty="0"/>
              <a:t> jobs actually ran, it forces a re-run. Self-healing, no human intervention needed</a:t>
            </a:r>
            <a:endParaRPr lang="es-MX" dirty="0"/>
          </a:p>
        </p:txBody>
      </p:sp>
      <p:pic>
        <p:nvPicPr>
          <p:cNvPr id="5" name="Imagen 4" descr="Imagen de la pantalla de un celular con texto&#10;&#10;El contenido generado por IA puede ser incorrecto.">
            <a:extLst>
              <a:ext uri="{FF2B5EF4-FFF2-40B4-BE49-F238E27FC236}">
                <a16:creationId xmlns:a16="http://schemas.microsoft.com/office/drawing/2014/main" id="{826BFBB8-C023-062A-1F3B-19F4B577818B}"/>
              </a:ext>
            </a:extLst>
          </p:cNvPr>
          <p:cNvPicPr>
            <a:picLocks noChangeAspect="1"/>
          </p:cNvPicPr>
          <p:nvPr/>
        </p:nvPicPr>
        <p:blipFill>
          <a:blip r:embed="rId2"/>
          <a:stretch>
            <a:fillRect/>
          </a:stretch>
        </p:blipFill>
        <p:spPr>
          <a:xfrm>
            <a:off x="1966316" y="3285625"/>
            <a:ext cx="8545118" cy="3581900"/>
          </a:xfrm>
          <a:prstGeom prst="rect">
            <a:avLst/>
          </a:prstGeom>
        </p:spPr>
      </p:pic>
    </p:spTree>
    <p:extLst>
      <p:ext uri="{BB962C8B-B14F-4D97-AF65-F5344CB8AC3E}">
        <p14:creationId xmlns:p14="http://schemas.microsoft.com/office/powerpoint/2010/main" val="28171959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9D6BF9-BEDC-7319-0D5E-5C1E480D7257}"/>
              </a:ext>
            </a:extLst>
          </p:cNvPr>
          <p:cNvSpPr>
            <a:spLocks noGrp="1"/>
          </p:cNvSpPr>
          <p:nvPr>
            <p:ph type="title"/>
          </p:nvPr>
        </p:nvSpPr>
        <p:spPr/>
        <p:txBody>
          <a:bodyPr/>
          <a:lstStyle/>
          <a:p>
            <a:r>
              <a:rPr lang="es-MX" b="1" dirty="0" err="1"/>
              <a:t>Telegram</a:t>
            </a:r>
            <a:r>
              <a:rPr lang="es-MX" b="1" dirty="0"/>
              <a:t> as </a:t>
            </a:r>
            <a:r>
              <a:rPr lang="es-MX" b="1" dirty="0" err="1"/>
              <a:t>the</a:t>
            </a:r>
            <a:r>
              <a:rPr lang="es-MX" b="1" dirty="0"/>
              <a:t> Interface</a:t>
            </a:r>
            <a:endParaRPr lang="es-MX" dirty="0"/>
          </a:p>
        </p:txBody>
      </p:sp>
      <p:sp>
        <p:nvSpPr>
          <p:cNvPr id="3" name="Marcador de contenido 2">
            <a:extLst>
              <a:ext uri="{FF2B5EF4-FFF2-40B4-BE49-F238E27FC236}">
                <a16:creationId xmlns:a16="http://schemas.microsoft.com/office/drawing/2014/main" id="{37610C22-AA0D-9987-BEB0-B9AF6CE55F7D}"/>
              </a:ext>
            </a:extLst>
          </p:cNvPr>
          <p:cNvSpPr>
            <a:spLocks noGrp="1"/>
          </p:cNvSpPr>
          <p:nvPr>
            <p:ph idx="1"/>
          </p:nvPr>
        </p:nvSpPr>
        <p:spPr/>
        <p:txBody>
          <a:bodyPr/>
          <a:lstStyle/>
          <a:p>
            <a:r>
              <a:rPr lang="en-US" dirty="0"/>
              <a:t>No dashboard. No web UI. No admin panel. I talk to my agents on Telegram.</a:t>
            </a:r>
          </a:p>
          <a:p>
            <a:pPr marL="0" indent="0">
              <a:buNone/>
            </a:pPr>
            <a:endParaRPr lang="en-US" dirty="0"/>
          </a:p>
          <a:p>
            <a:r>
              <a:rPr lang="en-US" dirty="0"/>
              <a:t>I don’t want to log into a dashboard. I don’t want to check a web app. My phone is always with me. Telegram is always open.</a:t>
            </a:r>
          </a:p>
          <a:p>
            <a:endParaRPr lang="en-US" dirty="0"/>
          </a:p>
          <a:p>
            <a:r>
              <a:rPr lang="en-US" dirty="0"/>
              <a:t>You text it. It texts back. It sends you drafts. You approve or reject them. Like having a coworker in your messaging app.</a:t>
            </a:r>
            <a:endParaRPr lang="es-MX" dirty="0"/>
          </a:p>
        </p:txBody>
      </p:sp>
    </p:spTree>
    <p:extLst>
      <p:ext uri="{BB962C8B-B14F-4D97-AF65-F5344CB8AC3E}">
        <p14:creationId xmlns:p14="http://schemas.microsoft.com/office/powerpoint/2010/main" val="24789427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09AD3C-1FC1-5A3B-65D0-0D18D13DC615}"/>
              </a:ext>
            </a:extLst>
          </p:cNvPr>
          <p:cNvSpPr>
            <a:spLocks noGrp="1"/>
          </p:cNvSpPr>
          <p:nvPr>
            <p:ph type="title"/>
          </p:nvPr>
        </p:nvSpPr>
        <p:spPr/>
        <p:txBody>
          <a:bodyPr/>
          <a:lstStyle/>
          <a:p>
            <a:r>
              <a:rPr lang="es-MX" b="1" dirty="0"/>
              <a:t>Security</a:t>
            </a:r>
            <a:endParaRPr lang="es-MX" dirty="0"/>
          </a:p>
        </p:txBody>
      </p:sp>
      <p:sp>
        <p:nvSpPr>
          <p:cNvPr id="3" name="Marcador de contenido 2">
            <a:extLst>
              <a:ext uri="{FF2B5EF4-FFF2-40B4-BE49-F238E27FC236}">
                <a16:creationId xmlns:a16="http://schemas.microsoft.com/office/drawing/2014/main" id="{F2897CCC-B151-4471-844F-5B62E3C6BF6D}"/>
              </a:ext>
            </a:extLst>
          </p:cNvPr>
          <p:cNvSpPr>
            <a:spLocks noGrp="1"/>
          </p:cNvSpPr>
          <p:nvPr>
            <p:ph idx="1"/>
          </p:nvPr>
        </p:nvSpPr>
        <p:spPr/>
        <p:txBody>
          <a:bodyPr>
            <a:normAutofit lnSpcReduction="10000"/>
          </a:bodyPr>
          <a:lstStyle/>
          <a:p>
            <a:r>
              <a:rPr lang="en-US" dirty="0"/>
              <a:t>It’s in your hands. A simple approach: the agents get their own world. Don’t give them access to yours. They have their own email accounts, API keys, and scoped access. Nothing on that machine connects to personal accounts.</a:t>
            </a:r>
          </a:p>
          <a:p>
            <a:endParaRPr lang="en-US" dirty="0"/>
          </a:p>
          <a:p>
            <a:r>
              <a:rPr lang="en-US" dirty="0"/>
              <a:t>Allows to monitor usage and kill access in seconds if something looks wrong.</a:t>
            </a:r>
          </a:p>
          <a:p>
            <a:endParaRPr lang="en-US" dirty="0"/>
          </a:p>
          <a:p>
            <a:r>
              <a:rPr lang="en-US" dirty="0"/>
              <a:t>This is the same principle you’d use with a new employee. You don’t hand them the keys to everything on day one.</a:t>
            </a:r>
          </a:p>
          <a:p>
            <a:endParaRPr lang="en-US" dirty="0"/>
          </a:p>
          <a:p>
            <a:endParaRPr lang="es-MX" dirty="0"/>
          </a:p>
        </p:txBody>
      </p:sp>
    </p:spTree>
    <p:extLst>
      <p:ext uri="{BB962C8B-B14F-4D97-AF65-F5344CB8AC3E}">
        <p14:creationId xmlns:p14="http://schemas.microsoft.com/office/powerpoint/2010/main" val="11137291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5CF19C-6BAE-B6FC-D725-EE54B71B71DE}"/>
              </a:ext>
            </a:extLst>
          </p:cNvPr>
          <p:cNvSpPr>
            <a:spLocks noGrp="1"/>
          </p:cNvSpPr>
          <p:nvPr>
            <p:ph type="title"/>
          </p:nvPr>
        </p:nvSpPr>
        <p:spPr/>
        <p:txBody>
          <a:bodyPr/>
          <a:lstStyle/>
          <a:p>
            <a:r>
              <a:rPr lang="es-MX" b="1" dirty="0" err="1"/>
              <a:t>Costs</a:t>
            </a:r>
            <a:endParaRPr lang="es-MX" dirty="0"/>
          </a:p>
        </p:txBody>
      </p:sp>
      <p:sp>
        <p:nvSpPr>
          <p:cNvPr id="3" name="Marcador de contenido 2">
            <a:extLst>
              <a:ext uri="{FF2B5EF4-FFF2-40B4-BE49-F238E27FC236}">
                <a16:creationId xmlns:a16="http://schemas.microsoft.com/office/drawing/2014/main" id="{463BAFEF-53B6-B740-F41D-93620426F70E}"/>
              </a:ext>
            </a:extLst>
          </p:cNvPr>
          <p:cNvSpPr>
            <a:spLocks noGrp="1"/>
          </p:cNvSpPr>
          <p:nvPr>
            <p:ph idx="1"/>
          </p:nvPr>
        </p:nvSpPr>
        <p:spPr>
          <a:xfrm>
            <a:off x="657225" y="1590675"/>
            <a:ext cx="11058525" cy="5114925"/>
          </a:xfrm>
        </p:spPr>
        <p:txBody>
          <a:bodyPr>
            <a:normAutofit fontScale="85000" lnSpcReduction="20000"/>
          </a:bodyPr>
          <a:lstStyle/>
          <a:p>
            <a:r>
              <a:rPr lang="en-US" dirty="0"/>
              <a:t>Mac Mini M4: $499. But any old laptop always-on works.</a:t>
            </a:r>
          </a:p>
          <a:p>
            <a:r>
              <a:rPr lang="en-US" dirty="0"/>
              <a:t>A VPS: $5/month.</a:t>
            </a:r>
          </a:p>
          <a:p>
            <a:r>
              <a:rPr lang="es-MX" dirty="0"/>
              <a:t>AI </a:t>
            </a:r>
            <a:r>
              <a:rPr lang="es-MX" dirty="0" err="1"/>
              <a:t>Model</a:t>
            </a:r>
            <a:r>
              <a:rPr lang="es-MX" dirty="0"/>
              <a:t> </a:t>
            </a:r>
            <a:r>
              <a:rPr lang="es-MX" dirty="0" err="1"/>
              <a:t>costs</a:t>
            </a:r>
            <a:r>
              <a:rPr lang="es-MX" dirty="0"/>
              <a:t>:</a:t>
            </a:r>
          </a:p>
          <a:p>
            <a:pPr marL="0" indent="0">
              <a:buNone/>
            </a:pPr>
            <a:endParaRPr lang="es-MX" dirty="0"/>
          </a:p>
          <a:p>
            <a:pPr marL="0" indent="0">
              <a:buNone/>
            </a:pPr>
            <a:r>
              <a:rPr lang="en-US" dirty="0"/>
              <a:t>- Claude (Max plan): $200/month</a:t>
            </a:r>
          </a:p>
          <a:p>
            <a:pPr marL="0" indent="0">
              <a:buNone/>
            </a:pPr>
            <a:r>
              <a:rPr lang="en-US" dirty="0"/>
              <a:t>- Gemini API: $50–70/month</a:t>
            </a:r>
          </a:p>
          <a:p>
            <a:pPr marL="0" indent="0">
              <a:buNone/>
            </a:pPr>
            <a:r>
              <a:rPr lang="es-MX" dirty="0"/>
              <a:t>- Local </a:t>
            </a:r>
            <a:r>
              <a:rPr lang="es-MX" dirty="0" err="1"/>
              <a:t>models</a:t>
            </a:r>
            <a:r>
              <a:rPr lang="es-MX" dirty="0"/>
              <a:t> </a:t>
            </a:r>
            <a:r>
              <a:rPr lang="es-MX" dirty="0" err="1"/>
              <a:t>via</a:t>
            </a:r>
            <a:r>
              <a:rPr lang="es-MX" dirty="0"/>
              <a:t> </a:t>
            </a:r>
            <a:r>
              <a:rPr lang="es-MX" dirty="0" err="1"/>
              <a:t>Ollama</a:t>
            </a:r>
            <a:r>
              <a:rPr lang="es-MX" dirty="0"/>
              <a:t>: free</a:t>
            </a:r>
            <a:endParaRPr lang="en-US" dirty="0"/>
          </a:p>
          <a:p>
            <a:pPr marL="0" indent="0">
              <a:buNone/>
            </a:pPr>
            <a:r>
              <a:rPr lang="en-US" dirty="0"/>
              <a:t>- </a:t>
            </a:r>
            <a:r>
              <a:rPr lang="en-US" dirty="0" err="1"/>
              <a:t>TinyFish</a:t>
            </a:r>
            <a:r>
              <a:rPr lang="en-US" dirty="0"/>
              <a:t> (web agents): ~$50/month</a:t>
            </a:r>
          </a:p>
          <a:p>
            <a:pPr marL="0" indent="0">
              <a:buNone/>
            </a:pPr>
            <a:r>
              <a:rPr lang="en-US" dirty="0"/>
              <a:t>- Eleven Labs (voice): ~$50/month</a:t>
            </a:r>
          </a:p>
          <a:p>
            <a:pPr marL="0" indent="0">
              <a:buNone/>
            </a:pPr>
            <a:r>
              <a:rPr lang="en-US" dirty="0"/>
              <a:t>- Telegram: Free</a:t>
            </a:r>
          </a:p>
          <a:p>
            <a:pPr marL="0" indent="0">
              <a:buNone/>
            </a:pPr>
            <a:r>
              <a:rPr lang="en-US" dirty="0"/>
              <a:t>- </a:t>
            </a:r>
            <a:r>
              <a:rPr lang="en-US" dirty="0" err="1"/>
              <a:t>OpenClaw</a:t>
            </a:r>
            <a:r>
              <a:rPr lang="en-US" dirty="0"/>
              <a:t>: Open source and free</a:t>
            </a:r>
          </a:p>
          <a:p>
            <a:pPr marL="0" indent="0">
              <a:buNone/>
            </a:pPr>
            <a:endParaRPr lang="en-US" b="1" dirty="0"/>
          </a:p>
          <a:p>
            <a:pPr marL="0" indent="0">
              <a:buNone/>
            </a:pPr>
            <a:r>
              <a:rPr lang="en-US" b="1" dirty="0"/>
              <a:t>Total: under $400/month for a team of </a:t>
            </a:r>
            <a:r>
              <a:rPr lang="en-US" b="1"/>
              <a:t>virtual workers </a:t>
            </a:r>
            <a:r>
              <a:rPr lang="en-US" b="1" dirty="0"/>
              <a:t>that never sleeps.</a:t>
            </a:r>
            <a:endParaRPr lang="es-MX" dirty="0"/>
          </a:p>
        </p:txBody>
      </p:sp>
    </p:spTree>
    <p:extLst>
      <p:ext uri="{BB962C8B-B14F-4D97-AF65-F5344CB8AC3E}">
        <p14:creationId xmlns:p14="http://schemas.microsoft.com/office/powerpoint/2010/main" val="2208266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9BE69D-31EE-E48E-C9D7-B4224C911D2D}"/>
              </a:ext>
            </a:extLst>
          </p:cNvPr>
          <p:cNvSpPr>
            <a:spLocks noGrp="1"/>
          </p:cNvSpPr>
          <p:nvPr>
            <p:ph type="title"/>
          </p:nvPr>
        </p:nvSpPr>
        <p:spPr/>
        <p:txBody>
          <a:bodyPr/>
          <a:lstStyle/>
          <a:p>
            <a:r>
              <a:rPr lang="es-CO" dirty="0"/>
              <a:t>New </a:t>
            </a:r>
            <a:r>
              <a:rPr lang="es-CO" dirty="0" err="1"/>
              <a:t>Agents</a:t>
            </a:r>
            <a:r>
              <a:rPr lang="es-CO" dirty="0"/>
              <a:t> = </a:t>
            </a:r>
            <a:r>
              <a:rPr lang="es-CO" dirty="0" err="1"/>
              <a:t>The</a:t>
            </a:r>
            <a:r>
              <a:rPr lang="es-CO" dirty="0"/>
              <a:t> Personal AI OS</a:t>
            </a:r>
            <a:endParaRPr lang="es-MX" dirty="0"/>
          </a:p>
        </p:txBody>
      </p:sp>
      <p:sp>
        <p:nvSpPr>
          <p:cNvPr id="3" name="Marcador de contenido 2">
            <a:extLst>
              <a:ext uri="{FF2B5EF4-FFF2-40B4-BE49-F238E27FC236}">
                <a16:creationId xmlns:a16="http://schemas.microsoft.com/office/drawing/2014/main" id="{9ECDF7E6-4FA0-572E-1C8A-067122D73861}"/>
              </a:ext>
            </a:extLst>
          </p:cNvPr>
          <p:cNvSpPr>
            <a:spLocks noGrp="1"/>
          </p:cNvSpPr>
          <p:nvPr>
            <p:ph idx="1"/>
          </p:nvPr>
        </p:nvSpPr>
        <p:spPr/>
        <p:txBody>
          <a:bodyPr>
            <a:normAutofit fontScale="92500" lnSpcReduction="10000"/>
          </a:bodyPr>
          <a:lstStyle/>
          <a:p>
            <a:pPr marL="0" indent="0">
              <a:buNone/>
            </a:pPr>
            <a:r>
              <a:rPr lang="en-US" b="1" dirty="0"/>
              <a:t>First, money.</a:t>
            </a:r>
          </a:p>
          <a:p>
            <a:r>
              <a:rPr lang="en-US" dirty="0"/>
              <a:t>Autonomous agents don’t make one model call and stop. They plan, call tools, summarize, retry, and store memory. That means multi-step inference and bills that feel shocking if you expect chatbot pricing.</a:t>
            </a:r>
          </a:p>
          <a:p>
            <a:pPr marL="0" indent="0">
              <a:buNone/>
            </a:pPr>
            <a:r>
              <a:rPr lang="en-US" b="1" dirty="0"/>
              <a:t>Second, cognitive load.</a:t>
            </a:r>
          </a:p>
          <a:p>
            <a:r>
              <a:rPr lang="en-US"/>
              <a:t>you </a:t>
            </a:r>
            <a:r>
              <a:rPr lang="en-US" dirty="0"/>
              <a:t>need a mental model of how agents work: what they can do, what they shouldn’t do, and how to constrain them. That’s effort most people never had to spend with chatbots.</a:t>
            </a:r>
          </a:p>
          <a:p>
            <a:pPr marL="0" indent="0">
              <a:buNone/>
            </a:pPr>
            <a:r>
              <a:rPr lang="en-US" b="1" dirty="0"/>
              <a:t>Third, security.</a:t>
            </a:r>
          </a:p>
          <a:p>
            <a:r>
              <a:rPr lang="en-US" dirty="0"/>
              <a:t>Once an AI can read untrusted input, remember things, and act in the real world, you get entirely new classes of risk.</a:t>
            </a:r>
          </a:p>
          <a:p>
            <a:pPr marL="0" indent="0">
              <a:buNone/>
            </a:pPr>
            <a:endParaRPr lang="es-MX" dirty="0"/>
          </a:p>
        </p:txBody>
      </p:sp>
    </p:spTree>
    <p:extLst>
      <p:ext uri="{BB962C8B-B14F-4D97-AF65-F5344CB8AC3E}">
        <p14:creationId xmlns:p14="http://schemas.microsoft.com/office/powerpoint/2010/main" val="245570912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8775</TotalTime>
  <Words>2672</Words>
  <Application>Microsoft Office PowerPoint</Application>
  <PresentationFormat>Panorámica</PresentationFormat>
  <Paragraphs>269</Paragraphs>
  <Slides>44</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44</vt:i4>
      </vt:variant>
    </vt:vector>
  </HeadingPairs>
  <TitlesOfParts>
    <vt:vector size="51" baseType="lpstr">
      <vt:lpstr>Arial Unicode MS</vt:lpstr>
      <vt:lpstr>Aptos</vt:lpstr>
      <vt:lpstr>Aptos Display</vt:lpstr>
      <vt:lpstr>Arial</vt:lpstr>
      <vt:lpstr>fkGroteskNeue</vt:lpstr>
      <vt:lpstr>source-serif-pro</vt:lpstr>
      <vt:lpstr>Tema de Office</vt:lpstr>
      <vt:lpstr>Agents, GenAi vs Agentic Ai</vt:lpstr>
      <vt:lpstr>GenAI</vt:lpstr>
      <vt:lpstr>GenAi Limitations</vt:lpstr>
      <vt:lpstr>Agent</vt:lpstr>
      <vt:lpstr>Ai Agents</vt:lpstr>
      <vt:lpstr>What is Agentic AI? (The Autonomous Project Manager)</vt:lpstr>
      <vt:lpstr>Agents Components</vt:lpstr>
      <vt:lpstr>A cyclical, interactive loop (often called a ReAct Loop: Reason + Act)</vt:lpstr>
      <vt:lpstr>Presentación de PowerPoint</vt:lpstr>
      <vt:lpstr>The Limitations</vt:lpstr>
      <vt:lpstr>Presentación de PowerPoint</vt:lpstr>
      <vt:lpstr>Presentación de PowerPoint</vt:lpstr>
      <vt:lpstr>The Future is Agentic</vt:lpstr>
      <vt:lpstr>Some Agent Frameworks</vt:lpstr>
      <vt:lpstr>LangChain</vt:lpstr>
      <vt:lpstr>Presentación de PowerPoint</vt:lpstr>
      <vt:lpstr>Limitations</vt:lpstr>
      <vt:lpstr>LangGraph</vt:lpstr>
      <vt:lpstr>Presentación de PowerPoint</vt:lpstr>
      <vt:lpstr>LlamaIndex</vt:lpstr>
      <vt:lpstr>Presentación de PowerPoint</vt:lpstr>
      <vt:lpstr>Presentación de PowerPoint</vt:lpstr>
      <vt:lpstr>CrewAI</vt:lpstr>
      <vt:lpstr>Presentación de PowerPoint</vt:lpstr>
      <vt:lpstr>Limitations</vt:lpstr>
      <vt:lpstr>AutoGen (from Microsoft)</vt:lpstr>
      <vt:lpstr>Presentación de PowerPoint</vt:lpstr>
      <vt:lpstr>Limitations</vt:lpstr>
      <vt:lpstr>Haystack</vt:lpstr>
      <vt:lpstr>Presentación de PowerPoint</vt:lpstr>
      <vt:lpstr>Limitations</vt:lpstr>
      <vt:lpstr>Presentación de PowerPoint</vt:lpstr>
      <vt:lpstr>Challenges and Ethics</vt:lpstr>
      <vt:lpstr>OpenClaw, why is it so cool?</vt:lpstr>
      <vt:lpstr>Directory Structure</vt:lpstr>
      <vt:lpstr>What the Heck is SOUL.md?</vt:lpstr>
      <vt:lpstr>Presentación de PowerPoint</vt:lpstr>
      <vt:lpstr>The Memory System: AGENTS.md</vt:lpstr>
      <vt:lpstr>Presentación de PowerPoint</vt:lpstr>
      <vt:lpstr>HEARTBEAT.md</vt:lpstr>
      <vt:lpstr>Telegram as the Interface</vt:lpstr>
      <vt:lpstr>Security</vt:lpstr>
      <vt:lpstr>Costs</vt:lpstr>
      <vt:lpstr>New Agents = The Personal AI 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Robert Ballesteros Parra</dc:creator>
  <cp:lastModifiedBy>Bryan Steven Yama</cp:lastModifiedBy>
  <cp:revision>85</cp:revision>
  <dcterms:created xsi:type="dcterms:W3CDTF">2025-06-21T13:55:05Z</dcterms:created>
  <dcterms:modified xsi:type="dcterms:W3CDTF">2026-03-25T00:59:37Z</dcterms:modified>
</cp:coreProperties>
</file>